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1EACBC-A222-4A16-8C36-BFFD374F3F8C}" v="4" dt="2026-10-16T21:44:48.2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38" y="1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tson, Sarah (CTR) - OCIO-DISC, VA" userId="df6b9219-6125-48cb-b26b-165e2b0f108c" providerId="ADAL" clId="{B8E14C89-29FE-433A-9231-31982FF94371}"/>
    <pc:docChg chg="custSel modSld">
      <pc:chgData name="Watson, Sarah (CTR) - OCIO-DISC, VA" userId="df6b9219-6125-48cb-b26b-165e2b0f108c" providerId="ADAL" clId="{B8E14C89-29FE-433A-9231-31982FF94371}" dt="2026-10-16T21:44:48.248" v="10"/>
      <pc:docMkLst>
        <pc:docMk/>
      </pc:docMkLst>
      <pc:sldChg chg="delSp modSp mod">
        <pc:chgData name="Watson, Sarah (CTR) - OCIO-DISC, VA" userId="df6b9219-6125-48cb-b26b-165e2b0f108c" providerId="ADAL" clId="{B8E14C89-29FE-433A-9231-31982FF94371}" dt="2026-10-16T21:42:50.880" v="6" actId="478"/>
        <pc:sldMkLst>
          <pc:docMk/>
          <pc:sldMk cId="0" sldId="256"/>
        </pc:sldMkLst>
        <pc:spChg chg="mod">
          <ac:chgData name="Watson, Sarah (CTR) - OCIO-DISC, VA" userId="df6b9219-6125-48cb-b26b-165e2b0f108c" providerId="ADAL" clId="{B8E14C89-29FE-433A-9231-31982FF94371}" dt="2026-10-16T21:42:40.025" v="5" actId="20577"/>
          <ac:spMkLst>
            <pc:docMk/>
            <pc:sldMk cId="0" sldId="256"/>
            <ac:spMk id="8" creationId="{00000000-0000-0000-0000-000000000000}"/>
          </ac:spMkLst>
        </pc:spChg>
        <pc:spChg chg="del">
          <ac:chgData name="Watson, Sarah (CTR) - OCIO-DISC, VA" userId="df6b9219-6125-48cb-b26b-165e2b0f108c" providerId="ADAL" clId="{B8E14C89-29FE-433A-9231-31982FF94371}" dt="2026-10-16T21:42:50.880" v="6" actId="478"/>
          <ac:spMkLst>
            <pc:docMk/>
            <pc:sldMk cId="0" sldId="256"/>
            <ac:spMk id="9" creationId="{00000000-0000-0000-0000-000000000000}"/>
          </ac:spMkLst>
        </pc:spChg>
      </pc:sldChg>
      <pc:sldChg chg="modSp">
        <pc:chgData name="Watson, Sarah (CTR) - OCIO-DISC, VA" userId="df6b9219-6125-48cb-b26b-165e2b0f108c" providerId="ADAL" clId="{B8E14C89-29FE-433A-9231-31982FF94371}" dt="2026-10-16T21:44:48.248" v="10"/>
        <pc:sldMkLst>
          <pc:docMk/>
          <pc:sldMk cId="0" sldId="257"/>
        </pc:sldMkLst>
        <pc:spChg chg="mod">
          <ac:chgData name="Watson, Sarah (CTR) - OCIO-DISC, VA" userId="df6b9219-6125-48cb-b26b-165e2b0f108c" providerId="ADAL" clId="{B8E14C89-29FE-433A-9231-31982FF94371}" dt="2026-10-16T21:44:48.248" v="10"/>
          <ac:spMkLst>
            <pc:docMk/>
            <pc:sldMk cId="0" sldId="257"/>
            <ac:spMk id="3" creationId="{00000000-0000-0000-0000-000000000000}"/>
          </ac:spMkLst>
        </pc:spChg>
        <pc:spChg chg="mod">
          <ac:chgData name="Watson, Sarah (CTR) - OCIO-DISC, VA" userId="df6b9219-6125-48cb-b26b-165e2b0f108c" providerId="ADAL" clId="{B8E14C89-29FE-433A-9231-31982FF94371}" dt="2026-10-16T21:43:06.848" v="7"/>
          <ac:spMkLst>
            <pc:docMk/>
            <pc:sldMk cId="0" sldId="257"/>
            <ac:spMk id="4" creationId="{00000000-0000-0000-0000-000000000000}"/>
          </ac:spMkLst>
        </pc:spChg>
      </pc:sldChg>
      <pc:sldChg chg="modSp">
        <pc:chgData name="Watson, Sarah (CTR) - OCIO-DISC, VA" userId="df6b9219-6125-48cb-b26b-165e2b0f108c" providerId="ADAL" clId="{B8E14C89-29FE-433A-9231-31982FF94371}" dt="2026-10-16T21:44:48.248" v="10"/>
        <pc:sldMkLst>
          <pc:docMk/>
          <pc:sldMk cId="0" sldId="258"/>
        </pc:sldMkLst>
        <pc:spChg chg="mod">
          <ac:chgData name="Watson, Sarah (CTR) - OCIO-DISC, VA" userId="df6b9219-6125-48cb-b26b-165e2b0f108c" providerId="ADAL" clId="{B8E14C89-29FE-433A-9231-31982FF94371}" dt="2026-10-16T21:44:48.248" v="10"/>
          <ac:spMkLst>
            <pc:docMk/>
            <pc:sldMk cId="0" sldId="258"/>
            <ac:spMk id="3" creationId="{00000000-0000-0000-0000-000000000000}"/>
          </ac:spMkLst>
        </pc:spChg>
        <pc:spChg chg="mod">
          <ac:chgData name="Watson, Sarah (CTR) - OCIO-DISC, VA" userId="df6b9219-6125-48cb-b26b-165e2b0f108c" providerId="ADAL" clId="{B8E14C89-29FE-433A-9231-31982FF94371}" dt="2026-10-16T21:43:06.848" v="7"/>
          <ac:spMkLst>
            <pc:docMk/>
            <pc:sldMk cId="0" sldId="258"/>
            <ac:spMk id="4" creationId="{00000000-0000-0000-0000-000000000000}"/>
          </ac:spMkLst>
        </pc:spChg>
      </pc:sldChg>
      <pc:sldChg chg="modSp">
        <pc:chgData name="Watson, Sarah (CTR) - OCIO-DISC, VA" userId="df6b9219-6125-48cb-b26b-165e2b0f108c" providerId="ADAL" clId="{B8E14C89-29FE-433A-9231-31982FF94371}" dt="2026-10-16T21:44:48.248" v="10"/>
        <pc:sldMkLst>
          <pc:docMk/>
          <pc:sldMk cId="0" sldId="259"/>
        </pc:sldMkLst>
        <pc:spChg chg="mod">
          <ac:chgData name="Watson, Sarah (CTR) - OCIO-DISC, VA" userId="df6b9219-6125-48cb-b26b-165e2b0f108c" providerId="ADAL" clId="{B8E14C89-29FE-433A-9231-31982FF94371}" dt="2026-10-16T21:44:48.248" v="10"/>
          <ac:spMkLst>
            <pc:docMk/>
            <pc:sldMk cId="0" sldId="259"/>
            <ac:spMk id="3" creationId="{00000000-0000-0000-0000-000000000000}"/>
          </ac:spMkLst>
        </pc:spChg>
        <pc:spChg chg="mod">
          <ac:chgData name="Watson, Sarah (CTR) - OCIO-DISC, VA" userId="df6b9219-6125-48cb-b26b-165e2b0f108c" providerId="ADAL" clId="{B8E14C89-29FE-433A-9231-31982FF94371}" dt="2026-10-16T21:43:06.848" v="7"/>
          <ac:spMkLst>
            <pc:docMk/>
            <pc:sldMk cId="0" sldId="259"/>
            <ac:spMk id="4" creationId="{00000000-0000-0000-0000-000000000000}"/>
          </ac:spMkLst>
        </pc:spChg>
      </pc:sldChg>
      <pc:sldChg chg="modSp">
        <pc:chgData name="Watson, Sarah (CTR) - OCIO-DISC, VA" userId="df6b9219-6125-48cb-b26b-165e2b0f108c" providerId="ADAL" clId="{B8E14C89-29FE-433A-9231-31982FF94371}" dt="2026-10-16T21:44:48.248" v="10"/>
        <pc:sldMkLst>
          <pc:docMk/>
          <pc:sldMk cId="0" sldId="260"/>
        </pc:sldMkLst>
        <pc:spChg chg="mod">
          <ac:chgData name="Watson, Sarah (CTR) - OCIO-DISC, VA" userId="df6b9219-6125-48cb-b26b-165e2b0f108c" providerId="ADAL" clId="{B8E14C89-29FE-433A-9231-31982FF94371}" dt="2026-10-16T21:44:48.248" v="10"/>
          <ac:spMkLst>
            <pc:docMk/>
            <pc:sldMk cId="0" sldId="260"/>
            <ac:spMk id="3" creationId="{00000000-0000-0000-0000-000000000000}"/>
          </ac:spMkLst>
        </pc:spChg>
        <pc:spChg chg="mod">
          <ac:chgData name="Watson, Sarah (CTR) - OCIO-DISC, VA" userId="df6b9219-6125-48cb-b26b-165e2b0f108c" providerId="ADAL" clId="{B8E14C89-29FE-433A-9231-31982FF94371}" dt="2026-10-16T21:43:06.848" v="7"/>
          <ac:spMkLst>
            <pc:docMk/>
            <pc:sldMk cId="0" sldId="260"/>
            <ac:spMk id="4" creationId="{00000000-0000-0000-0000-000000000000}"/>
          </ac:spMkLst>
        </pc:spChg>
      </pc:sldChg>
      <pc:sldChg chg="modSp">
        <pc:chgData name="Watson, Sarah (CTR) - OCIO-DISC, VA" userId="df6b9219-6125-48cb-b26b-165e2b0f108c" providerId="ADAL" clId="{B8E14C89-29FE-433A-9231-31982FF94371}" dt="2026-10-16T21:44:48.248" v="10"/>
        <pc:sldMkLst>
          <pc:docMk/>
          <pc:sldMk cId="0" sldId="261"/>
        </pc:sldMkLst>
        <pc:spChg chg="mod">
          <ac:chgData name="Watson, Sarah (CTR) - OCIO-DISC, VA" userId="df6b9219-6125-48cb-b26b-165e2b0f108c" providerId="ADAL" clId="{B8E14C89-29FE-433A-9231-31982FF94371}" dt="2026-10-16T21:44:48.248" v="10"/>
          <ac:spMkLst>
            <pc:docMk/>
            <pc:sldMk cId="0" sldId="261"/>
            <ac:spMk id="3" creationId="{00000000-0000-0000-0000-000000000000}"/>
          </ac:spMkLst>
        </pc:spChg>
        <pc:spChg chg="mod">
          <ac:chgData name="Watson, Sarah (CTR) - OCIO-DISC, VA" userId="df6b9219-6125-48cb-b26b-165e2b0f108c" providerId="ADAL" clId="{B8E14C89-29FE-433A-9231-31982FF94371}" dt="2026-10-16T21:43:06.848" v="7"/>
          <ac:spMkLst>
            <pc:docMk/>
            <pc:sldMk cId="0" sldId="261"/>
            <ac:spMk id="4" creationId="{00000000-0000-0000-0000-000000000000}"/>
          </ac:spMkLst>
        </pc:spChg>
      </pc:sldChg>
      <pc:sldChg chg="modSp">
        <pc:chgData name="Watson, Sarah (CTR) - OCIO-DISC, VA" userId="df6b9219-6125-48cb-b26b-165e2b0f108c" providerId="ADAL" clId="{B8E14C89-29FE-433A-9231-31982FF94371}" dt="2026-10-16T21:44:48.248" v="10"/>
        <pc:sldMkLst>
          <pc:docMk/>
          <pc:sldMk cId="0" sldId="262"/>
        </pc:sldMkLst>
        <pc:spChg chg="mod">
          <ac:chgData name="Watson, Sarah (CTR) - OCIO-DISC, VA" userId="df6b9219-6125-48cb-b26b-165e2b0f108c" providerId="ADAL" clId="{B8E14C89-29FE-433A-9231-31982FF94371}" dt="2026-10-16T21:44:48.248" v="10"/>
          <ac:spMkLst>
            <pc:docMk/>
            <pc:sldMk cId="0" sldId="262"/>
            <ac:spMk id="3" creationId="{00000000-0000-0000-0000-000000000000}"/>
          </ac:spMkLst>
        </pc:spChg>
        <pc:spChg chg="mod">
          <ac:chgData name="Watson, Sarah (CTR) - OCIO-DISC, VA" userId="df6b9219-6125-48cb-b26b-165e2b0f108c" providerId="ADAL" clId="{B8E14C89-29FE-433A-9231-31982FF94371}" dt="2026-10-16T21:43:06.848" v="7"/>
          <ac:spMkLst>
            <pc:docMk/>
            <pc:sldMk cId="0" sldId="262"/>
            <ac:spMk id="4" creationId="{00000000-0000-0000-0000-000000000000}"/>
          </ac:spMkLst>
        </pc:spChg>
      </pc:sldChg>
      <pc:sldChg chg="modSp">
        <pc:chgData name="Watson, Sarah (CTR) - OCIO-DISC, VA" userId="df6b9219-6125-48cb-b26b-165e2b0f108c" providerId="ADAL" clId="{B8E14C89-29FE-433A-9231-31982FF94371}" dt="2026-10-16T21:44:48.248" v="10"/>
        <pc:sldMkLst>
          <pc:docMk/>
          <pc:sldMk cId="0" sldId="263"/>
        </pc:sldMkLst>
        <pc:spChg chg="mod">
          <ac:chgData name="Watson, Sarah (CTR) - OCIO-DISC, VA" userId="df6b9219-6125-48cb-b26b-165e2b0f108c" providerId="ADAL" clId="{B8E14C89-29FE-433A-9231-31982FF94371}" dt="2026-10-16T21:44:48.248" v="10"/>
          <ac:spMkLst>
            <pc:docMk/>
            <pc:sldMk cId="0" sldId="263"/>
            <ac:spMk id="3" creationId="{00000000-0000-0000-0000-000000000000}"/>
          </ac:spMkLst>
        </pc:spChg>
        <pc:spChg chg="mod">
          <ac:chgData name="Watson, Sarah (CTR) - OCIO-DISC, VA" userId="df6b9219-6125-48cb-b26b-165e2b0f108c" providerId="ADAL" clId="{B8E14C89-29FE-433A-9231-31982FF94371}" dt="2026-10-16T21:43:06.848" v="7"/>
          <ac:spMkLst>
            <pc:docMk/>
            <pc:sldMk cId="0" sldId="263"/>
            <ac:spMk id="4" creationId="{00000000-0000-0000-0000-000000000000}"/>
          </ac:spMkLst>
        </pc:spChg>
      </pc:sldChg>
      <pc:sldChg chg="modSp">
        <pc:chgData name="Watson, Sarah (CTR) - OCIO-DISC, VA" userId="df6b9219-6125-48cb-b26b-165e2b0f108c" providerId="ADAL" clId="{B8E14C89-29FE-433A-9231-31982FF94371}" dt="2026-10-16T21:44:48.248" v="10"/>
        <pc:sldMkLst>
          <pc:docMk/>
          <pc:sldMk cId="0" sldId="264"/>
        </pc:sldMkLst>
        <pc:spChg chg="mod">
          <ac:chgData name="Watson, Sarah (CTR) - OCIO-DISC, VA" userId="df6b9219-6125-48cb-b26b-165e2b0f108c" providerId="ADAL" clId="{B8E14C89-29FE-433A-9231-31982FF94371}" dt="2026-10-16T21:44:48.248" v="10"/>
          <ac:spMkLst>
            <pc:docMk/>
            <pc:sldMk cId="0" sldId="264"/>
            <ac:spMk id="3" creationId="{00000000-0000-0000-0000-000000000000}"/>
          </ac:spMkLst>
        </pc:spChg>
        <pc:spChg chg="mod">
          <ac:chgData name="Watson, Sarah (CTR) - OCIO-DISC, VA" userId="df6b9219-6125-48cb-b26b-165e2b0f108c" providerId="ADAL" clId="{B8E14C89-29FE-433A-9231-31982FF94371}" dt="2026-10-16T21:43:06.848" v="7"/>
          <ac:spMkLst>
            <pc:docMk/>
            <pc:sldMk cId="0" sldId="264"/>
            <ac:spMk id="4" creationId="{00000000-0000-0000-0000-000000000000}"/>
          </ac:spMkLst>
        </pc:spChg>
      </pc:sldChg>
      <pc:sldChg chg="modSp">
        <pc:chgData name="Watson, Sarah (CTR) - OCIO-DISC, VA" userId="df6b9219-6125-48cb-b26b-165e2b0f108c" providerId="ADAL" clId="{B8E14C89-29FE-433A-9231-31982FF94371}" dt="2026-10-16T21:44:48.248" v="10"/>
        <pc:sldMkLst>
          <pc:docMk/>
          <pc:sldMk cId="0" sldId="265"/>
        </pc:sldMkLst>
        <pc:spChg chg="mod">
          <ac:chgData name="Watson, Sarah (CTR) - OCIO-DISC, VA" userId="df6b9219-6125-48cb-b26b-165e2b0f108c" providerId="ADAL" clId="{B8E14C89-29FE-433A-9231-31982FF94371}" dt="2026-10-16T21:44:48.248" v="10"/>
          <ac:spMkLst>
            <pc:docMk/>
            <pc:sldMk cId="0" sldId="265"/>
            <ac:spMk id="3" creationId="{00000000-0000-0000-0000-000000000000}"/>
          </ac:spMkLst>
        </pc:spChg>
        <pc:spChg chg="mod">
          <ac:chgData name="Watson, Sarah (CTR) - OCIO-DISC, VA" userId="df6b9219-6125-48cb-b26b-165e2b0f108c" providerId="ADAL" clId="{B8E14C89-29FE-433A-9231-31982FF94371}" dt="2026-10-16T21:43:06.848" v="7"/>
          <ac:spMkLst>
            <pc:docMk/>
            <pc:sldMk cId="0" sldId="265"/>
            <ac:spMk id="4" creationId="{00000000-0000-0000-0000-000000000000}"/>
          </ac:spMkLst>
        </pc:spChg>
      </pc:sldChg>
      <pc:sldChg chg="modSp">
        <pc:chgData name="Watson, Sarah (CTR) - OCIO-DISC, VA" userId="df6b9219-6125-48cb-b26b-165e2b0f108c" providerId="ADAL" clId="{B8E14C89-29FE-433A-9231-31982FF94371}" dt="2026-10-16T21:43:06.848" v="7"/>
        <pc:sldMkLst>
          <pc:docMk/>
          <pc:sldMk cId="0" sldId="266"/>
        </pc:sldMkLst>
        <pc:spChg chg="mod">
          <ac:chgData name="Watson, Sarah (CTR) - OCIO-DISC, VA" userId="df6b9219-6125-48cb-b26b-165e2b0f108c" providerId="ADAL" clId="{B8E14C89-29FE-433A-9231-31982FF94371}" dt="2026-10-16T21:43:06.848" v="7"/>
          <ac:spMkLst>
            <pc:docMk/>
            <pc:sldMk cId="0" sldId="266"/>
            <ac:spMk id="10"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Value</c:v>
                </c:pt>
              </c:strCache>
            </c:strRef>
          </c:tx>
          <c:spPr>
            <a:solidFill>
              <a:srgbClr val="64748B"/>
            </a:solidFill>
            <a:effectLst/>
          </c:spPr>
          <c:invertIfNegative val="0"/>
          <c:dPt>
            <c:idx val="0"/>
            <c:invertIfNegative val="0"/>
            <c:bubble3D val="0"/>
            <c:extLst>
              <c:ext xmlns:c16="http://schemas.microsoft.com/office/drawing/2014/chart" uri="{C3380CC4-5D6E-409C-BE32-E72D297353CC}">
                <c16:uniqueId val="{00000001-EF53-4069-8091-B634C49BE77C}"/>
              </c:ext>
            </c:extLst>
          </c:dPt>
          <c:dPt>
            <c:idx val="1"/>
            <c:invertIfNegative val="0"/>
            <c:bubble3D val="0"/>
            <c:spPr>
              <a:solidFill>
                <a:srgbClr val="40698B"/>
              </a:solidFill>
              <a:effectLst/>
            </c:spPr>
            <c:extLst>
              <c:ext xmlns:c16="http://schemas.microsoft.com/office/drawing/2014/chart" uri="{C3380CC4-5D6E-409C-BE32-E72D297353CC}">
                <c16:uniqueId val="{00000003-EF53-4069-8091-B634C49BE77C}"/>
              </c:ext>
            </c:extLst>
          </c:dPt>
          <c:dPt>
            <c:idx val="2"/>
            <c:invertIfNegative val="0"/>
            <c:bubble3D val="0"/>
            <c:spPr>
              <a:solidFill>
                <a:srgbClr val="1B5E8A"/>
              </a:solidFill>
              <a:effectLst/>
            </c:spPr>
            <c:extLst>
              <c:ext xmlns:c16="http://schemas.microsoft.com/office/drawing/2014/chart" uri="{C3380CC4-5D6E-409C-BE32-E72D297353CC}">
                <c16:uniqueId val="{00000005-EF53-4069-8091-B634C49BE77C}"/>
              </c:ext>
            </c:extLst>
          </c:dPt>
          <c:dPt>
            <c:idx val="3"/>
            <c:invertIfNegative val="0"/>
            <c:bubble3D val="0"/>
            <c:spPr>
              <a:solidFill>
                <a:srgbClr val="40916C"/>
              </a:solidFill>
              <a:effectLst/>
            </c:spPr>
            <c:extLst>
              <c:ext xmlns:c16="http://schemas.microsoft.com/office/drawing/2014/chart" uri="{C3380CC4-5D6E-409C-BE32-E72D297353CC}">
                <c16:uniqueId val="{00000007-EF53-4069-8091-B634C49BE77C}"/>
              </c:ext>
            </c:extLst>
          </c:dPt>
          <c:dPt>
            <c:idx val="4"/>
            <c:invertIfNegative val="0"/>
            <c:bubble3D val="0"/>
            <c:spPr>
              <a:solidFill>
                <a:srgbClr val="2D6A4F"/>
              </a:solidFill>
              <a:effectLst/>
            </c:spPr>
            <c:extLst>
              <c:ext xmlns:c16="http://schemas.microsoft.com/office/drawing/2014/chart" uri="{C3380CC4-5D6E-409C-BE32-E72D297353CC}">
                <c16:uniqueId val="{00000009-EF53-4069-8091-B634C49BE77C}"/>
              </c:ext>
            </c:extLst>
          </c:dPt>
          <c:dLbls>
            <c:numFmt formatCode="0&quot;%&quot;" sourceLinked="0"/>
            <c:spPr>
              <a:noFill/>
              <a:ln>
                <a:noFill/>
              </a:ln>
              <a:effectLst/>
            </c:spPr>
            <c:txPr>
              <a:bodyPr/>
              <a:lstStyle/>
              <a:p>
                <a:pPr>
                  <a:defRPr sz="1050" b="1" i="0" u="none" strike="noStrike">
                    <a:solidFill>
                      <a:srgbClr val="1A24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Never</c:v>
                </c:pt>
                <c:pt idx="1">
                  <c:v>Rarely</c:v>
                </c:pt>
                <c:pt idx="2">
                  <c:v>Sometimes</c:v>
                </c:pt>
                <c:pt idx="3">
                  <c:v>Often</c:v>
                </c:pt>
                <c:pt idx="4">
                  <c:v>Daily</c:v>
                </c:pt>
              </c:strCache>
            </c:strRef>
          </c:cat>
          <c:val>
            <c:numRef>
              <c:f>Sheet1!$B$2:$B$6</c:f>
              <c:numCache>
                <c:formatCode>General</c:formatCode>
                <c:ptCount val="5"/>
                <c:pt idx="0">
                  <c:v>27</c:v>
                </c:pt>
                <c:pt idx="1">
                  <c:v>22</c:v>
                </c:pt>
                <c:pt idx="2">
                  <c:v>28</c:v>
                </c:pt>
                <c:pt idx="3">
                  <c:v>11</c:v>
                </c:pt>
                <c:pt idx="4">
                  <c:v>12</c:v>
                </c:pt>
              </c:numCache>
            </c:numRef>
          </c:val>
          <c:extLst>
            <c:ext xmlns:c16="http://schemas.microsoft.com/office/drawing/2014/chart" uri="{C3380CC4-5D6E-409C-BE32-E72D297353CC}">
              <c16:uniqueId val="{0000000A-EF53-4069-8091-B634C49BE77C}"/>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BD5E1"/>
            </a:solidFill>
            <a:prstDash val="solid"/>
            <a:round/>
          </a:ln>
        </c:spPr>
        <c:txPr>
          <a:bodyPr/>
          <a:lstStyle/>
          <a:p>
            <a:pPr>
              <a:defRPr sz="1050" b="0" i="0" u="none" strike="noStrike">
                <a:solidFill>
                  <a:srgbClr val="475569"/>
                </a:solidFill>
                <a:latin typeface="Calibri"/>
              </a:defRPr>
            </a:pPr>
            <a:endParaRPr lang="en-US"/>
          </a:p>
        </c:txPr>
        <c:crossAx val="2094734552"/>
        <c:crosses val="autoZero"/>
        <c:auto val="1"/>
        <c:lblAlgn val="ctr"/>
        <c:lblOffset val="100"/>
        <c:noMultiLvlLbl val="1"/>
      </c:catAx>
      <c:valAx>
        <c:axId val="2094734552"/>
        <c:scaling>
          <c:orientation val="minMax"/>
          <c:max val="31.360000000000003"/>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Value</c:v>
                </c:pt>
              </c:strCache>
            </c:strRef>
          </c:tx>
          <c:spPr>
            <a:solidFill>
              <a:srgbClr val="1E3A5F"/>
            </a:solidFill>
            <a:effectLst/>
          </c:spPr>
          <c:invertIfNegative val="0"/>
          <c:dPt>
            <c:idx val="0"/>
            <c:invertIfNegative val="0"/>
            <c:bubble3D val="0"/>
            <c:extLst>
              <c:ext xmlns:c16="http://schemas.microsoft.com/office/drawing/2014/chart" uri="{C3380CC4-5D6E-409C-BE32-E72D297353CC}">
                <c16:uniqueId val="{00000001-7F88-4136-8983-BA69BE053B96}"/>
              </c:ext>
            </c:extLst>
          </c:dPt>
          <c:dPt>
            <c:idx val="1"/>
            <c:invertIfNegative val="0"/>
            <c:bubble3D val="0"/>
            <c:extLst>
              <c:ext xmlns:c16="http://schemas.microsoft.com/office/drawing/2014/chart" uri="{C3380CC4-5D6E-409C-BE32-E72D297353CC}">
                <c16:uniqueId val="{00000003-7F88-4136-8983-BA69BE053B96}"/>
              </c:ext>
            </c:extLst>
          </c:dPt>
          <c:dPt>
            <c:idx val="2"/>
            <c:invertIfNegative val="0"/>
            <c:bubble3D val="0"/>
            <c:extLst>
              <c:ext xmlns:c16="http://schemas.microsoft.com/office/drawing/2014/chart" uri="{C3380CC4-5D6E-409C-BE32-E72D297353CC}">
                <c16:uniqueId val="{00000005-7F88-4136-8983-BA69BE053B96}"/>
              </c:ext>
            </c:extLst>
          </c:dPt>
          <c:dPt>
            <c:idx val="3"/>
            <c:invertIfNegative val="0"/>
            <c:bubble3D val="0"/>
            <c:extLst>
              <c:ext xmlns:c16="http://schemas.microsoft.com/office/drawing/2014/chart" uri="{C3380CC4-5D6E-409C-BE32-E72D297353CC}">
                <c16:uniqueId val="{00000007-7F88-4136-8983-BA69BE053B96}"/>
              </c:ext>
            </c:extLst>
          </c:dPt>
          <c:dPt>
            <c:idx val="4"/>
            <c:invertIfNegative val="0"/>
            <c:bubble3D val="0"/>
            <c:extLst>
              <c:ext xmlns:c16="http://schemas.microsoft.com/office/drawing/2014/chart" uri="{C3380CC4-5D6E-409C-BE32-E72D297353CC}">
                <c16:uniqueId val="{00000009-7F88-4136-8983-BA69BE053B96}"/>
              </c:ext>
            </c:extLst>
          </c:dPt>
          <c:dPt>
            <c:idx val="5"/>
            <c:invertIfNegative val="0"/>
            <c:bubble3D val="0"/>
            <c:extLst>
              <c:ext xmlns:c16="http://schemas.microsoft.com/office/drawing/2014/chart" uri="{C3380CC4-5D6E-409C-BE32-E72D297353CC}">
                <c16:uniqueId val="{0000000B-7F88-4136-8983-BA69BE053B96}"/>
              </c:ext>
            </c:extLst>
          </c:dPt>
          <c:dLbls>
            <c:numFmt formatCode="#,##0" sourceLinked="0"/>
            <c:spPr>
              <a:noFill/>
              <a:ln>
                <a:noFill/>
              </a:ln>
              <a:effectLst/>
            </c:spPr>
            <c:txPr>
              <a:bodyPr/>
              <a:lstStyle/>
              <a:p>
                <a:pPr>
                  <a:defRPr sz="1050" b="1" i="0" u="none" strike="noStrike">
                    <a:solidFill>
                      <a:srgbClr val="1A24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Trust in accuracy</c:v>
                </c:pt>
                <c:pt idx="1">
                  <c:v>Lack of training</c:v>
                </c:pt>
                <c:pt idx="2">
                  <c:v>Unclear policies</c:v>
                </c:pt>
                <c:pt idx="3">
                  <c:v>Privacy &amp; security</c:v>
                </c:pt>
                <c:pt idx="4">
                  <c:v>Time constraints</c:v>
                </c:pt>
                <c:pt idx="5">
                  <c:v>Not relevant to my work</c:v>
                </c:pt>
              </c:strCache>
            </c:strRef>
          </c:cat>
          <c:val>
            <c:numRef>
              <c:f>Sheet1!$B$2:$B$7</c:f>
              <c:numCache>
                <c:formatCode>General</c:formatCode>
                <c:ptCount val="6"/>
                <c:pt idx="0">
                  <c:v>244</c:v>
                </c:pt>
                <c:pt idx="1">
                  <c:v>242</c:v>
                </c:pt>
                <c:pt idx="2">
                  <c:v>214</c:v>
                </c:pt>
                <c:pt idx="3">
                  <c:v>194</c:v>
                </c:pt>
                <c:pt idx="4">
                  <c:v>120</c:v>
                </c:pt>
                <c:pt idx="5">
                  <c:v>64</c:v>
                </c:pt>
              </c:numCache>
            </c:numRef>
          </c:val>
          <c:extLst>
            <c:ext xmlns:c16="http://schemas.microsoft.com/office/drawing/2014/chart" uri="{C3380CC4-5D6E-409C-BE32-E72D297353CC}">
              <c16:uniqueId val="{0000000C-7F88-4136-8983-BA69BE053B96}"/>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CBD5E1"/>
            </a:solidFill>
            <a:prstDash val="solid"/>
            <a:round/>
          </a:ln>
        </c:spPr>
        <c:txPr>
          <a:bodyPr/>
          <a:lstStyle/>
          <a:p>
            <a:pPr>
              <a:defRPr sz="1050" b="0" i="0" u="none" strike="noStrike">
                <a:solidFill>
                  <a:srgbClr val="475569"/>
                </a:solidFill>
                <a:latin typeface="Calibri"/>
              </a:defRPr>
            </a:pPr>
            <a:endParaRPr lang="en-US"/>
          </a:p>
        </c:txPr>
        <c:crossAx val="2094734552"/>
        <c:crosses val="autoZero"/>
        <c:auto val="1"/>
        <c:lblAlgn val="ctr"/>
        <c:lblOffset val="100"/>
        <c:noMultiLvlLbl val="1"/>
      </c:catAx>
      <c:valAx>
        <c:axId val="2094734552"/>
        <c:scaling>
          <c:orientation val="minMax"/>
          <c:max val="288"/>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Value</c:v>
                </c:pt>
              </c:strCache>
            </c:strRef>
          </c:tx>
          <c:spPr>
            <a:solidFill>
              <a:srgbClr val="2D6A4F"/>
            </a:solidFill>
            <a:effectLst/>
          </c:spPr>
          <c:invertIfNegative val="0"/>
          <c:dPt>
            <c:idx val="0"/>
            <c:invertIfNegative val="0"/>
            <c:bubble3D val="0"/>
            <c:extLst>
              <c:ext xmlns:c16="http://schemas.microsoft.com/office/drawing/2014/chart" uri="{C3380CC4-5D6E-409C-BE32-E72D297353CC}">
                <c16:uniqueId val="{00000001-5735-4C01-92DA-237F1C536D46}"/>
              </c:ext>
            </c:extLst>
          </c:dPt>
          <c:dPt>
            <c:idx val="1"/>
            <c:invertIfNegative val="0"/>
            <c:bubble3D val="0"/>
            <c:extLst>
              <c:ext xmlns:c16="http://schemas.microsoft.com/office/drawing/2014/chart" uri="{C3380CC4-5D6E-409C-BE32-E72D297353CC}">
                <c16:uniqueId val="{00000003-5735-4C01-92DA-237F1C536D46}"/>
              </c:ext>
            </c:extLst>
          </c:dPt>
          <c:dPt>
            <c:idx val="2"/>
            <c:invertIfNegative val="0"/>
            <c:bubble3D val="0"/>
            <c:extLst>
              <c:ext xmlns:c16="http://schemas.microsoft.com/office/drawing/2014/chart" uri="{C3380CC4-5D6E-409C-BE32-E72D297353CC}">
                <c16:uniqueId val="{00000005-5735-4C01-92DA-237F1C536D46}"/>
              </c:ext>
            </c:extLst>
          </c:dPt>
          <c:dPt>
            <c:idx val="3"/>
            <c:invertIfNegative val="0"/>
            <c:bubble3D val="0"/>
            <c:extLst>
              <c:ext xmlns:c16="http://schemas.microsoft.com/office/drawing/2014/chart" uri="{C3380CC4-5D6E-409C-BE32-E72D297353CC}">
                <c16:uniqueId val="{00000007-5735-4C01-92DA-237F1C536D46}"/>
              </c:ext>
            </c:extLst>
          </c:dPt>
          <c:dPt>
            <c:idx val="4"/>
            <c:invertIfNegative val="0"/>
            <c:bubble3D val="0"/>
            <c:extLst>
              <c:ext xmlns:c16="http://schemas.microsoft.com/office/drawing/2014/chart" uri="{C3380CC4-5D6E-409C-BE32-E72D297353CC}">
                <c16:uniqueId val="{00000009-5735-4C01-92DA-237F1C536D46}"/>
              </c:ext>
            </c:extLst>
          </c:dPt>
          <c:dPt>
            <c:idx val="5"/>
            <c:invertIfNegative val="0"/>
            <c:bubble3D val="0"/>
            <c:extLst>
              <c:ext xmlns:c16="http://schemas.microsoft.com/office/drawing/2014/chart" uri="{C3380CC4-5D6E-409C-BE32-E72D297353CC}">
                <c16:uniqueId val="{0000000B-5735-4C01-92DA-237F1C536D46}"/>
              </c:ext>
            </c:extLst>
          </c:dPt>
          <c:dPt>
            <c:idx val="6"/>
            <c:invertIfNegative val="0"/>
            <c:bubble3D val="0"/>
            <c:extLst>
              <c:ext xmlns:c16="http://schemas.microsoft.com/office/drawing/2014/chart" uri="{C3380CC4-5D6E-409C-BE32-E72D297353CC}">
                <c16:uniqueId val="{0000000D-5735-4C01-92DA-237F1C536D46}"/>
              </c:ext>
            </c:extLst>
          </c:dPt>
          <c:dLbls>
            <c:numFmt formatCode="#,##0" sourceLinked="0"/>
            <c:spPr>
              <a:noFill/>
              <a:ln>
                <a:noFill/>
              </a:ln>
              <a:effectLst/>
            </c:spPr>
            <c:txPr>
              <a:bodyPr/>
              <a:lstStyle/>
              <a:p>
                <a:pPr>
                  <a:defRPr sz="1050" b="1" i="0" u="none" strike="noStrike">
                    <a:solidFill>
                      <a:srgbClr val="1A24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Drafting text</c:v>
                </c:pt>
                <c:pt idx="1">
                  <c:v>Summarizing</c:v>
                </c:pt>
                <c:pt idx="2">
                  <c:v>Meeting prep &amp; notes</c:v>
                </c:pt>
                <c:pt idx="3">
                  <c:v>Data analysis</c:v>
                </c:pt>
                <c:pt idx="4">
                  <c:v>Decision support</c:v>
                </c:pt>
                <c:pt idx="5">
                  <c:v>Spreadsheets</c:v>
                </c:pt>
                <c:pt idx="6">
                  <c:v>Coding &amp; scripting</c:v>
                </c:pt>
              </c:strCache>
            </c:strRef>
          </c:cat>
          <c:val>
            <c:numRef>
              <c:f>Sheet1!$B$2:$B$8</c:f>
              <c:numCache>
                <c:formatCode>General</c:formatCode>
                <c:ptCount val="7"/>
                <c:pt idx="0">
                  <c:v>248</c:v>
                </c:pt>
                <c:pt idx="1">
                  <c:v>203</c:v>
                </c:pt>
                <c:pt idx="2">
                  <c:v>120</c:v>
                </c:pt>
                <c:pt idx="3">
                  <c:v>118</c:v>
                </c:pt>
                <c:pt idx="4">
                  <c:v>75</c:v>
                </c:pt>
                <c:pt idx="5">
                  <c:v>74</c:v>
                </c:pt>
                <c:pt idx="6">
                  <c:v>71</c:v>
                </c:pt>
              </c:numCache>
            </c:numRef>
          </c:val>
          <c:extLst>
            <c:ext xmlns:c16="http://schemas.microsoft.com/office/drawing/2014/chart" uri="{C3380CC4-5D6E-409C-BE32-E72D297353CC}">
              <c16:uniqueId val="{0000000E-5735-4C01-92DA-237F1C536D46}"/>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CBD5E1"/>
            </a:solidFill>
            <a:prstDash val="solid"/>
            <a:round/>
          </a:ln>
        </c:spPr>
        <c:txPr>
          <a:bodyPr/>
          <a:lstStyle/>
          <a:p>
            <a:pPr>
              <a:defRPr sz="1050" b="0" i="0" u="none" strike="noStrike">
                <a:solidFill>
                  <a:srgbClr val="475569"/>
                </a:solidFill>
                <a:latin typeface="Calibri"/>
              </a:defRPr>
            </a:pPr>
            <a:endParaRPr lang="en-US"/>
          </a:p>
        </c:txPr>
        <c:crossAx val="2094734552"/>
        <c:crosses val="autoZero"/>
        <c:auto val="1"/>
        <c:lblAlgn val="ctr"/>
        <c:lblOffset val="100"/>
        <c:noMultiLvlLbl val="1"/>
      </c:catAx>
      <c:valAx>
        <c:axId val="2094734552"/>
        <c:scaling>
          <c:orientation val="minMax"/>
          <c:max val="293"/>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Value</c:v>
                </c:pt>
              </c:strCache>
            </c:strRef>
          </c:tx>
          <c:spPr>
            <a:solidFill>
              <a:srgbClr val="2D6A4F"/>
            </a:solidFill>
            <a:effectLst/>
          </c:spPr>
          <c:invertIfNegative val="0"/>
          <c:dPt>
            <c:idx val="0"/>
            <c:invertIfNegative val="0"/>
            <c:bubble3D val="0"/>
            <c:extLst>
              <c:ext xmlns:c16="http://schemas.microsoft.com/office/drawing/2014/chart" uri="{C3380CC4-5D6E-409C-BE32-E72D297353CC}">
                <c16:uniqueId val="{00000001-338D-4679-8B3B-E8B8C7E6E9D5}"/>
              </c:ext>
            </c:extLst>
          </c:dPt>
          <c:dPt>
            <c:idx val="1"/>
            <c:invertIfNegative val="0"/>
            <c:bubble3D val="0"/>
            <c:extLst>
              <c:ext xmlns:c16="http://schemas.microsoft.com/office/drawing/2014/chart" uri="{C3380CC4-5D6E-409C-BE32-E72D297353CC}">
                <c16:uniqueId val="{00000003-338D-4679-8B3B-E8B8C7E6E9D5}"/>
              </c:ext>
            </c:extLst>
          </c:dPt>
          <c:dPt>
            <c:idx val="2"/>
            <c:invertIfNegative val="0"/>
            <c:bubble3D val="0"/>
            <c:extLst>
              <c:ext xmlns:c16="http://schemas.microsoft.com/office/drawing/2014/chart" uri="{C3380CC4-5D6E-409C-BE32-E72D297353CC}">
                <c16:uniqueId val="{00000005-338D-4679-8B3B-E8B8C7E6E9D5}"/>
              </c:ext>
            </c:extLst>
          </c:dPt>
          <c:dPt>
            <c:idx val="3"/>
            <c:invertIfNegative val="0"/>
            <c:bubble3D val="0"/>
            <c:extLst>
              <c:ext xmlns:c16="http://schemas.microsoft.com/office/drawing/2014/chart" uri="{C3380CC4-5D6E-409C-BE32-E72D297353CC}">
                <c16:uniqueId val="{00000007-338D-4679-8B3B-E8B8C7E6E9D5}"/>
              </c:ext>
            </c:extLst>
          </c:dPt>
          <c:dPt>
            <c:idx val="4"/>
            <c:invertIfNegative val="0"/>
            <c:bubble3D val="0"/>
            <c:extLst>
              <c:ext xmlns:c16="http://schemas.microsoft.com/office/drawing/2014/chart" uri="{C3380CC4-5D6E-409C-BE32-E72D297353CC}">
                <c16:uniqueId val="{00000009-338D-4679-8B3B-E8B8C7E6E9D5}"/>
              </c:ext>
            </c:extLst>
          </c:dPt>
          <c:dPt>
            <c:idx val="5"/>
            <c:invertIfNegative val="0"/>
            <c:bubble3D val="0"/>
            <c:extLst>
              <c:ext xmlns:c16="http://schemas.microsoft.com/office/drawing/2014/chart" uri="{C3380CC4-5D6E-409C-BE32-E72D297353CC}">
                <c16:uniqueId val="{0000000B-338D-4679-8B3B-E8B8C7E6E9D5}"/>
              </c:ext>
            </c:extLst>
          </c:dPt>
          <c:dPt>
            <c:idx val="6"/>
            <c:invertIfNegative val="0"/>
            <c:bubble3D val="0"/>
            <c:extLst>
              <c:ext xmlns:c16="http://schemas.microsoft.com/office/drawing/2014/chart" uri="{C3380CC4-5D6E-409C-BE32-E72D297353CC}">
                <c16:uniqueId val="{0000000D-338D-4679-8B3B-E8B8C7E6E9D5}"/>
              </c:ext>
            </c:extLst>
          </c:dPt>
          <c:dPt>
            <c:idx val="7"/>
            <c:invertIfNegative val="0"/>
            <c:bubble3D val="0"/>
            <c:extLst>
              <c:ext xmlns:c16="http://schemas.microsoft.com/office/drawing/2014/chart" uri="{C3380CC4-5D6E-409C-BE32-E72D297353CC}">
                <c16:uniqueId val="{0000000F-338D-4679-8B3B-E8B8C7E6E9D5}"/>
              </c:ext>
            </c:extLst>
          </c:dPt>
          <c:dPt>
            <c:idx val="8"/>
            <c:invertIfNegative val="0"/>
            <c:bubble3D val="0"/>
            <c:extLst>
              <c:ext xmlns:c16="http://schemas.microsoft.com/office/drawing/2014/chart" uri="{C3380CC4-5D6E-409C-BE32-E72D297353CC}">
                <c16:uniqueId val="{00000011-338D-4679-8B3B-E8B8C7E6E9D5}"/>
              </c:ext>
            </c:extLst>
          </c:dPt>
          <c:dLbls>
            <c:numFmt formatCode="0" sourceLinked="0"/>
            <c:spPr>
              <a:noFill/>
              <a:ln>
                <a:noFill/>
              </a:ln>
              <a:effectLst/>
            </c:spPr>
            <c:txPr>
              <a:bodyPr/>
              <a:lstStyle/>
              <a:p>
                <a:pPr>
                  <a:defRPr sz="950" b="1" i="0" u="none" strike="noStrike">
                    <a:solidFill>
                      <a:srgbClr val="1A24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Training gaps</c:v>
                </c:pt>
                <c:pt idx="1">
                  <c:v>Access &amp; tool limits</c:v>
                </c:pt>
                <c:pt idx="2">
                  <c:v>Policy &amp; guidance confusion</c:v>
                </c:pt>
                <c:pt idx="3">
                  <c:v>Integration &amp; automation requests</c:v>
                </c:pt>
                <c:pt idx="4">
                  <c:v>Real productivity wins</c:v>
                </c:pt>
                <c:pt idx="5">
                  <c:v>Accuracy &amp; trust concerns</c:v>
                </c:pt>
                <c:pt idx="6">
                  <c:v>Skepticism, ethics &amp; environment</c:v>
                </c:pt>
                <c:pt idx="7">
                  <c:v>Job security worries</c:v>
                </c:pt>
                <c:pt idx="8">
                  <c:v>Privacy &amp; security</c:v>
                </c:pt>
              </c:strCache>
            </c:strRef>
          </c:cat>
          <c:val>
            <c:numRef>
              <c:f>Sheet1!$B$2:$B$10</c:f>
              <c:numCache>
                <c:formatCode>General</c:formatCode>
                <c:ptCount val="9"/>
                <c:pt idx="0">
                  <c:v>37</c:v>
                </c:pt>
                <c:pt idx="1">
                  <c:v>29</c:v>
                </c:pt>
                <c:pt idx="2">
                  <c:v>24</c:v>
                </c:pt>
                <c:pt idx="3">
                  <c:v>21</c:v>
                </c:pt>
                <c:pt idx="4">
                  <c:v>19</c:v>
                </c:pt>
                <c:pt idx="5">
                  <c:v>18</c:v>
                </c:pt>
                <c:pt idx="6">
                  <c:v>17</c:v>
                </c:pt>
                <c:pt idx="7">
                  <c:v>7</c:v>
                </c:pt>
                <c:pt idx="8">
                  <c:v>5</c:v>
                </c:pt>
              </c:numCache>
            </c:numRef>
          </c:val>
          <c:extLst>
            <c:ext xmlns:c16="http://schemas.microsoft.com/office/drawing/2014/chart" uri="{C3380CC4-5D6E-409C-BE32-E72D297353CC}">
              <c16:uniqueId val="{00000012-338D-4679-8B3B-E8B8C7E6E9D5}"/>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CBD5E1"/>
            </a:solidFill>
            <a:prstDash val="solid"/>
            <a:round/>
          </a:ln>
        </c:spPr>
        <c:txPr>
          <a:bodyPr/>
          <a:lstStyle/>
          <a:p>
            <a:pPr>
              <a:defRPr sz="950" b="0" i="0" u="none" strike="noStrike">
                <a:solidFill>
                  <a:srgbClr val="475569"/>
                </a:solidFill>
                <a:latin typeface="Calibri"/>
              </a:defRPr>
            </a:pPr>
            <a:endParaRPr lang="en-US"/>
          </a:p>
        </c:txPr>
        <c:crossAx val="2094734552"/>
        <c:crosses val="autoZero"/>
        <c:auto val="1"/>
        <c:lblAlgn val="ctr"/>
        <c:lblOffset val="100"/>
        <c:noMultiLvlLbl val="1"/>
      </c:catAx>
      <c:valAx>
        <c:axId val="2094734552"/>
        <c:scaling>
          <c:orientation val="minMax"/>
          <c:max val="44"/>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1716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Survey number, data label, and updated date come from Deck settings.
Source: CNAIT AI Experience &amp; Understanding Survey Final data V1 - All data.xlsx (491 responses, May 14, 2026 – Sep 1,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findings. Each number is computed from the survey export; later slides show the detail. Optional slide: it repeats numbers shown later.
Source: CNAIT AI Experience &amp; Understanding Survey Final data V1 - All data.xlsx (491 responses, May 14, 2026 – Sep 1,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Responses = rows in the export (491). Window = first to last response date (111 days). Champion count not set — add it in Deck settings to show the coverage card. Agencies: Rural Development Housing Service (RD-RHS) 82, Farm Service Agency (FSA) 76, Rural Development (RD) 67, Forest Service (FS) 57, Rural Development Utilities Service (RD-RUS) 39, Natural Resources Conservation Service (NRCS) 37, Rural Development Business Service (RD-RBCS) 34, Animal and Plant Health Inspection Service (APHIS) 21, Agricultural Research Service (ARS) 20, Prefer not to Specify 15, Food and Nutrition Service (FNS) 10, Office of the Chief Information Officer (OCIO) 9, Office of the Chief Financial Officer (OCFO) 6, Office of Hearings and Appeals (OHA) 6, Food Safety and Inspection Service (FSIS) 5, Agricultural Marketing Service (AMS) 2, Departmental Administration (DA) 2, Prefer not to specify 1, Economic Research Service (ERS) 1, Foreign Agricultural Service 1 (from the export).
Source: CNAIT AI Experience &amp; Understanding Survey Final data V1 - All data.xlsx (491 responses, May 14, 2026 – Sep 1,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score = mean of that question’s 1–5 answers (blanks excluded). Likelihood to Increase AI Use: 3.24 (n=490; 88/60/111/110/121 for 1–5); Understands Basic Guidelines: 3.06 (n=490; 92/72/124/118/84 for 1–5); Understands What AI Can &amp; Can’t Do: 2.79 (n=490; 84/102/177/85/42 for 1–5); Satisfied with Available Tools: 2.71 (n=490; 92/89/207/75/27 for 1–5); AI Has Improved Productivity: 2.38 (n=490; 169/106/114/64/37 for 1–5). Intent minus productivity = 0.86.
Source: CNAIT AI Experience &amp; Understanding Survey Final data V1 - All data.xlsx (491 responses, May 14, 2026 – Sep 1,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Frequency (single choice, % of 489 answered): Never 133 (27%), Rarely 106 (22%), Sometimes 137 (28%), Often 53 (11%), Daily 60 (12%). Barriers (select all; counts of people, % of 491): Lack of trust in accuracy 244, Lack of training 242, Unclear policies/permissions 214, Privacy/security concerns 194, Time constraints 120, AI isn’t relevant to my work 64. Written-in “other” barriers: 83 people (not charted).
Source: CNAIT AI Experience &amp; Understanding Survey Final data V1 - All data.xlsx (491 responses, May 14, 2026 – Sep 1,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 level (single choice, % of 490 answered): Awareness 95 (19%), Beginner 231 (47%), Practitioner 140 (29%), Advanced 11 (2%), Leader 13 (3%). Gap = mean intent to increase use (3.24) minus mean “AI has improved my productivity” (2.38) = 0.86.
Source: CNAIT AI Experience &amp; Understanding Survey Final data V1 - All data.xlsx (491 responses, May 14, 2026 – Sep 1,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number = substantive comments (of 141) coded to the theme. Barrier line = people choosing that barrier (select all, of 491). Comment coding is AI-assisted — spot-check. Accuracy &amp; trust concerns: 18 comments, quote from row 266; Training gaps: 37 comments, quote from row 147; Policy &amp; guidance confusion: 24 comments, quote from row 249; Integration &amp; automation requests: 21 comments, quote from row 292.
Source: CNAIT AI Experience &amp; Understanding Survey Final data V1 - All data.xlsx (491 responses, May 14, 2026 – Sep 1,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Tasks (select all, people choosing each, of 491): Drafting text 248, Summarizing 203, Meeting prep &amp; notes 120, Data analysis 118, Decision support 75, Spreadsheets 74, Coding &amp; scripting 71, Images &amp; video 62, Policy &amp; compliance 60. No tasks yet: 136. Written-in other: 46. Support (select all): Hands-on training 271, How-to guides 247, Use-case examples 233, Peer communities 147, 1:1 support 113; no support needed 95.
Source: CNAIT AI Experience &amp; Understanding Survey Final data V1 - All data.xlsx (491 responses, May 14, 2026 – Sep 1,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Theme counts = substantive comments (of 141) coded to each theme; a comment can carry several. Coding is AI-assisted — spot-check. Training gaps: 37 (rows 38, 66, 71, 147, 158, 159, 203, 208, 221, 226, 241, 250, 252, 273, 289, 300, 303, 321, 328, 334, 338, 341, 351, 354, 386, 387, 388, 391, 392, 399, 431, 465, 468, 469, 473, 475, 479); Access &amp; tool limits: 29 (rows 16, 48, 65, 68, 157, 158, 200, 212, 221, 238, 254, 257, 288, 295, 308, 321, 322, 325, 329, 344, 352, 388, 415, 427, 443, 468, 473, 479, 481); Policy &amp; guidance confusion: 24 (rows 2, 20, 38, 41, 49, 53, 60, 71, 158, 203, 221, 241, 249, 254, 320, 330, 352, 387, 399, 451, 465, 468, 469, 489); Integration &amp; automation requests: 21 (rows 71, 97, 158, 208, 226, 231, 250, 292, 303, 308, 321, 322, 325, 359, 388, 399, 415, 428, 445, 479, 489); Real productivity wins: 19 (rows 117, 147, 158, 167, 212, 221, 229, 238, 278, 312, 316, 339, 351, 366, 383, 414, 455, 469, 487); Accuracy &amp; trust concerns: 18 (rows 12, 19, 86, 158, 167, 196, 204, 212, 221, 226, 249, 266, 307, 344, 364, 366, 391, 469); Skepticism, ethics &amp; environment: 17 (rows 86, 90, 95, 102, 159, 162, 177, 178, 188, 206, 304, 305, 307, 314, 336, 423, 450); Job security worries: 7 (rows 159, 225, 278, 326, 436, 450, 473); Privacy &amp; security: 5 (rows 221, 254, 387, 403, 469).
Source: CNAIT AI Experience &amp; Understanding Survey Final data V1 - All data.xlsx (491 responses, May 14, 2026 – Sep 1,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modest, repeatable actions for champions, tied to this survey’s numbers.
Source: CNAIT AI Experience &amp; Understanding Survey Final data V1 - All data.xlsx (491 responses, May 14, 2026 – Sep 1,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Source: CNAIT AI Experience &amp; Understanding Survey Final data V1 - All data.xlsx (491 responses, May 14, 2026 – Sep 1, 2026). All figures computed from this file only — a standalone baseline, no comparison to earlier surveys.
DRAFT — AI-assisted. A person must review and verify every number and quote before this is shared.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867430" y="-1219170"/>
            <a:ext cx="4826020" cy="4826020"/>
          </a:xfrm>
          <a:prstGeom prst="ellipse">
            <a:avLst/>
          </a:prstGeom>
          <a:solidFill>
            <a:srgbClr val="EDEFF2"/>
          </a:solidFill>
          <a:ln/>
        </p:spPr>
        <p:txBody>
          <a:bodyPr/>
          <a:lstStyle/>
          <a:p>
            <a:endParaRPr lang="en-US"/>
          </a:p>
        </p:txBody>
      </p:sp>
      <p:sp>
        <p:nvSpPr>
          <p:cNvPr id="3" name="Shape 1"/>
          <p:cNvSpPr/>
          <p:nvPr/>
        </p:nvSpPr>
        <p:spPr>
          <a:xfrm>
            <a:off x="7188190" y="2717780"/>
            <a:ext cx="3301990" cy="3301990"/>
          </a:xfrm>
          <a:prstGeom prst="ellipse">
            <a:avLst/>
          </a:prstGeom>
          <a:solidFill>
            <a:srgbClr val="EAF0ED"/>
          </a:solidFill>
          <a:ln/>
        </p:spPr>
        <p:txBody>
          <a:bodyPr/>
          <a:lstStyle/>
          <a:p>
            <a:endParaRPr lang="en-US"/>
          </a:p>
        </p:txBody>
      </p:sp>
      <p:sp>
        <p:nvSpPr>
          <p:cNvPr id="4" name="Shape 2"/>
          <p:cNvSpPr/>
          <p:nvPr/>
        </p:nvSpPr>
        <p:spPr>
          <a:xfrm>
            <a:off x="-1015990" y="4038630"/>
            <a:ext cx="2413010" cy="2413010"/>
          </a:xfrm>
          <a:prstGeom prst="ellipse">
            <a:avLst/>
          </a:prstGeom>
          <a:solidFill>
            <a:srgbClr val="EFF4F7"/>
          </a:solidFill>
          <a:ln/>
        </p:spPr>
        <p:txBody>
          <a:bodyPr/>
          <a:lstStyle/>
          <a:p>
            <a:endParaRPr lang="en-US"/>
          </a:p>
        </p:txBody>
      </p:sp>
      <p:sp>
        <p:nvSpPr>
          <p:cNvPr id="5" name="Text 3"/>
          <p:cNvSpPr txBox="1"/>
          <p:nvPr/>
        </p:nvSpPr>
        <p:spPr>
          <a:xfrm>
            <a:off x="711220" y="1168420"/>
            <a:ext cx="5587990" cy="203180"/>
          </a:xfrm>
          <a:prstGeom prst="rect">
            <a:avLst/>
          </a:prstGeom>
          <a:noFill/>
          <a:ln/>
        </p:spPr>
        <p:txBody>
          <a:bodyPr wrap="square" lIns="0" tIns="0" rIns="0" bIns="0" rtlCol="0" anchor="t"/>
          <a:lstStyle/>
          <a:p>
            <a:pPr marL="0" indent="0" algn="l">
              <a:lnSpc>
                <a:spcPct val="100000"/>
              </a:lnSpc>
              <a:buNone/>
            </a:pPr>
            <a:r>
              <a:rPr lang="en-US" sz="1000" b="1" kern="0" spc="120" dirty="0">
                <a:solidFill>
                  <a:srgbClr val="2D6A4F"/>
                </a:solidFill>
                <a:latin typeface="Calibri" pitchFamily="34" charset="0"/>
                <a:ea typeface="Calibri" pitchFamily="34" charset="-122"/>
                <a:cs typeface="Calibri" pitchFamily="34" charset="-120"/>
              </a:rPr>
              <a:t>CNAIT PROGRAM</a:t>
            </a:r>
            <a:endParaRPr lang="en-US" sz="1000" dirty="0"/>
          </a:p>
        </p:txBody>
      </p:sp>
      <p:sp>
        <p:nvSpPr>
          <p:cNvPr id="6" name="Text 4"/>
          <p:cNvSpPr txBox="1"/>
          <p:nvPr/>
        </p:nvSpPr>
        <p:spPr>
          <a:xfrm>
            <a:off x="711220" y="1447770"/>
            <a:ext cx="5587990" cy="1219170"/>
          </a:xfrm>
          <a:prstGeom prst="rect">
            <a:avLst/>
          </a:prstGeom>
          <a:noFill/>
          <a:ln/>
        </p:spPr>
        <p:txBody>
          <a:bodyPr wrap="square" lIns="0" tIns="0" rIns="0" bIns="0" rtlCol="0" anchor="t"/>
          <a:lstStyle/>
          <a:p>
            <a:pPr marL="0" indent="0" algn="l">
              <a:lnSpc>
                <a:spcPct val="92000"/>
              </a:lnSpc>
              <a:buNone/>
            </a:pPr>
            <a:r>
              <a:rPr lang="en-US" sz="3600" b="1" dirty="0">
                <a:solidFill>
                  <a:srgbClr val="1E3A5F"/>
                </a:solidFill>
                <a:latin typeface="Calibri" pitchFamily="34" charset="0"/>
                <a:ea typeface="Calibri" pitchFamily="34" charset="-122"/>
                <a:cs typeface="Calibri" pitchFamily="34" charset="-120"/>
              </a:rPr>
              <a:t>AI Awareness Survey</a:t>
            </a:r>
            <a:endParaRPr lang="en-US" sz="3600" dirty="0"/>
          </a:p>
        </p:txBody>
      </p:sp>
      <p:sp>
        <p:nvSpPr>
          <p:cNvPr id="7" name="Text 5"/>
          <p:cNvSpPr txBox="1"/>
          <p:nvPr/>
        </p:nvSpPr>
        <p:spPr>
          <a:xfrm>
            <a:off x="711220" y="2717780"/>
            <a:ext cx="5333970" cy="761970"/>
          </a:xfrm>
          <a:prstGeom prst="rect">
            <a:avLst/>
          </a:prstGeom>
          <a:noFill/>
          <a:ln/>
        </p:spPr>
        <p:txBody>
          <a:bodyPr wrap="square" lIns="0" tIns="0" rIns="0" bIns="0" rtlCol="0" anchor="t"/>
          <a:lstStyle/>
          <a:p>
            <a:pPr marL="0" indent="0" algn="l">
              <a:lnSpc>
                <a:spcPct val="100000"/>
              </a:lnSpc>
              <a:buNone/>
            </a:pPr>
            <a:r>
              <a:rPr lang="en-US" sz="1400" dirty="0">
                <a:solidFill>
                  <a:srgbClr val="475569"/>
                </a:solidFill>
                <a:latin typeface="Calibri" pitchFamily="34" charset="0"/>
                <a:ea typeface="Calibri" pitchFamily="34" charset="-122"/>
                <a:cs typeface="Calibri" pitchFamily="34" charset="-120"/>
              </a:rPr>
              <a:t>What the survey data means for you — and how to use it to move your agency forward</a:t>
            </a:r>
            <a:endParaRPr lang="en-US" sz="1400" dirty="0"/>
          </a:p>
        </p:txBody>
      </p:sp>
      <p:sp>
        <p:nvSpPr>
          <p:cNvPr id="8" name="Text 6"/>
          <p:cNvSpPr txBox="1"/>
          <p:nvPr/>
        </p:nvSpPr>
        <p:spPr>
          <a:xfrm>
            <a:off x="711220" y="4470410"/>
            <a:ext cx="7112020" cy="177759"/>
          </a:xfrm>
          <a:prstGeom prst="rect">
            <a:avLst/>
          </a:prstGeom>
          <a:noFill/>
          <a:ln/>
        </p:spPr>
        <p:txBody>
          <a:bodyPr wrap="square" lIns="0" tIns="0" rIns="0" bIns="0" rtlCol="0" anchor="t"/>
          <a:lstStyle/>
          <a:p>
            <a:pPr marL="0" indent="0" algn="l">
              <a:lnSpc>
                <a:spcPct val="100000"/>
              </a:lnSpc>
              <a:buNone/>
            </a:pPr>
            <a:r>
              <a:rPr lang="en-US" sz="900">
                <a:solidFill>
                  <a:srgbClr val="475569"/>
                </a:solidFill>
                <a:latin typeface="Calibri" pitchFamily="34" charset="0"/>
                <a:ea typeface="Calibri" pitchFamily="34" charset="-122"/>
                <a:cs typeface="Calibri" pitchFamily="34" charset="-120"/>
              </a:rPr>
              <a:t>CNAIT |  Survey V1 </a:t>
            </a:r>
            <a:r>
              <a:rPr lang="en-US" sz="900" dirty="0">
                <a:solidFill>
                  <a:srgbClr val="475569"/>
                </a:solidFill>
                <a:latin typeface="Calibri" pitchFamily="34" charset="0"/>
                <a:ea typeface="Calibri" pitchFamily="34" charset="-122"/>
                <a:cs typeface="Calibri" pitchFamily="34" charset="-120"/>
              </a:rPr>
              <a:t>– Baseline Data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55610" y="177759"/>
            <a:ext cx="8432780" cy="431780"/>
          </a:xfrm>
          <a:prstGeom prst="rect">
            <a:avLst/>
          </a:prstGeom>
          <a:noFill/>
          <a:ln/>
        </p:spPr>
        <p:txBody>
          <a:bodyPr wrap="square" lIns="0" tIns="0" rIns="0" bIns="0" rtlCol="0" anchor="ctr"/>
          <a:lstStyle/>
          <a:p>
            <a:pPr marL="0" indent="0" algn="l">
              <a:lnSpc>
                <a:spcPct val="95000"/>
              </a:lnSpc>
              <a:buNone/>
            </a:pPr>
            <a:r>
              <a:rPr lang="en-US" sz="2100" b="1" dirty="0">
                <a:solidFill>
                  <a:srgbClr val="1E3A5F"/>
                </a:solidFill>
                <a:latin typeface="Calibri" pitchFamily="34" charset="0"/>
                <a:ea typeface="Calibri" pitchFamily="34" charset="-122"/>
                <a:cs typeface="Calibri" pitchFamily="34" charset="-120"/>
              </a:rPr>
              <a:t>Four Things the Survey Tells Us</a:t>
            </a:r>
            <a:endParaRPr lang="en-US" sz="2100" dirty="0"/>
          </a:p>
        </p:txBody>
      </p:sp>
      <p:sp>
        <p:nvSpPr>
          <p:cNvPr id="3" name="Text 1"/>
          <p:cNvSpPr txBox="1"/>
          <p:nvPr/>
        </p:nvSpPr>
        <p:spPr>
          <a:xfrm>
            <a:off x="355610" y="4940320"/>
            <a:ext cx="5969020" cy="139720"/>
          </a:xfrm>
          <a:prstGeom prst="rect">
            <a:avLst/>
          </a:prstGeom>
          <a:noFill/>
          <a:ln/>
        </p:spPr>
        <p:txBody>
          <a:bodyPr wrap="square" lIns="0" tIns="0" rIns="0" bIns="0" rtlCol="0" anchor="t"/>
          <a:lstStyle/>
          <a:p>
            <a:pPr marL="0" indent="0" algn="l">
              <a:lnSpc>
                <a:spcPct val="100000"/>
              </a:lnSpc>
              <a:buNone/>
            </a:pPr>
            <a:r>
              <a:rPr lang="en-US" sz="750">
                <a:solidFill>
                  <a:srgbClr val="64748B"/>
                </a:solidFill>
                <a:latin typeface="Calibri" pitchFamily="34" charset="0"/>
                <a:ea typeface="Calibri" pitchFamily="34" charset="-122"/>
                <a:cs typeface="Calibri" pitchFamily="34" charset="-120"/>
              </a:rPr>
              <a:t>  CNAIT ·  AI Awareness Survey - Bseline Data </a:t>
            </a:r>
            <a:endParaRPr lang="en-US" sz="750" dirty="0"/>
          </a:p>
        </p:txBody>
      </p:sp>
      <p:sp>
        <p:nvSpPr>
          <p:cNvPr id="4" name="Text 2"/>
          <p:cNvSpPr txBox="1"/>
          <p:nvPr/>
        </p:nvSpPr>
        <p:spPr>
          <a:xfrm>
            <a:off x="6349959" y="4940320"/>
            <a:ext cx="1879641" cy="139720"/>
          </a:xfrm>
          <a:prstGeom prst="rect">
            <a:avLst/>
          </a:prstGeom>
          <a:noFill/>
          <a:ln/>
        </p:spPr>
        <p:txBody>
          <a:bodyPr wrap="square" lIns="0" tIns="0" rIns="0" bIns="0" rtlCol="0" anchor="t"/>
          <a:lstStyle/>
          <a:p>
            <a:pPr marL="0" indent="0" algn="r">
              <a:lnSpc>
                <a:spcPct val="100000"/>
              </a:lnSpc>
              <a:buNone/>
            </a:pPr>
            <a:r>
              <a:rPr lang="en-US" sz="750" b="1">
                <a:solidFill>
                  <a:srgbClr val="B87A1E"/>
                </a:solidFill>
                <a:latin typeface="Calibri" pitchFamily="34" charset="0"/>
                <a:ea typeface="Calibri" pitchFamily="34" charset="-122"/>
                <a:cs typeface="Calibri" pitchFamily="34" charset="-120"/>
              </a:rPr>
              <a:t> </a:t>
            </a:r>
            <a:endParaRPr lang="en-US" sz="750" dirty="0"/>
          </a:p>
        </p:txBody>
      </p:sp>
      <p:sp>
        <p:nvSpPr>
          <p:cNvPr id="5" name="Text 3"/>
          <p:cNvSpPr txBox="1"/>
          <p:nvPr/>
        </p:nvSpPr>
        <p:spPr>
          <a:xfrm>
            <a:off x="8331190" y="4940320"/>
            <a:ext cx="457200" cy="139720"/>
          </a:xfrm>
          <a:prstGeom prst="rect">
            <a:avLst/>
          </a:prstGeom>
          <a:noFill/>
          <a:ln/>
        </p:spPr>
        <p:txBody>
          <a:bodyPr wrap="square" lIns="0" tIns="0" rIns="0" bIns="0" rtlCol="0" anchor="t"/>
          <a:lstStyle/>
          <a:p>
            <a:pPr marL="0" indent="0" algn="r">
              <a:lnSpc>
                <a:spcPct val="100000"/>
              </a:lnSpc>
              <a:buNone/>
            </a:pPr>
            <a:r>
              <a:rPr lang="en-US" sz="750" dirty="0">
                <a:solidFill>
                  <a:srgbClr val="64748B"/>
                </a:solidFill>
                <a:latin typeface="Calibri" pitchFamily="34" charset="0"/>
                <a:ea typeface="Calibri" pitchFamily="34" charset="-122"/>
                <a:cs typeface="Calibri" pitchFamily="34" charset="-120"/>
              </a:rPr>
              <a:t>2</a:t>
            </a:r>
            <a:endParaRPr lang="en-US" sz="750" dirty="0"/>
          </a:p>
        </p:txBody>
      </p:sp>
      <p:sp>
        <p:nvSpPr>
          <p:cNvPr id="6" name="Shape 4"/>
          <p:cNvSpPr/>
          <p:nvPr/>
        </p:nvSpPr>
        <p:spPr>
          <a:xfrm>
            <a:off x="355610" y="863559"/>
            <a:ext cx="4114800" cy="1917680"/>
          </a:xfrm>
          <a:prstGeom prst="roundRect">
            <a:avLst>
              <a:gd name="adj" fmla="val 5298"/>
            </a:avLst>
          </a:prstGeom>
          <a:solidFill>
            <a:srgbClr val="F8FAFC"/>
          </a:solidFill>
          <a:ln w="9525">
            <a:solidFill>
              <a:srgbClr val="E2E8F0"/>
            </a:solidFill>
            <a:prstDash val="solid"/>
          </a:ln>
        </p:spPr>
        <p:txBody>
          <a:bodyPr/>
          <a:lstStyle/>
          <a:p>
            <a:endParaRPr lang="en-US"/>
          </a:p>
        </p:txBody>
      </p:sp>
      <p:sp>
        <p:nvSpPr>
          <p:cNvPr id="7" name="Text 5"/>
          <p:cNvSpPr txBox="1"/>
          <p:nvPr/>
        </p:nvSpPr>
        <p:spPr>
          <a:xfrm>
            <a:off x="584210" y="1041410"/>
            <a:ext cx="3657600" cy="508041"/>
          </a:xfrm>
          <a:prstGeom prst="rect">
            <a:avLst/>
          </a:prstGeom>
          <a:noFill/>
          <a:ln/>
        </p:spPr>
        <p:txBody>
          <a:bodyPr wrap="square" lIns="0" tIns="0" rIns="0" bIns="0" rtlCol="0" anchor="ctr"/>
          <a:lstStyle/>
          <a:p>
            <a:pPr marL="0" indent="0" algn="l">
              <a:lnSpc>
                <a:spcPct val="100000"/>
              </a:lnSpc>
              <a:buNone/>
            </a:pPr>
            <a:r>
              <a:rPr lang="en-US" sz="3000" b="1" dirty="0">
                <a:solidFill>
                  <a:srgbClr val="1E3A5F"/>
                </a:solidFill>
                <a:latin typeface="Calibri" pitchFamily="34" charset="0"/>
                <a:ea typeface="Calibri" pitchFamily="34" charset="-122"/>
                <a:cs typeface="Calibri" pitchFamily="34" charset="-120"/>
              </a:rPr>
              <a:t>67%</a:t>
            </a:r>
            <a:endParaRPr lang="en-US" sz="3000" dirty="0"/>
          </a:p>
        </p:txBody>
      </p:sp>
      <p:sp>
        <p:nvSpPr>
          <p:cNvPr id="8" name="Text 6"/>
          <p:cNvSpPr txBox="1"/>
          <p:nvPr/>
        </p:nvSpPr>
        <p:spPr>
          <a:xfrm>
            <a:off x="584210" y="1600200"/>
            <a:ext cx="3657600" cy="254020"/>
          </a:xfrm>
          <a:prstGeom prst="rect">
            <a:avLst/>
          </a:prstGeom>
          <a:noFill/>
          <a:ln/>
        </p:spPr>
        <p:txBody>
          <a:bodyPr wrap="square" lIns="0" tIns="0" rIns="0" bIns="0" rtlCol="0" anchor="t"/>
          <a:lstStyle/>
          <a:p>
            <a:pPr marL="0" indent="0" algn="l">
              <a:lnSpc>
                <a:spcPct val="100000"/>
              </a:lnSpc>
              <a:buNone/>
            </a:pPr>
            <a:r>
              <a:rPr lang="en-US" sz="1400" b="1" dirty="0">
                <a:solidFill>
                  <a:srgbClr val="1A2433"/>
                </a:solidFill>
                <a:latin typeface="Calibri" pitchFamily="34" charset="0"/>
                <a:ea typeface="Calibri" pitchFamily="34" charset="-122"/>
                <a:cs typeface="Calibri" pitchFamily="34" charset="-120"/>
              </a:rPr>
              <a:t>Are still at the starting line</a:t>
            </a:r>
            <a:endParaRPr lang="en-US" sz="1400" dirty="0"/>
          </a:p>
        </p:txBody>
      </p:sp>
      <p:sp>
        <p:nvSpPr>
          <p:cNvPr id="9" name="Text 7"/>
          <p:cNvSpPr txBox="1"/>
          <p:nvPr/>
        </p:nvSpPr>
        <p:spPr>
          <a:xfrm>
            <a:off x="584210" y="1879641"/>
            <a:ext cx="3657600" cy="749259"/>
          </a:xfrm>
          <a:prstGeom prst="rect">
            <a:avLst/>
          </a:prstGeom>
          <a:noFill/>
          <a:ln/>
        </p:spPr>
        <p:txBody>
          <a:bodyPr wrap="square" lIns="0" tIns="0" rIns="0" bIns="0" rtlCol="0" anchor="t"/>
          <a:lstStyle/>
          <a:p>
            <a:pPr marL="0" indent="0" algn="l">
              <a:lnSpc>
                <a:spcPct val="100000"/>
              </a:lnSpc>
              <a:buNone/>
            </a:pPr>
            <a:r>
              <a:rPr lang="en-US" sz="1100" dirty="0">
                <a:solidFill>
                  <a:srgbClr val="475569"/>
                </a:solidFill>
                <a:latin typeface="Calibri" pitchFamily="34" charset="0"/>
                <a:ea typeface="Calibri" pitchFamily="34" charset="-122"/>
                <a:cs typeface="Calibri" pitchFamily="34" charset="-120"/>
              </a:rPr>
              <a:t>67% rate themselves Awareness or Beginner. That is the audience champions serve.</a:t>
            </a:r>
            <a:endParaRPr lang="en-US" sz="1100" dirty="0"/>
          </a:p>
        </p:txBody>
      </p:sp>
      <p:sp>
        <p:nvSpPr>
          <p:cNvPr id="10" name="Shape 8"/>
          <p:cNvSpPr/>
          <p:nvPr/>
        </p:nvSpPr>
        <p:spPr>
          <a:xfrm>
            <a:off x="4673590" y="863559"/>
            <a:ext cx="4114800" cy="1917680"/>
          </a:xfrm>
          <a:prstGeom prst="roundRect">
            <a:avLst>
              <a:gd name="adj" fmla="val 5298"/>
            </a:avLst>
          </a:prstGeom>
          <a:solidFill>
            <a:srgbClr val="F8FAFC"/>
          </a:solidFill>
          <a:ln w="9525">
            <a:solidFill>
              <a:srgbClr val="E2E8F0"/>
            </a:solidFill>
            <a:prstDash val="solid"/>
          </a:ln>
        </p:spPr>
        <p:txBody>
          <a:bodyPr/>
          <a:lstStyle/>
          <a:p>
            <a:endParaRPr lang="en-US"/>
          </a:p>
        </p:txBody>
      </p:sp>
      <p:sp>
        <p:nvSpPr>
          <p:cNvPr id="11" name="Text 9"/>
          <p:cNvSpPr txBox="1"/>
          <p:nvPr/>
        </p:nvSpPr>
        <p:spPr>
          <a:xfrm>
            <a:off x="4902190" y="1041410"/>
            <a:ext cx="3657600" cy="508041"/>
          </a:xfrm>
          <a:prstGeom prst="rect">
            <a:avLst/>
          </a:prstGeom>
          <a:noFill/>
          <a:ln/>
        </p:spPr>
        <p:txBody>
          <a:bodyPr wrap="square" lIns="0" tIns="0" rIns="0" bIns="0" rtlCol="0" anchor="ctr"/>
          <a:lstStyle/>
          <a:p>
            <a:pPr marL="0" indent="0" algn="l">
              <a:lnSpc>
                <a:spcPct val="100000"/>
              </a:lnSpc>
              <a:buNone/>
            </a:pPr>
            <a:r>
              <a:rPr lang="en-US" sz="3000" b="1" dirty="0">
                <a:solidFill>
                  <a:srgbClr val="2D6A4F"/>
                </a:solidFill>
                <a:latin typeface="Calibri" pitchFamily="34" charset="0"/>
                <a:ea typeface="Calibri" pitchFamily="34" charset="-122"/>
                <a:cs typeface="Calibri" pitchFamily="34" charset="-120"/>
              </a:rPr>
              <a:t>244</a:t>
            </a:r>
            <a:endParaRPr lang="en-US" sz="3000" dirty="0"/>
          </a:p>
        </p:txBody>
      </p:sp>
      <p:sp>
        <p:nvSpPr>
          <p:cNvPr id="12" name="Text 10"/>
          <p:cNvSpPr txBox="1"/>
          <p:nvPr/>
        </p:nvSpPr>
        <p:spPr>
          <a:xfrm>
            <a:off x="4902190" y="1600200"/>
            <a:ext cx="3657600" cy="254020"/>
          </a:xfrm>
          <a:prstGeom prst="rect">
            <a:avLst/>
          </a:prstGeom>
          <a:noFill/>
          <a:ln/>
        </p:spPr>
        <p:txBody>
          <a:bodyPr wrap="square" lIns="0" tIns="0" rIns="0" bIns="0" rtlCol="0" anchor="t"/>
          <a:lstStyle/>
          <a:p>
            <a:pPr marL="0" indent="0" algn="l">
              <a:lnSpc>
                <a:spcPct val="100000"/>
              </a:lnSpc>
              <a:buNone/>
            </a:pPr>
            <a:r>
              <a:rPr lang="en-US" sz="1400" b="1" dirty="0">
                <a:solidFill>
                  <a:srgbClr val="1A2433"/>
                </a:solidFill>
                <a:latin typeface="Calibri" pitchFamily="34" charset="0"/>
                <a:ea typeface="Calibri" pitchFamily="34" charset="-122"/>
                <a:cs typeface="Calibri" pitchFamily="34" charset="-120"/>
              </a:rPr>
              <a:t>Chose “Lack of trust in accuracy”</a:t>
            </a:r>
            <a:endParaRPr lang="en-US" sz="1400" dirty="0"/>
          </a:p>
        </p:txBody>
      </p:sp>
      <p:sp>
        <p:nvSpPr>
          <p:cNvPr id="13" name="Text 11"/>
          <p:cNvSpPr txBox="1"/>
          <p:nvPr/>
        </p:nvSpPr>
        <p:spPr>
          <a:xfrm>
            <a:off x="4902190" y="1879641"/>
            <a:ext cx="3657600" cy="749259"/>
          </a:xfrm>
          <a:prstGeom prst="rect">
            <a:avLst/>
          </a:prstGeom>
          <a:noFill/>
          <a:ln/>
        </p:spPr>
        <p:txBody>
          <a:bodyPr wrap="square" lIns="0" tIns="0" rIns="0" bIns="0" rtlCol="0" anchor="t"/>
          <a:lstStyle/>
          <a:p>
            <a:pPr marL="0" indent="0" algn="l">
              <a:lnSpc>
                <a:spcPct val="100000"/>
              </a:lnSpc>
              <a:buNone/>
            </a:pPr>
            <a:r>
              <a:rPr lang="en-US" sz="1100" dirty="0">
                <a:solidFill>
                  <a:srgbClr val="475569"/>
                </a:solidFill>
                <a:latin typeface="Calibri" pitchFamily="34" charset="0"/>
                <a:ea typeface="Calibri" pitchFamily="34" charset="-122"/>
                <a:cs typeface="Calibri" pitchFamily="34" charset="-120"/>
              </a:rPr>
              <a:t>Lack of trust in accuracy (50%) and lack of training (49%) are the top barriers.</a:t>
            </a:r>
            <a:endParaRPr lang="en-US" sz="1100" dirty="0"/>
          </a:p>
        </p:txBody>
      </p:sp>
      <p:sp>
        <p:nvSpPr>
          <p:cNvPr id="14" name="Shape 12"/>
          <p:cNvSpPr/>
          <p:nvPr/>
        </p:nvSpPr>
        <p:spPr>
          <a:xfrm>
            <a:off x="355610" y="2959090"/>
            <a:ext cx="4114800" cy="1917680"/>
          </a:xfrm>
          <a:prstGeom prst="roundRect">
            <a:avLst>
              <a:gd name="adj" fmla="val 5298"/>
            </a:avLst>
          </a:prstGeom>
          <a:solidFill>
            <a:srgbClr val="F8FAFC"/>
          </a:solidFill>
          <a:ln w="9525">
            <a:solidFill>
              <a:srgbClr val="E2E8F0"/>
            </a:solidFill>
            <a:prstDash val="solid"/>
          </a:ln>
        </p:spPr>
        <p:txBody>
          <a:bodyPr/>
          <a:lstStyle/>
          <a:p>
            <a:endParaRPr lang="en-US"/>
          </a:p>
        </p:txBody>
      </p:sp>
      <p:sp>
        <p:nvSpPr>
          <p:cNvPr id="15" name="Text 13"/>
          <p:cNvSpPr txBox="1"/>
          <p:nvPr/>
        </p:nvSpPr>
        <p:spPr>
          <a:xfrm>
            <a:off x="584210" y="3136941"/>
            <a:ext cx="3657600" cy="508041"/>
          </a:xfrm>
          <a:prstGeom prst="rect">
            <a:avLst/>
          </a:prstGeom>
          <a:noFill/>
          <a:ln/>
        </p:spPr>
        <p:txBody>
          <a:bodyPr wrap="square" lIns="0" tIns="0" rIns="0" bIns="0" rtlCol="0" anchor="ctr"/>
          <a:lstStyle/>
          <a:p>
            <a:pPr marL="0" indent="0" algn="l">
              <a:lnSpc>
                <a:spcPct val="100000"/>
              </a:lnSpc>
              <a:buNone/>
            </a:pPr>
            <a:r>
              <a:rPr lang="en-US" sz="3000" b="1" dirty="0">
                <a:solidFill>
                  <a:srgbClr val="1B5E8A"/>
                </a:solidFill>
                <a:latin typeface="Calibri" pitchFamily="34" charset="0"/>
                <a:ea typeface="Calibri" pitchFamily="34" charset="-122"/>
                <a:cs typeface="Calibri" pitchFamily="34" charset="-120"/>
              </a:rPr>
              <a:t>3.24 / 5</a:t>
            </a:r>
            <a:endParaRPr lang="en-US" sz="3000" dirty="0"/>
          </a:p>
        </p:txBody>
      </p:sp>
      <p:sp>
        <p:nvSpPr>
          <p:cNvPr id="16" name="Text 14"/>
          <p:cNvSpPr txBox="1"/>
          <p:nvPr/>
        </p:nvSpPr>
        <p:spPr>
          <a:xfrm>
            <a:off x="584210" y="3695730"/>
            <a:ext cx="3657600" cy="254020"/>
          </a:xfrm>
          <a:prstGeom prst="rect">
            <a:avLst/>
          </a:prstGeom>
          <a:noFill/>
          <a:ln/>
        </p:spPr>
        <p:txBody>
          <a:bodyPr wrap="square" lIns="0" tIns="0" rIns="0" bIns="0" rtlCol="0" anchor="t"/>
          <a:lstStyle/>
          <a:p>
            <a:pPr marL="0" indent="0" algn="l">
              <a:lnSpc>
                <a:spcPct val="100000"/>
              </a:lnSpc>
              <a:buNone/>
            </a:pPr>
            <a:r>
              <a:rPr lang="en-US" sz="1400" b="1" dirty="0">
                <a:solidFill>
                  <a:srgbClr val="1A2433"/>
                </a:solidFill>
                <a:latin typeface="Calibri" pitchFamily="34" charset="0"/>
                <a:ea typeface="Calibri" pitchFamily="34" charset="-122"/>
                <a:cs typeface="Calibri" pitchFamily="34" charset="-120"/>
              </a:rPr>
              <a:t>Likelihood to Increase AI Use</a:t>
            </a:r>
            <a:endParaRPr lang="en-US" sz="1400" dirty="0"/>
          </a:p>
        </p:txBody>
      </p:sp>
      <p:sp>
        <p:nvSpPr>
          <p:cNvPr id="17" name="Text 15"/>
          <p:cNvSpPr txBox="1"/>
          <p:nvPr/>
        </p:nvSpPr>
        <p:spPr>
          <a:xfrm>
            <a:off x="584210" y="3975080"/>
            <a:ext cx="3657600" cy="749259"/>
          </a:xfrm>
          <a:prstGeom prst="rect">
            <a:avLst/>
          </a:prstGeom>
          <a:noFill/>
          <a:ln/>
        </p:spPr>
        <p:txBody>
          <a:bodyPr wrap="square" lIns="0" tIns="0" rIns="0" bIns="0" rtlCol="0" anchor="t"/>
          <a:lstStyle/>
          <a:p>
            <a:pPr marL="0" indent="0" algn="l">
              <a:lnSpc>
                <a:spcPct val="100000"/>
              </a:lnSpc>
              <a:buNone/>
            </a:pPr>
            <a:r>
              <a:rPr lang="en-US" sz="1100" dirty="0">
                <a:solidFill>
                  <a:srgbClr val="475569"/>
                </a:solidFill>
                <a:latin typeface="Calibri" pitchFamily="34" charset="0"/>
                <a:ea typeface="Calibri" pitchFamily="34" charset="-122"/>
                <a:cs typeface="Calibri" pitchFamily="34" charset="-120"/>
              </a:rPr>
              <a:t>The highest rating; improved productivity is lowest at 2.38. People want value they haven’t felt yet.</a:t>
            </a:r>
            <a:endParaRPr lang="en-US" sz="1100" dirty="0"/>
          </a:p>
        </p:txBody>
      </p:sp>
      <p:sp>
        <p:nvSpPr>
          <p:cNvPr id="18" name="Shape 16"/>
          <p:cNvSpPr/>
          <p:nvPr/>
        </p:nvSpPr>
        <p:spPr>
          <a:xfrm>
            <a:off x="4673590" y="2959090"/>
            <a:ext cx="4114800" cy="1917680"/>
          </a:xfrm>
          <a:prstGeom prst="roundRect">
            <a:avLst>
              <a:gd name="adj" fmla="val 5298"/>
            </a:avLst>
          </a:prstGeom>
          <a:solidFill>
            <a:srgbClr val="F8FAFC"/>
          </a:solidFill>
          <a:ln w="9525">
            <a:solidFill>
              <a:srgbClr val="E2E8F0"/>
            </a:solidFill>
            <a:prstDash val="solid"/>
          </a:ln>
        </p:spPr>
        <p:txBody>
          <a:bodyPr/>
          <a:lstStyle/>
          <a:p>
            <a:endParaRPr lang="en-US"/>
          </a:p>
        </p:txBody>
      </p:sp>
      <p:sp>
        <p:nvSpPr>
          <p:cNvPr id="19" name="Text 17"/>
          <p:cNvSpPr txBox="1"/>
          <p:nvPr/>
        </p:nvSpPr>
        <p:spPr>
          <a:xfrm>
            <a:off x="4902190" y="3136941"/>
            <a:ext cx="3657600" cy="508041"/>
          </a:xfrm>
          <a:prstGeom prst="rect">
            <a:avLst/>
          </a:prstGeom>
          <a:noFill/>
          <a:ln/>
        </p:spPr>
        <p:txBody>
          <a:bodyPr wrap="square" lIns="0" tIns="0" rIns="0" bIns="0" rtlCol="0" anchor="ctr"/>
          <a:lstStyle/>
          <a:p>
            <a:pPr marL="0" indent="0" algn="l">
              <a:lnSpc>
                <a:spcPct val="100000"/>
              </a:lnSpc>
              <a:buNone/>
            </a:pPr>
            <a:r>
              <a:rPr lang="en-US" sz="3000" b="1" dirty="0">
                <a:solidFill>
                  <a:srgbClr val="B87A1E"/>
                </a:solidFill>
                <a:latin typeface="Calibri" pitchFamily="34" charset="0"/>
                <a:ea typeface="Calibri" pitchFamily="34" charset="-122"/>
                <a:cs typeface="Calibri" pitchFamily="34" charset="-120"/>
              </a:rPr>
              <a:t>55%</a:t>
            </a:r>
            <a:endParaRPr lang="en-US" sz="3000" dirty="0"/>
          </a:p>
        </p:txBody>
      </p:sp>
      <p:sp>
        <p:nvSpPr>
          <p:cNvPr id="20" name="Text 18"/>
          <p:cNvSpPr txBox="1"/>
          <p:nvPr/>
        </p:nvSpPr>
        <p:spPr>
          <a:xfrm>
            <a:off x="4902190" y="3695730"/>
            <a:ext cx="3657600" cy="254020"/>
          </a:xfrm>
          <a:prstGeom prst="rect">
            <a:avLst/>
          </a:prstGeom>
          <a:noFill/>
          <a:ln/>
        </p:spPr>
        <p:txBody>
          <a:bodyPr wrap="square" lIns="0" tIns="0" rIns="0" bIns="0" rtlCol="0" anchor="t"/>
          <a:lstStyle/>
          <a:p>
            <a:pPr marL="0" indent="0" algn="l">
              <a:lnSpc>
                <a:spcPct val="100000"/>
              </a:lnSpc>
              <a:buNone/>
            </a:pPr>
            <a:r>
              <a:rPr lang="en-US" sz="1400" b="1" dirty="0">
                <a:solidFill>
                  <a:srgbClr val="1A2433"/>
                </a:solidFill>
                <a:latin typeface="Calibri" pitchFamily="34" charset="0"/>
                <a:ea typeface="Calibri" pitchFamily="34" charset="-122"/>
                <a:cs typeface="Calibri" pitchFamily="34" charset="-120"/>
              </a:rPr>
              <a:t>Asked for hands-on training</a:t>
            </a:r>
            <a:endParaRPr lang="en-US" sz="1400" dirty="0"/>
          </a:p>
        </p:txBody>
      </p:sp>
      <p:sp>
        <p:nvSpPr>
          <p:cNvPr id="21" name="Text 19"/>
          <p:cNvSpPr txBox="1"/>
          <p:nvPr/>
        </p:nvSpPr>
        <p:spPr>
          <a:xfrm>
            <a:off x="4902190" y="3975080"/>
            <a:ext cx="3657600" cy="749259"/>
          </a:xfrm>
          <a:prstGeom prst="rect">
            <a:avLst/>
          </a:prstGeom>
          <a:noFill/>
          <a:ln/>
        </p:spPr>
        <p:txBody>
          <a:bodyPr wrap="square" lIns="0" tIns="0" rIns="0" bIns="0" rtlCol="0" anchor="t"/>
          <a:lstStyle/>
          <a:p>
            <a:pPr marL="0" indent="0" algn="l">
              <a:lnSpc>
                <a:spcPct val="100000"/>
              </a:lnSpc>
              <a:buNone/>
            </a:pPr>
            <a:r>
              <a:rPr lang="en-US" sz="1100" dirty="0">
                <a:solidFill>
                  <a:srgbClr val="475569"/>
                </a:solidFill>
                <a:latin typeface="Calibri" pitchFamily="34" charset="0"/>
                <a:ea typeface="Calibri" pitchFamily="34" charset="-122"/>
                <a:cs typeface="Calibri" pitchFamily="34" charset="-120"/>
              </a:rPr>
              <a:t>The most-requested support. 247 also asked for how-to guides.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55610" y="177759"/>
            <a:ext cx="8432780" cy="431780"/>
          </a:xfrm>
          <a:prstGeom prst="rect">
            <a:avLst/>
          </a:prstGeom>
          <a:noFill/>
          <a:ln/>
        </p:spPr>
        <p:txBody>
          <a:bodyPr wrap="square" lIns="0" tIns="0" rIns="0" bIns="0" rtlCol="0" anchor="ctr"/>
          <a:lstStyle/>
          <a:p>
            <a:pPr marL="0" indent="0" algn="l">
              <a:lnSpc>
                <a:spcPct val="95000"/>
              </a:lnSpc>
              <a:buNone/>
            </a:pPr>
            <a:r>
              <a:rPr lang="en-US" sz="2100" b="1" dirty="0">
                <a:solidFill>
                  <a:srgbClr val="2D6A4F"/>
                </a:solidFill>
                <a:latin typeface="Calibri" pitchFamily="34" charset="0"/>
                <a:ea typeface="Calibri" pitchFamily="34" charset="-122"/>
                <a:cs typeface="Calibri" pitchFamily="34" charset="-120"/>
              </a:rPr>
              <a:t>About the Survey</a:t>
            </a:r>
            <a:endParaRPr lang="en-US" sz="2100" dirty="0"/>
          </a:p>
        </p:txBody>
      </p:sp>
      <p:sp>
        <p:nvSpPr>
          <p:cNvPr id="3" name="Text 1"/>
          <p:cNvSpPr txBox="1"/>
          <p:nvPr/>
        </p:nvSpPr>
        <p:spPr>
          <a:xfrm>
            <a:off x="355610" y="4940320"/>
            <a:ext cx="5969020" cy="139720"/>
          </a:xfrm>
          <a:prstGeom prst="rect">
            <a:avLst/>
          </a:prstGeom>
          <a:noFill/>
          <a:ln/>
        </p:spPr>
        <p:txBody>
          <a:bodyPr wrap="square" lIns="0" tIns="0" rIns="0" bIns="0" rtlCol="0" anchor="t"/>
          <a:lstStyle/>
          <a:p>
            <a:pPr marL="0" indent="0" algn="l">
              <a:lnSpc>
                <a:spcPct val="100000"/>
              </a:lnSpc>
              <a:buNone/>
            </a:pPr>
            <a:r>
              <a:rPr lang="en-US" sz="750">
                <a:solidFill>
                  <a:srgbClr val="64748B"/>
                </a:solidFill>
                <a:latin typeface="Calibri" pitchFamily="34" charset="0"/>
                <a:ea typeface="Calibri" pitchFamily="34" charset="-122"/>
                <a:cs typeface="Calibri" pitchFamily="34" charset="-120"/>
              </a:rPr>
              <a:t>  CNAIT ·  AI Awareness Survey - Bseline Data </a:t>
            </a:r>
            <a:endParaRPr lang="en-US" sz="750" dirty="0"/>
          </a:p>
        </p:txBody>
      </p:sp>
      <p:sp>
        <p:nvSpPr>
          <p:cNvPr id="4" name="Text 2"/>
          <p:cNvSpPr txBox="1"/>
          <p:nvPr/>
        </p:nvSpPr>
        <p:spPr>
          <a:xfrm>
            <a:off x="6349959" y="4940320"/>
            <a:ext cx="1879641" cy="139720"/>
          </a:xfrm>
          <a:prstGeom prst="rect">
            <a:avLst/>
          </a:prstGeom>
          <a:noFill/>
          <a:ln/>
        </p:spPr>
        <p:txBody>
          <a:bodyPr wrap="square" lIns="0" tIns="0" rIns="0" bIns="0" rtlCol="0" anchor="t"/>
          <a:lstStyle/>
          <a:p>
            <a:pPr marL="0" indent="0" algn="r">
              <a:lnSpc>
                <a:spcPct val="100000"/>
              </a:lnSpc>
              <a:buNone/>
            </a:pPr>
            <a:r>
              <a:rPr lang="en-US" sz="750" b="1">
                <a:solidFill>
                  <a:srgbClr val="B87A1E"/>
                </a:solidFill>
                <a:latin typeface="Calibri" pitchFamily="34" charset="0"/>
                <a:ea typeface="Calibri" pitchFamily="34" charset="-122"/>
                <a:cs typeface="Calibri" pitchFamily="34" charset="-120"/>
              </a:rPr>
              <a:t> </a:t>
            </a:r>
            <a:endParaRPr lang="en-US" sz="750" dirty="0"/>
          </a:p>
        </p:txBody>
      </p:sp>
      <p:sp>
        <p:nvSpPr>
          <p:cNvPr id="5" name="Text 3"/>
          <p:cNvSpPr txBox="1"/>
          <p:nvPr/>
        </p:nvSpPr>
        <p:spPr>
          <a:xfrm>
            <a:off x="8331190" y="4940320"/>
            <a:ext cx="457200" cy="139720"/>
          </a:xfrm>
          <a:prstGeom prst="rect">
            <a:avLst/>
          </a:prstGeom>
          <a:noFill/>
          <a:ln/>
        </p:spPr>
        <p:txBody>
          <a:bodyPr wrap="square" lIns="0" tIns="0" rIns="0" bIns="0" rtlCol="0" anchor="t"/>
          <a:lstStyle/>
          <a:p>
            <a:pPr marL="0" indent="0" algn="r">
              <a:lnSpc>
                <a:spcPct val="100000"/>
              </a:lnSpc>
              <a:buNone/>
            </a:pPr>
            <a:r>
              <a:rPr lang="en-US" sz="750" dirty="0">
                <a:solidFill>
                  <a:srgbClr val="64748B"/>
                </a:solidFill>
                <a:latin typeface="Calibri" pitchFamily="34" charset="0"/>
                <a:ea typeface="Calibri" pitchFamily="34" charset="-122"/>
                <a:cs typeface="Calibri" pitchFamily="34" charset="-120"/>
              </a:rPr>
              <a:t>3</a:t>
            </a:r>
            <a:endParaRPr lang="en-US" sz="750" dirty="0"/>
          </a:p>
        </p:txBody>
      </p:sp>
      <p:sp>
        <p:nvSpPr>
          <p:cNvPr id="6" name="Shape 4"/>
          <p:cNvSpPr/>
          <p:nvPr/>
        </p:nvSpPr>
        <p:spPr>
          <a:xfrm>
            <a:off x="355610" y="990570"/>
            <a:ext cx="2675443" cy="2667030"/>
          </a:xfrm>
          <a:prstGeom prst="roundRect">
            <a:avLst>
              <a:gd name="adj" fmla="val 4762"/>
            </a:avLst>
          </a:prstGeom>
          <a:solidFill>
            <a:srgbClr val="E4E7EC"/>
          </a:solidFill>
          <a:ln/>
        </p:spPr>
        <p:txBody>
          <a:bodyPr/>
          <a:lstStyle/>
          <a:p>
            <a:endParaRPr lang="en-US"/>
          </a:p>
        </p:txBody>
      </p:sp>
      <p:sp>
        <p:nvSpPr>
          <p:cNvPr id="7" name="Text 5"/>
          <p:cNvSpPr txBox="1"/>
          <p:nvPr/>
        </p:nvSpPr>
        <p:spPr>
          <a:xfrm>
            <a:off x="533370" y="1143000"/>
            <a:ext cx="2319833" cy="438180"/>
          </a:xfrm>
          <a:prstGeom prst="rect">
            <a:avLst/>
          </a:prstGeom>
          <a:noFill/>
          <a:ln/>
        </p:spPr>
        <p:txBody>
          <a:bodyPr wrap="square" lIns="0" tIns="0" rIns="0" bIns="0" rtlCol="0" anchor="ctr"/>
          <a:lstStyle/>
          <a:p>
            <a:pPr marL="0" indent="0" algn="ctr">
              <a:lnSpc>
                <a:spcPct val="100000"/>
              </a:lnSpc>
              <a:buNone/>
            </a:pPr>
            <a:r>
              <a:rPr lang="en-US" sz="2650" b="1" dirty="0">
                <a:solidFill>
                  <a:srgbClr val="1E3A5F"/>
                </a:solidFill>
                <a:latin typeface="Calibri" pitchFamily="34" charset="0"/>
                <a:ea typeface="Calibri" pitchFamily="34" charset="-122"/>
                <a:cs typeface="Calibri" pitchFamily="34" charset="-120"/>
              </a:rPr>
              <a:t>491</a:t>
            </a:r>
            <a:endParaRPr lang="en-US" sz="2650" dirty="0"/>
          </a:p>
        </p:txBody>
      </p:sp>
      <p:sp>
        <p:nvSpPr>
          <p:cNvPr id="8" name="Text 6"/>
          <p:cNvSpPr txBox="1"/>
          <p:nvPr/>
        </p:nvSpPr>
        <p:spPr>
          <a:xfrm>
            <a:off x="533370" y="1631930"/>
            <a:ext cx="2319833" cy="381030"/>
          </a:xfrm>
          <a:prstGeom prst="rect">
            <a:avLst/>
          </a:prstGeom>
          <a:noFill/>
          <a:ln/>
        </p:spPr>
        <p:txBody>
          <a:bodyPr wrap="square" lIns="0" tIns="0" rIns="0" bIns="0" rtlCol="0" anchor="t"/>
          <a:lstStyle/>
          <a:p>
            <a:pPr marL="0" indent="0" algn="ctr">
              <a:lnSpc>
                <a:spcPct val="100000"/>
              </a:lnSpc>
              <a:buNone/>
            </a:pPr>
            <a:r>
              <a:rPr lang="en-US" sz="1150" b="1" dirty="0">
                <a:solidFill>
                  <a:srgbClr val="1A2433"/>
                </a:solidFill>
                <a:latin typeface="Calibri" pitchFamily="34" charset="0"/>
                <a:ea typeface="Calibri" pitchFamily="34" charset="-122"/>
                <a:cs typeface="Calibri" pitchFamily="34" charset="-120"/>
              </a:rPr>
              <a:t>Responses</a:t>
            </a:r>
            <a:endParaRPr lang="en-US" sz="1150" dirty="0"/>
          </a:p>
        </p:txBody>
      </p:sp>
      <p:sp>
        <p:nvSpPr>
          <p:cNvPr id="9" name="Text 7"/>
          <p:cNvSpPr txBox="1"/>
          <p:nvPr/>
        </p:nvSpPr>
        <p:spPr>
          <a:xfrm>
            <a:off x="533370" y="2038380"/>
            <a:ext cx="2319833" cy="1492209"/>
          </a:xfrm>
          <a:prstGeom prst="rect">
            <a:avLst/>
          </a:prstGeom>
          <a:noFill/>
          <a:ln/>
        </p:spPr>
        <p:txBody>
          <a:bodyPr wrap="square" lIns="0" tIns="0" rIns="0" bIns="0" rtlCol="0" anchor="t"/>
          <a:lstStyle/>
          <a:p>
            <a:pPr marL="0" indent="0" algn="ctr">
              <a:lnSpc>
                <a:spcPct val="100000"/>
              </a:lnSpc>
              <a:buNone/>
            </a:pPr>
            <a:r>
              <a:rPr lang="en-US" sz="950" dirty="0">
                <a:solidFill>
                  <a:srgbClr val="475569"/>
                </a:solidFill>
                <a:latin typeface="Calibri" pitchFamily="34" charset="0"/>
                <a:ea typeface="Calibri" pitchFamily="34" charset="-122"/>
                <a:cs typeface="Calibri" pitchFamily="34" charset="-120"/>
              </a:rPr>
              <a:t>From 20 agencies and offices. Thank you to everyone who took the time to answer.</a:t>
            </a:r>
            <a:endParaRPr lang="en-US" sz="950" dirty="0"/>
          </a:p>
        </p:txBody>
      </p:sp>
      <p:sp>
        <p:nvSpPr>
          <p:cNvPr id="10" name="Shape 8"/>
          <p:cNvSpPr/>
          <p:nvPr/>
        </p:nvSpPr>
        <p:spPr>
          <a:xfrm>
            <a:off x="3234233" y="990570"/>
            <a:ext cx="2675443" cy="2667030"/>
          </a:xfrm>
          <a:prstGeom prst="roundRect">
            <a:avLst>
              <a:gd name="adj" fmla="val 4762"/>
            </a:avLst>
          </a:prstGeom>
          <a:solidFill>
            <a:srgbClr val="E6EDEA"/>
          </a:solidFill>
          <a:ln/>
        </p:spPr>
        <p:txBody>
          <a:bodyPr/>
          <a:lstStyle/>
          <a:p>
            <a:endParaRPr lang="en-US"/>
          </a:p>
        </p:txBody>
      </p:sp>
      <p:sp>
        <p:nvSpPr>
          <p:cNvPr id="11" name="Text 9"/>
          <p:cNvSpPr txBox="1"/>
          <p:nvPr/>
        </p:nvSpPr>
        <p:spPr>
          <a:xfrm>
            <a:off x="3412084" y="1143000"/>
            <a:ext cx="2319833" cy="438180"/>
          </a:xfrm>
          <a:prstGeom prst="rect">
            <a:avLst/>
          </a:prstGeom>
          <a:noFill/>
          <a:ln/>
        </p:spPr>
        <p:txBody>
          <a:bodyPr wrap="square" lIns="0" tIns="0" rIns="0" bIns="0" rtlCol="0" anchor="ctr"/>
          <a:lstStyle/>
          <a:p>
            <a:pPr marL="0" indent="0" algn="ctr">
              <a:lnSpc>
                <a:spcPct val="100000"/>
              </a:lnSpc>
              <a:buNone/>
            </a:pPr>
            <a:r>
              <a:rPr lang="en-US" sz="2650" b="1" dirty="0">
                <a:solidFill>
                  <a:srgbClr val="2D6A4F"/>
                </a:solidFill>
                <a:latin typeface="Calibri" pitchFamily="34" charset="0"/>
                <a:ea typeface="Calibri" pitchFamily="34" charset="-122"/>
                <a:cs typeface="Calibri" pitchFamily="34" charset="-120"/>
              </a:rPr>
              <a:t>111 days</a:t>
            </a:r>
            <a:endParaRPr lang="en-US" sz="2650" dirty="0"/>
          </a:p>
        </p:txBody>
      </p:sp>
      <p:sp>
        <p:nvSpPr>
          <p:cNvPr id="12" name="Text 10"/>
          <p:cNvSpPr txBox="1"/>
          <p:nvPr/>
        </p:nvSpPr>
        <p:spPr>
          <a:xfrm>
            <a:off x="3412084" y="1631930"/>
            <a:ext cx="2319833" cy="381030"/>
          </a:xfrm>
          <a:prstGeom prst="rect">
            <a:avLst/>
          </a:prstGeom>
          <a:noFill/>
          <a:ln/>
        </p:spPr>
        <p:txBody>
          <a:bodyPr wrap="square" lIns="0" tIns="0" rIns="0" bIns="0" rtlCol="0" anchor="t"/>
          <a:lstStyle/>
          <a:p>
            <a:pPr marL="0" indent="0" algn="ctr">
              <a:lnSpc>
                <a:spcPct val="100000"/>
              </a:lnSpc>
              <a:buNone/>
            </a:pPr>
            <a:r>
              <a:rPr lang="en-US" sz="1150" b="1" dirty="0">
                <a:solidFill>
                  <a:srgbClr val="1A2433"/>
                </a:solidFill>
                <a:latin typeface="Calibri" pitchFamily="34" charset="0"/>
                <a:ea typeface="Calibri" pitchFamily="34" charset="-122"/>
                <a:cs typeface="Calibri" pitchFamily="34" charset="-120"/>
              </a:rPr>
              <a:t>Survey Window</a:t>
            </a:r>
            <a:endParaRPr lang="en-US" sz="1150" dirty="0"/>
          </a:p>
        </p:txBody>
      </p:sp>
      <p:sp>
        <p:nvSpPr>
          <p:cNvPr id="13" name="Text 11"/>
          <p:cNvSpPr txBox="1"/>
          <p:nvPr/>
        </p:nvSpPr>
        <p:spPr>
          <a:xfrm>
            <a:off x="3412084" y="2038380"/>
            <a:ext cx="2319833" cy="1492209"/>
          </a:xfrm>
          <a:prstGeom prst="rect">
            <a:avLst/>
          </a:prstGeom>
          <a:noFill/>
          <a:ln/>
        </p:spPr>
        <p:txBody>
          <a:bodyPr wrap="square" lIns="0" tIns="0" rIns="0" bIns="0" rtlCol="0" anchor="t"/>
          <a:lstStyle/>
          <a:p>
            <a:pPr marL="0" indent="0" algn="ctr">
              <a:lnSpc>
                <a:spcPct val="100000"/>
              </a:lnSpc>
              <a:buNone/>
            </a:pPr>
            <a:r>
              <a:rPr lang="en-US" sz="950" dirty="0">
                <a:solidFill>
                  <a:srgbClr val="475569"/>
                </a:solidFill>
                <a:latin typeface="Calibri" pitchFamily="34" charset="0"/>
                <a:ea typeface="Calibri" pitchFamily="34" charset="-122"/>
                <a:cs typeface="Calibri" pitchFamily="34" charset="-120"/>
              </a:rPr>
              <a:t>May 14 – Sep 1, 2026. Survey [#] of our bi-annual series — the benchmark we track to measure program impact.</a:t>
            </a:r>
            <a:endParaRPr lang="en-US" sz="950" dirty="0"/>
          </a:p>
        </p:txBody>
      </p:sp>
      <p:sp>
        <p:nvSpPr>
          <p:cNvPr id="14" name="Shape 12"/>
          <p:cNvSpPr/>
          <p:nvPr/>
        </p:nvSpPr>
        <p:spPr>
          <a:xfrm>
            <a:off x="6112947" y="990570"/>
            <a:ext cx="2675443" cy="2667030"/>
          </a:xfrm>
          <a:prstGeom prst="roundRect">
            <a:avLst>
              <a:gd name="adj" fmla="val 4762"/>
            </a:avLst>
          </a:prstGeom>
          <a:solidFill>
            <a:srgbClr val="F6EFE4"/>
          </a:solidFill>
          <a:ln/>
        </p:spPr>
        <p:txBody>
          <a:bodyPr/>
          <a:lstStyle/>
          <a:p>
            <a:endParaRPr lang="en-US"/>
          </a:p>
        </p:txBody>
      </p:sp>
      <p:sp>
        <p:nvSpPr>
          <p:cNvPr id="15" name="Text 13"/>
          <p:cNvSpPr txBox="1"/>
          <p:nvPr/>
        </p:nvSpPr>
        <p:spPr>
          <a:xfrm>
            <a:off x="6290706" y="1143000"/>
            <a:ext cx="2319833" cy="438180"/>
          </a:xfrm>
          <a:prstGeom prst="rect">
            <a:avLst/>
          </a:prstGeom>
          <a:noFill/>
          <a:ln/>
        </p:spPr>
        <p:txBody>
          <a:bodyPr wrap="square" lIns="0" tIns="0" rIns="0" bIns="0" rtlCol="0" anchor="ctr"/>
          <a:lstStyle/>
          <a:p>
            <a:pPr marL="0" indent="0" algn="ctr">
              <a:lnSpc>
                <a:spcPct val="100000"/>
              </a:lnSpc>
              <a:buNone/>
            </a:pPr>
            <a:r>
              <a:rPr lang="en-US" sz="1800" b="1" dirty="0">
                <a:solidFill>
                  <a:srgbClr val="B87A1E"/>
                </a:solidFill>
                <a:latin typeface="Calibri" pitchFamily="34" charset="0"/>
                <a:ea typeface="Calibri" pitchFamily="34" charset="-122"/>
                <a:cs typeface="Calibri" pitchFamily="34" charset="-120"/>
              </a:rPr>
              <a:t>Rural Development Housing Service (RD-RHS)</a:t>
            </a:r>
            <a:endParaRPr lang="en-US" sz="1800" dirty="0"/>
          </a:p>
        </p:txBody>
      </p:sp>
      <p:sp>
        <p:nvSpPr>
          <p:cNvPr id="16" name="Text 14"/>
          <p:cNvSpPr txBox="1"/>
          <p:nvPr/>
        </p:nvSpPr>
        <p:spPr>
          <a:xfrm>
            <a:off x="6290706" y="1631930"/>
            <a:ext cx="2319833" cy="381030"/>
          </a:xfrm>
          <a:prstGeom prst="rect">
            <a:avLst/>
          </a:prstGeom>
          <a:noFill/>
          <a:ln/>
        </p:spPr>
        <p:txBody>
          <a:bodyPr wrap="square" lIns="0" tIns="0" rIns="0" bIns="0" rtlCol="0" anchor="t"/>
          <a:lstStyle/>
          <a:p>
            <a:pPr marL="0" indent="0" algn="ctr">
              <a:lnSpc>
                <a:spcPct val="100000"/>
              </a:lnSpc>
              <a:buNone/>
            </a:pPr>
            <a:r>
              <a:rPr lang="en-US" sz="1150" b="1" dirty="0">
                <a:solidFill>
                  <a:srgbClr val="1A2433"/>
                </a:solidFill>
                <a:latin typeface="Calibri" pitchFamily="34" charset="0"/>
                <a:ea typeface="Calibri" pitchFamily="34" charset="-122"/>
                <a:cs typeface="Calibri" pitchFamily="34" charset="-120"/>
              </a:rPr>
              <a:t>Top Responding Agency</a:t>
            </a:r>
            <a:endParaRPr lang="en-US" sz="1150" dirty="0"/>
          </a:p>
        </p:txBody>
      </p:sp>
      <p:sp>
        <p:nvSpPr>
          <p:cNvPr id="17" name="Text 15"/>
          <p:cNvSpPr txBox="1"/>
          <p:nvPr/>
        </p:nvSpPr>
        <p:spPr>
          <a:xfrm>
            <a:off x="6290706" y="2038380"/>
            <a:ext cx="2319833" cy="1492209"/>
          </a:xfrm>
          <a:prstGeom prst="rect">
            <a:avLst/>
          </a:prstGeom>
          <a:noFill/>
          <a:ln/>
        </p:spPr>
        <p:txBody>
          <a:bodyPr wrap="square" lIns="0" tIns="0" rIns="0" bIns="0" rtlCol="0" anchor="t"/>
          <a:lstStyle/>
          <a:p>
            <a:pPr marL="0" indent="0" algn="ctr">
              <a:lnSpc>
                <a:spcPct val="100000"/>
              </a:lnSpc>
              <a:buNone/>
            </a:pPr>
            <a:r>
              <a:rPr lang="en-US" sz="950" dirty="0">
                <a:solidFill>
                  <a:srgbClr val="475569"/>
                </a:solidFill>
                <a:latin typeface="Calibri" pitchFamily="34" charset="0"/>
                <a:ea typeface="Calibri" pitchFamily="34" charset="-122"/>
                <a:cs typeface="Calibri" pitchFamily="34" charset="-120"/>
              </a:rPr>
              <a:t>82 responses. Thank you also to Farm Service Agency (FSA) (76), Rural Development (RD) (67), Forest Service (FS) (57).</a:t>
            </a:r>
            <a:endParaRPr lang="en-US" sz="950" dirty="0"/>
          </a:p>
        </p:txBody>
      </p:sp>
      <p:sp>
        <p:nvSpPr>
          <p:cNvPr id="18" name="Shape 16"/>
          <p:cNvSpPr/>
          <p:nvPr/>
        </p:nvSpPr>
        <p:spPr>
          <a:xfrm>
            <a:off x="355610" y="4444990"/>
            <a:ext cx="8432780" cy="381030"/>
          </a:xfrm>
          <a:prstGeom prst="roundRect">
            <a:avLst>
              <a:gd name="adj" fmla="val 26662"/>
            </a:avLst>
          </a:prstGeom>
          <a:solidFill>
            <a:srgbClr val="E9EBEF"/>
          </a:solidFill>
          <a:ln/>
        </p:spPr>
        <p:txBody>
          <a:bodyPr/>
          <a:lstStyle/>
          <a:p>
            <a:endParaRPr lang="en-US"/>
          </a:p>
        </p:txBody>
      </p:sp>
      <p:sp>
        <p:nvSpPr>
          <p:cNvPr id="19" name="Text 17"/>
          <p:cNvSpPr txBox="1"/>
          <p:nvPr/>
        </p:nvSpPr>
        <p:spPr>
          <a:xfrm>
            <a:off x="533370" y="4444990"/>
            <a:ext cx="8077170" cy="381030"/>
          </a:xfrm>
          <a:prstGeom prst="rect">
            <a:avLst/>
          </a:prstGeom>
          <a:noFill/>
          <a:ln/>
        </p:spPr>
        <p:txBody>
          <a:bodyPr wrap="square" lIns="0" tIns="0" rIns="0" bIns="0" rtlCol="0" anchor="ctr"/>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Every response sharpens the picture — there is still more we can collect.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55610" y="177759"/>
            <a:ext cx="8432780" cy="431780"/>
          </a:xfrm>
          <a:prstGeom prst="rect">
            <a:avLst/>
          </a:prstGeom>
          <a:noFill/>
          <a:ln/>
        </p:spPr>
        <p:txBody>
          <a:bodyPr wrap="square" lIns="0" tIns="0" rIns="0" bIns="0" rtlCol="0" anchor="ctr"/>
          <a:lstStyle/>
          <a:p>
            <a:pPr marL="0" indent="0" algn="l">
              <a:lnSpc>
                <a:spcPct val="95000"/>
              </a:lnSpc>
              <a:buNone/>
            </a:pPr>
            <a:r>
              <a:rPr lang="en-US" sz="2100" b="1" dirty="0">
                <a:solidFill>
                  <a:srgbClr val="1E3A5F"/>
                </a:solidFill>
                <a:latin typeface="Calibri" pitchFamily="34" charset="0"/>
                <a:ea typeface="Calibri" pitchFamily="34" charset="-122"/>
                <a:cs typeface="Calibri" pitchFamily="34" charset="-120"/>
              </a:rPr>
              <a:t>Baseline Ratings: Where We Start</a:t>
            </a:r>
            <a:endParaRPr lang="en-US" sz="2100" dirty="0"/>
          </a:p>
        </p:txBody>
      </p:sp>
      <p:sp>
        <p:nvSpPr>
          <p:cNvPr id="3" name="Text 1"/>
          <p:cNvSpPr txBox="1"/>
          <p:nvPr/>
        </p:nvSpPr>
        <p:spPr>
          <a:xfrm>
            <a:off x="355610" y="4940320"/>
            <a:ext cx="5969020" cy="139720"/>
          </a:xfrm>
          <a:prstGeom prst="rect">
            <a:avLst/>
          </a:prstGeom>
          <a:noFill/>
          <a:ln/>
        </p:spPr>
        <p:txBody>
          <a:bodyPr wrap="square" lIns="0" tIns="0" rIns="0" bIns="0" rtlCol="0" anchor="t"/>
          <a:lstStyle/>
          <a:p>
            <a:pPr marL="0" indent="0" algn="l">
              <a:lnSpc>
                <a:spcPct val="100000"/>
              </a:lnSpc>
              <a:buNone/>
            </a:pPr>
            <a:r>
              <a:rPr lang="en-US" sz="750">
                <a:solidFill>
                  <a:srgbClr val="64748B"/>
                </a:solidFill>
                <a:latin typeface="Calibri" pitchFamily="34" charset="0"/>
                <a:ea typeface="Calibri" pitchFamily="34" charset="-122"/>
                <a:cs typeface="Calibri" pitchFamily="34" charset="-120"/>
              </a:rPr>
              <a:t>  CNAIT ·  AI Awareness Survey - Bseline Data </a:t>
            </a:r>
            <a:endParaRPr lang="en-US" sz="750" dirty="0"/>
          </a:p>
        </p:txBody>
      </p:sp>
      <p:sp>
        <p:nvSpPr>
          <p:cNvPr id="4" name="Text 2"/>
          <p:cNvSpPr txBox="1"/>
          <p:nvPr/>
        </p:nvSpPr>
        <p:spPr>
          <a:xfrm>
            <a:off x="6349959" y="4940320"/>
            <a:ext cx="1879641" cy="139720"/>
          </a:xfrm>
          <a:prstGeom prst="rect">
            <a:avLst/>
          </a:prstGeom>
          <a:noFill/>
          <a:ln/>
        </p:spPr>
        <p:txBody>
          <a:bodyPr wrap="square" lIns="0" tIns="0" rIns="0" bIns="0" rtlCol="0" anchor="t"/>
          <a:lstStyle/>
          <a:p>
            <a:pPr marL="0" indent="0" algn="r">
              <a:lnSpc>
                <a:spcPct val="100000"/>
              </a:lnSpc>
              <a:buNone/>
            </a:pPr>
            <a:r>
              <a:rPr lang="en-US" sz="750" b="1">
                <a:solidFill>
                  <a:srgbClr val="B87A1E"/>
                </a:solidFill>
                <a:latin typeface="Calibri" pitchFamily="34" charset="0"/>
                <a:ea typeface="Calibri" pitchFamily="34" charset="-122"/>
                <a:cs typeface="Calibri" pitchFamily="34" charset="-120"/>
              </a:rPr>
              <a:t> </a:t>
            </a:r>
            <a:endParaRPr lang="en-US" sz="750" dirty="0"/>
          </a:p>
        </p:txBody>
      </p:sp>
      <p:sp>
        <p:nvSpPr>
          <p:cNvPr id="5" name="Text 3"/>
          <p:cNvSpPr txBox="1"/>
          <p:nvPr/>
        </p:nvSpPr>
        <p:spPr>
          <a:xfrm>
            <a:off x="8331190" y="4940320"/>
            <a:ext cx="457200" cy="139720"/>
          </a:xfrm>
          <a:prstGeom prst="rect">
            <a:avLst/>
          </a:prstGeom>
          <a:noFill/>
          <a:ln/>
        </p:spPr>
        <p:txBody>
          <a:bodyPr wrap="square" lIns="0" tIns="0" rIns="0" bIns="0" rtlCol="0" anchor="t"/>
          <a:lstStyle/>
          <a:p>
            <a:pPr marL="0" indent="0" algn="r">
              <a:lnSpc>
                <a:spcPct val="100000"/>
              </a:lnSpc>
              <a:buNone/>
            </a:pPr>
            <a:r>
              <a:rPr lang="en-US" sz="750" dirty="0">
                <a:solidFill>
                  <a:srgbClr val="64748B"/>
                </a:solidFill>
                <a:latin typeface="Calibri" pitchFamily="34" charset="0"/>
                <a:ea typeface="Calibri" pitchFamily="34" charset="-122"/>
                <a:cs typeface="Calibri" pitchFamily="34" charset="-120"/>
              </a:rPr>
              <a:t>4</a:t>
            </a:r>
            <a:endParaRPr lang="en-US" sz="750" dirty="0"/>
          </a:p>
        </p:txBody>
      </p:sp>
      <p:sp>
        <p:nvSpPr>
          <p:cNvPr id="6" name="Shape 4"/>
          <p:cNvSpPr/>
          <p:nvPr/>
        </p:nvSpPr>
        <p:spPr>
          <a:xfrm>
            <a:off x="355610" y="888980"/>
            <a:ext cx="1564630" cy="3403580"/>
          </a:xfrm>
          <a:prstGeom prst="roundRect">
            <a:avLst>
              <a:gd name="adj" fmla="val 8118"/>
            </a:avLst>
          </a:prstGeom>
          <a:solidFill>
            <a:srgbClr val="EAF0ED"/>
          </a:solidFill>
          <a:ln w="19050">
            <a:solidFill>
              <a:srgbClr val="2D6A4F"/>
            </a:solidFill>
            <a:prstDash val="solid"/>
          </a:ln>
        </p:spPr>
        <p:txBody>
          <a:bodyPr/>
          <a:lstStyle/>
          <a:p>
            <a:endParaRPr lang="en-US"/>
          </a:p>
        </p:txBody>
      </p:sp>
      <p:sp>
        <p:nvSpPr>
          <p:cNvPr id="7" name="Shape 5"/>
          <p:cNvSpPr/>
          <p:nvPr/>
        </p:nvSpPr>
        <p:spPr>
          <a:xfrm>
            <a:off x="642640" y="1015990"/>
            <a:ext cx="990570" cy="203180"/>
          </a:xfrm>
          <a:prstGeom prst="roundRect">
            <a:avLst>
              <a:gd name="adj" fmla="val 50000"/>
            </a:avLst>
          </a:prstGeom>
          <a:solidFill>
            <a:srgbClr val="2D6A4F"/>
          </a:solidFill>
          <a:ln/>
        </p:spPr>
        <p:txBody>
          <a:bodyPr/>
          <a:lstStyle/>
          <a:p>
            <a:endParaRPr lang="en-US"/>
          </a:p>
        </p:txBody>
      </p:sp>
      <p:sp>
        <p:nvSpPr>
          <p:cNvPr id="8" name="Text 6"/>
          <p:cNvSpPr txBox="1"/>
          <p:nvPr/>
        </p:nvSpPr>
        <p:spPr>
          <a:xfrm>
            <a:off x="693390" y="1015990"/>
            <a:ext cx="888980" cy="203180"/>
          </a:xfrm>
          <a:prstGeom prst="rect">
            <a:avLst/>
          </a:prstGeom>
          <a:noFill/>
          <a:ln/>
        </p:spPr>
        <p:txBody>
          <a:bodyPr wrap="square" lIns="0" tIns="0" rIns="0" bIns="0" rtlCol="0" anchor="ctr"/>
          <a:lstStyle/>
          <a:p>
            <a:pPr marL="0" indent="0" algn="ctr">
              <a:lnSpc>
                <a:spcPct val="100000"/>
              </a:lnSpc>
              <a:buNone/>
            </a:pPr>
            <a:r>
              <a:rPr lang="en-US" sz="750" b="1" dirty="0">
                <a:solidFill>
                  <a:srgbClr val="FFFFFF"/>
                </a:solidFill>
                <a:latin typeface="Calibri" pitchFamily="34" charset="0"/>
                <a:ea typeface="Calibri" pitchFamily="34" charset="-122"/>
                <a:cs typeface="Calibri" pitchFamily="34" charset="-120"/>
              </a:rPr>
              <a:t>▲ HIGHEST</a:t>
            </a:r>
            <a:endParaRPr lang="en-US" sz="750" dirty="0"/>
          </a:p>
        </p:txBody>
      </p:sp>
      <p:sp>
        <p:nvSpPr>
          <p:cNvPr id="9" name="Text 7"/>
          <p:cNvSpPr txBox="1"/>
          <p:nvPr/>
        </p:nvSpPr>
        <p:spPr>
          <a:xfrm>
            <a:off x="431780" y="1295430"/>
            <a:ext cx="1412199" cy="584210"/>
          </a:xfrm>
          <a:prstGeom prst="rect">
            <a:avLst/>
          </a:prstGeom>
          <a:noFill/>
          <a:ln/>
        </p:spPr>
        <p:txBody>
          <a:bodyPr wrap="square" lIns="0" tIns="0" rIns="0" bIns="0" rtlCol="0" anchor="ctr"/>
          <a:lstStyle/>
          <a:p>
            <a:pPr marL="0" indent="0" algn="ctr">
              <a:lnSpc>
                <a:spcPct val="100000"/>
              </a:lnSpc>
              <a:buNone/>
            </a:pPr>
            <a:r>
              <a:rPr lang="en-US" sz="3400" b="1" dirty="0">
                <a:solidFill>
                  <a:srgbClr val="2D6A4F"/>
                </a:solidFill>
                <a:latin typeface="Calibri" pitchFamily="34" charset="0"/>
                <a:ea typeface="Calibri" pitchFamily="34" charset="-122"/>
                <a:cs typeface="Calibri" pitchFamily="34" charset="-120"/>
              </a:rPr>
              <a:t>3.24</a:t>
            </a:r>
            <a:endParaRPr lang="en-US" sz="3400" dirty="0"/>
          </a:p>
        </p:txBody>
      </p:sp>
      <p:sp>
        <p:nvSpPr>
          <p:cNvPr id="10" name="Text 8"/>
          <p:cNvSpPr txBox="1"/>
          <p:nvPr/>
        </p:nvSpPr>
        <p:spPr>
          <a:xfrm>
            <a:off x="431780" y="1879641"/>
            <a:ext cx="1412199" cy="177759"/>
          </a:xfrm>
          <a:prstGeom prst="rect">
            <a:avLst/>
          </a:prstGeom>
          <a:noFill/>
          <a:ln/>
        </p:spPr>
        <p:txBody>
          <a:bodyPr wrap="square" lIns="0" tIns="0" rIns="0" bIns="0" rtlCol="0" anchor="t"/>
          <a:lstStyle/>
          <a:p>
            <a:pPr marL="0" indent="0" algn="ctr">
              <a:lnSpc>
                <a:spcPct val="100000"/>
              </a:lnSpc>
              <a:buNone/>
            </a:pPr>
            <a:r>
              <a:rPr lang="en-US" sz="1100" dirty="0">
                <a:solidFill>
                  <a:srgbClr val="475569"/>
                </a:solidFill>
                <a:latin typeface="Calibri" pitchFamily="34" charset="0"/>
                <a:ea typeface="Calibri" pitchFamily="34" charset="-122"/>
                <a:cs typeface="Calibri" pitchFamily="34" charset="-120"/>
              </a:rPr>
              <a:t>/ 5</a:t>
            </a:r>
            <a:endParaRPr lang="en-US" sz="1100" dirty="0"/>
          </a:p>
        </p:txBody>
      </p:sp>
      <p:sp>
        <p:nvSpPr>
          <p:cNvPr id="11" name="Text 9"/>
          <p:cNvSpPr txBox="1"/>
          <p:nvPr/>
        </p:nvSpPr>
        <p:spPr>
          <a:xfrm>
            <a:off x="482620" y="2158990"/>
            <a:ext cx="1310610" cy="431780"/>
          </a:xfrm>
          <a:prstGeom prst="rect">
            <a:avLst/>
          </a:prstGeom>
          <a:noFill/>
          <a:ln/>
        </p:spPr>
        <p:txBody>
          <a:bodyPr wrap="square" lIns="0" tIns="0" rIns="0" bIns="0" rtlCol="0" anchor="t"/>
          <a:lstStyle/>
          <a:p>
            <a:pPr marL="0" indent="0" algn="ctr">
              <a:lnSpc>
                <a:spcPct val="100000"/>
              </a:lnSpc>
              <a:buNone/>
            </a:pPr>
            <a:r>
              <a:rPr lang="en-US" sz="1150" b="1" dirty="0">
                <a:solidFill>
                  <a:srgbClr val="1A2433"/>
                </a:solidFill>
                <a:latin typeface="Calibri" pitchFamily="34" charset="0"/>
                <a:ea typeface="Calibri" pitchFamily="34" charset="-122"/>
                <a:cs typeface="Calibri" pitchFamily="34" charset="-120"/>
              </a:rPr>
              <a:t>Likelihood to Increase AI Use</a:t>
            </a:r>
            <a:endParaRPr lang="en-US" sz="1150" dirty="0"/>
          </a:p>
        </p:txBody>
      </p:sp>
      <p:sp>
        <p:nvSpPr>
          <p:cNvPr id="12" name="Shape 10"/>
          <p:cNvSpPr/>
          <p:nvPr/>
        </p:nvSpPr>
        <p:spPr>
          <a:xfrm>
            <a:off x="584210" y="2667030"/>
            <a:ext cx="1107430" cy="0"/>
          </a:xfrm>
          <a:prstGeom prst="line">
            <a:avLst/>
          </a:prstGeom>
          <a:noFill/>
          <a:ln w="9525">
            <a:solidFill>
              <a:srgbClr val="ABC3B9"/>
            </a:solidFill>
            <a:prstDash val="solid"/>
          </a:ln>
        </p:spPr>
        <p:txBody>
          <a:bodyPr/>
          <a:lstStyle/>
          <a:p>
            <a:endParaRPr lang="en-US"/>
          </a:p>
        </p:txBody>
      </p:sp>
      <p:sp>
        <p:nvSpPr>
          <p:cNvPr id="13" name="Text 11"/>
          <p:cNvSpPr txBox="1"/>
          <p:nvPr/>
        </p:nvSpPr>
        <p:spPr>
          <a:xfrm>
            <a:off x="482620" y="2794041"/>
            <a:ext cx="1310610" cy="1397020"/>
          </a:xfrm>
          <a:prstGeom prst="rect">
            <a:avLst/>
          </a:prstGeom>
          <a:noFill/>
          <a:ln/>
        </p:spPr>
        <p:txBody>
          <a:bodyPr wrap="square" lIns="0" tIns="0" rIns="0" bIns="0" rtlCol="0" anchor="t"/>
          <a:lstStyle/>
          <a:p>
            <a:pPr marL="0" indent="0" algn="ctr">
              <a:lnSpc>
                <a:spcPct val="100000"/>
              </a:lnSpc>
              <a:buNone/>
            </a:pPr>
            <a:r>
              <a:rPr lang="en-US" sz="1050" dirty="0">
                <a:solidFill>
                  <a:srgbClr val="475569"/>
                </a:solidFill>
                <a:latin typeface="Calibri" pitchFamily="34" charset="0"/>
                <a:ea typeface="Calibri" pitchFamily="34" charset="-122"/>
                <a:cs typeface="Calibri" pitchFamily="34" charset="-120"/>
              </a:rPr>
              <a:t>Mixed. People want more. Meet that interest with practical, hands-on help.</a:t>
            </a:r>
            <a:endParaRPr lang="en-US" sz="1050" dirty="0"/>
          </a:p>
        </p:txBody>
      </p:sp>
      <p:sp>
        <p:nvSpPr>
          <p:cNvPr id="14" name="Shape 12"/>
          <p:cNvSpPr/>
          <p:nvPr/>
        </p:nvSpPr>
        <p:spPr>
          <a:xfrm>
            <a:off x="2072670" y="888980"/>
            <a:ext cx="1564630" cy="3403580"/>
          </a:xfrm>
          <a:prstGeom prst="roundRect">
            <a:avLst>
              <a:gd name="adj" fmla="val 8118"/>
            </a:avLst>
          </a:prstGeom>
          <a:solidFill>
            <a:srgbClr val="DDE1E7"/>
          </a:solidFill>
          <a:ln/>
        </p:spPr>
        <p:txBody>
          <a:bodyPr/>
          <a:lstStyle/>
          <a:p>
            <a:endParaRPr lang="en-US"/>
          </a:p>
        </p:txBody>
      </p:sp>
      <p:sp>
        <p:nvSpPr>
          <p:cNvPr id="15" name="Text 13"/>
          <p:cNvSpPr txBox="1"/>
          <p:nvPr/>
        </p:nvSpPr>
        <p:spPr>
          <a:xfrm>
            <a:off x="2148840" y="1295430"/>
            <a:ext cx="1412199" cy="584210"/>
          </a:xfrm>
          <a:prstGeom prst="rect">
            <a:avLst/>
          </a:prstGeom>
          <a:noFill/>
          <a:ln/>
        </p:spPr>
        <p:txBody>
          <a:bodyPr wrap="square" lIns="0" tIns="0" rIns="0" bIns="0" rtlCol="0" anchor="ctr"/>
          <a:lstStyle/>
          <a:p>
            <a:pPr marL="0" indent="0" algn="ctr">
              <a:lnSpc>
                <a:spcPct val="100000"/>
              </a:lnSpc>
              <a:buNone/>
            </a:pPr>
            <a:r>
              <a:rPr lang="en-US" sz="3400" b="1" dirty="0">
                <a:solidFill>
                  <a:srgbClr val="1D3554"/>
                </a:solidFill>
                <a:latin typeface="Calibri" pitchFamily="34" charset="0"/>
                <a:ea typeface="Calibri" pitchFamily="34" charset="-122"/>
                <a:cs typeface="Calibri" pitchFamily="34" charset="-120"/>
              </a:rPr>
              <a:t>3.06</a:t>
            </a:r>
            <a:endParaRPr lang="en-US" sz="3400" dirty="0"/>
          </a:p>
        </p:txBody>
      </p:sp>
      <p:sp>
        <p:nvSpPr>
          <p:cNvPr id="16" name="Text 14"/>
          <p:cNvSpPr txBox="1"/>
          <p:nvPr/>
        </p:nvSpPr>
        <p:spPr>
          <a:xfrm>
            <a:off x="2148840" y="1879641"/>
            <a:ext cx="1412199" cy="177759"/>
          </a:xfrm>
          <a:prstGeom prst="rect">
            <a:avLst/>
          </a:prstGeom>
          <a:noFill/>
          <a:ln/>
        </p:spPr>
        <p:txBody>
          <a:bodyPr wrap="square" lIns="0" tIns="0" rIns="0" bIns="0" rtlCol="0" anchor="t"/>
          <a:lstStyle/>
          <a:p>
            <a:pPr marL="0" indent="0" algn="ctr">
              <a:lnSpc>
                <a:spcPct val="100000"/>
              </a:lnSpc>
              <a:buNone/>
            </a:pPr>
            <a:r>
              <a:rPr lang="en-US" sz="1100" dirty="0">
                <a:solidFill>
                  <a:srgbClr val="475569"/>
                </a:solidFill>
                <a:latin typeface="Calibri" pitchFamily="34" charset="0"/>
                <a:ea typeface="Calibri" pitchFamily="34" charset="-122"/>
                <a:cs typeface="Calibri" pitchFamily="34" charset="-120"/>
              </a:rPr>
              <a:t>/ 5</a:t>
            </a:r>
            <a:endParaRPr lang="en-US" sz="1100" dirty="0"/>
          </a:p>
        </p:txBody>
      </p:sp>
      <p:sp>
        <p:nvSpPr>
          <p:cNvPr id="17" name="Text 15"/>
          <p:cNvSpPr txBox="1"/>
          <p:nvPr/>
        </p:nvSpPr>
        <p:spPr>
          <a:xfrm>
            <a:off x="2199681" y="2158990"/>
            <a:ext cx="1310610" cy="431780"/>
          </a:xfrm>
          <a:prstGeom prst="rect">
            <a:avLst/>
          </a:prstGeom>
          <a:noFill/>
          <a:ln/>
        </p:spPr>
        <p:txBody>
          <a:bodyPr wrap="square" lIns="0" tIns="0" rIns="0" bIns="0" rtlCol="0" anchor="t"/>
          <a:lstStyle/>
          <a:p>
            <a:pPr marL="0" indent="0" algn="ctr">
              <a:lnSpc>
                <a:spcPct val="100000"/>
              </a:lnSpc>
              <a:buNone/>
            </a:pPr>
            <a:r>
              <a:rPr lang="en-US" sz="1150" b="1" dirty="0">
                <a:solidFill>
                  <a:srgbClr val="1A2433"/>
                </a:solidFill>
                <a:latin typeface="Calibri" pitchFamily="34" charset="0"/>
                <a:ea typeface="Calibri" pitchFamily="34" charset="-122"/>
                <a:cs typeface="Calibri" pitchFamily="34" charset="-120"/>
              </a:rPr>
              <a:t>Understands Basic Guidelines</a:t>
            </a:r>
            <a:endParaRPr lang="en-US" sz="1150" dirty="0"/>
          </a:p>
        </p:txBody>
      </p:sp>
      <p:sp>
        <p:nvSpPr>
          <p:cNvPr id="18" name="Shape 16"/>
          <p:cNvSpPr/>
          <p:nvPr/>
        </p:nvSpPr>
        <p:spPr>
          <a:xfrm>
            <a:off x="2301270" y="2667030"/>
            <a:ext cx="1107430" cy="0"/>
          </a:xfrm>
          <a:prstGeom prst="line">
            <a:avLst/>
          </a:prstGeom>
          <a:noFill/>
          <a:ln w="9525">
            <a:solidFill>
              <a:srgbClr val="E2E8F0"/>
            </a:solidFill>
            <a:prstDash val="solid"/>
          </a:ln>
        </p:spPr>
        <p:txBody>
          <a:bodyPr/>
          <a:lstStyle/>
          <a:p>
            <a:endParaRPr lang="en-US"/>
          </a:p>
        </p:txBody>
      </p:sp>
      <p:sp>
        <p:nvSpPr>
          <p:cNvPr id="19" name="Text 17"/>
          <p:cNvSpPr txBox="1"/>
          <p:nvPr/>
        </p:nvSpPr>
        <p:spPr>
          <a:xfrm>
            <a:off x="2199681" y="2794041"/>
            <a:ext cx="1310610" cy="1397020"/>
          </a:xfrm>
          <a:prstGeom prst="rect">
            <a:avLst/>
          </a:prstGeom>
          <a:noFill/>
          <a:ln/>
        </p:spPr>
        <p:txBody>
          <a:bodyPr wrap="square" lIns="0" tIns="0" rIns="0" bIns="0" rtlCol="0" anchor="t"/>
          <a:lstStyle/>
          <a:p>
            <a:pPr marL="0" indent="0" algn="ctr">
              <a:lnSpc>
                <a:spcPct val="100000"/>
              </a:lnSpc>
              <a:buNone/>
            </a:pPr>
            <a:r>
              <a:rPr lang="en-US" sz="1050" dirty="0">
                <a:solidFill>
                  <a:srgbClr val="475569"/>
                </a:solidFill>
                <a:latin typeface="Calibri" pitchFamily="34" charset="0"/>
                <a:ea typeface="Calibri" pitchFamily="34" charset="-122"/>
                <a:cs typeface="Calibri" pitchFamily="34" charset="-120"/>
              </a:rPr>
              <a:t>Mixed. Plain-language rules — what’s allowed, what isn’t — will move this.</a:t>
            </a:r>
            <a:endParaRPr lang="en-US" sz="1050" dirty="0"/>
          </a:p>
        </p:txBody>
      </p:sp>
      <p:sp>
        <p:nvSpPr>
          <p:cNvPr id="20" name="Shape 18"/>
          <p:cNvSpPr/>
          <p:nvPr/>
        </p:nvSpPr>
        <p:spPr>
          <a:xfrm>
            <a:off x="3789639" y="888980"/>
            <a:ext cx="1564630" cy="3403580"/>
          </a:xfrm>
          <a:prstGeom prst="roundRect">
            <a:avLst>
              <a:gd name="adj" fmla="val 8118"/>
            </a:avLst>
          </a:prstGeom>
          <a:solidFill>
            <a:srgbClr val="E5E8ED"/>
          </a:solidFill>
          <a:ln/>
        </p:spPr>
        <p:txBody>
          <a:bodyPr/>
          <a:lstStyle/>
          <a:p>
            <a:endParaRPr lang="en-US"/>
          </a:p>
        </p:txBody>
      </p:sp>
      <p:sp>
        <p:nvSpPr>
          <p:cNvPr id="21" name="Text 19"/>
          <p:cNvSpPr txBox="1"/>
          <p:nvPr/>
        </p:nvSpPr>
        <p:spPr>
          <a:xfrm>
            <a:off x="3865900" y="1295430"/>
            <a:ext cx="1412199" cy="584210"/>
          </a:xfrm>
          <a:prstGeom prst="rect">
            <a:avLst/>
          </a:prstGeom>
          <a:noFill/>
          <a:ln/>
        </p:spPr>
        <p:txBody>
          <a:bodyPr wrap="square" lIns="0" tIns="0" rIns="0" bIns="0" rtlCol="0" anchor="ctr"/>
          <a:lstStyle/>
          <a:p>
            <a:pPr marL="0" indent="0" algn="ctr">
              <a:lnSpc>
                <a:spcPct val="100000"/>
              </a:lnSpc>
              <a:buNone/>
            </a:pPr>
            <a:r>
              <a:rPr lang="en-US" sz="3400" b="1" dirty="0">
                <a:solidFill>
                  <a:srgbClr val="435670"/>
                </a:solidFill>
                <a:latin typeface="Calibri" pitchFamily="34" charset="0"/>
                <a:ea typeface="Calibri" pitchFamily="34" charset="-122"/>
                <a:cs typeface="Calibri" pitchFamily="34" charset="-120"/>
              </a:rPr>
              <a:t>2.79</a:t>
            </a:r>
            <a:endParaRPr lang="en-US" sz="3400" dirty="0"/>
          </a:p>
        </p:txBody>
      </p:sp>
      <p:sp>
        <p:nvSpPr>
          <p:cNvPr id="22" name="Text 20"/>
          <p:cNvSpPr txBox="1"/>
          <p:nvPr/>
        </p:nvSpPr>
        <p:spPr>
          <a:xfrm>
            <a:off x="3865900" y="1879641"/>
            <a:ext cx="1412199" cy="177759"/>
          </a:xfrm>
          <a:prstGeom prst="rect">
            <a:avLst/>
          </a:prstGeom>
          <a:noFill/>
          <a:ln/>
        </p:spPr>
        <p:txBody>
          <a:bodyPr wrap="square" lIns="0" tIns="0" rIns="0" bIns="0" rtlCol="0" anchor="t"/>
          <a:lstStyle/>
          <a:p>
            <a:pPr marL="0" indent="0" algn="ctr">
              <a:lnSpc>
                <a:spcPct val="100000"/>
              </a:lnSpc>
              <a:buNone/>
            </a:pPr>
            <a:r>
              <a:rPr lang="en-US" sz="1100" dirty="0">
                <a:solidFill>
                  <a:srgbClr val="475569"/>
                </a:solidFill>
                <a:latin typeface="Calibri" pitchFamily="34" charset="0"/>
                <a:ea typeface="Calibri" pitchFamily="34" charset="-122"/>
                <a:cs typeface="Calibri" pitchFamily="34" charset="-120"/>
              </a:rPr>
              <a:t>/ 5</a:t>
            </a:r>
            <a:endParaRPr lang="en-US" sz="1100" dirty="0"/>
          </a:p>
        </p:txBody>
      </p:sp>
      <p:sp>
        <p:nvSpPr>
          <p:cNvPr id="23" name="Text 21"/>
          <p:cNvSpPr txBox="1"/>
          <p:nvPr/>
        </p:nvSpPr>
        <p:spPr>
          <a:xfrm>
            <a:off x="3916650" y="2158990"/>
            <a:ext cx="1310610" cy="431780"/>
          </a:xfrm>
          <a:prstGeom prst="rect">
            <a:avLst/>
          </a:prstGeom>
          <a:noFill/>
          <a:ln/>
        </p:spPr>
        <p:txBody>
          <a:bodyPr wrap="square" lIns="0" tIns="0" rIns="0" bIns="0" rtlCol="0" anchor="t"/>
          <a:lstStyle/>
          <a:p>
            <a:pPr marL="0" indent="0" algn="ctr">
              <a:lnSpc>
                <a:spcPct val="100000"/>
              </a:lnSpc>
              <a:buNone/>
            </a:pPr>
            <a:r>
              <a:rPr lang="en-US" sz="1150" b="1" dirty="0">
                <a:solidFill>
                  <a:srgbClr val="1A2433"/>
                </a:solidFill>
                <a:latin typeface="Calibri" pitchFamily="34" charset="0"/>
                <a:ea typeface="Calibri" pitchFamily="34" charset="-122"/>
                <a:cs typeface="Calibri" pitchFamily="34" charset="-120"/>
              </a:rPr>
              <a:t>Understands What AI Can &amp; Can’t Do</a:t>
            </a:r>
            <a:endParaRPr lang="en-US" sz="1150" dirty="0"/>
          </a:p>
        </p:txBody>
      </p:sp>
      <p:sp>
        <p:nvSpPr>
          <p:cNvPr id="24" name="Shape 22"/>
          <p:cNvSpPr/>
          <p:nvPr/>
        </p:nvSpPr>
        <p:spPr>
          <a:xfrm>
            <a:off x="4018239" y="2667030"/>
            <a:ext cx="1107430" cy="0"/>
          </a:xfrm>
          <a:prstGeom prst="line">
            <a:avLst/>
          </a:prstGeom>
          <a:noFill/>
          <a:ln w="9525">
            <a:solidFill>
              <a:srgbClr val="E2E8F0"/>
            </a:solidFill>
            <a:prstDash val="solid"/>
          </a:ln>
        </p:spPr>
        <p:txBody>
          <a:bodyPr/>
          <a:lstStyle/>
          <a:p>
            <a:endParaRPr lang="en-US"/>
          </a:p>
        </p:txBody>
      </p:sp>
      <p:sp>
        <p:nvSpPr>
          <p:cNvPr id="25" name="Text 23"/>
          <p:cNvSpPr txBox="1"/>
          <p:nvPr/>
        </p:nvSpPr>
        <p:spPr>
          <a:xfrm>
            <a:off x="3916650" y="2794041"/>
            <a:ext cx="1310610" cy="1397020"/>
          </a:xfrm>
          <a:prstGeom prst="rect">
            <a:avLst/>
          </a:prstGeom>
          <a:noFill/>
          <a:ln/>
        </p:spPr>
        <p:txBody>
          <a:bodyPr wrap="square" lIns="0" tIns="0" rIns="0" bIns="0" rtlCol="0" anchor="t"/>
          <a:lstStyle/>
          <a:p>
            <a:pPr marL="0" indent="0" algn="ctr">
              <a:lnSpc>
                <a:spcPct val="100000"/>
              </a:lnSpc>
              <a:buNone/>
            </a:pPr>
            <a:r>
              <a:rPr lang="en-US" sz="1050" dirty="0">
                <a:solidFill>
                  <a:srgbClr val="475569"/>
                </a:solidFill>
                <a:latin typeface="Calibri" pitchFamily="34" charset="0"/>
                <a:ea typeface="Calibri" pitchFamily="34" charset="-122"/>
                <a:cs typeface="Calibri" pitchFamily="34" charset="-120"/>
              </a:rPr>
              <a:t>Gap. Core champion education opportunity: show what AI does well and where it falls short.</a:t>
            </a:r>
            <a:endParaRPr lang="en-US" sz="1050" dirty="0"/>
          </a:p>
        </p:txBody>
      </p:sp>
      <p:sp>
        <p:nvSpPr>
          <p:cNvPr id="26" name="Shape 24"/>
          <p:cNvSpPr/>
          <p:nvPr/>
        </p:nvSpPr>
        <p:spPr>
          <a:xfrm>
            <a:off x="5506700" y="888980"/>
            <a:ext cx="1564630" cy="3403580"/>
          </a:xfrm>
          <a:prstGeom prst="roundRect">
            <a:avLst>
              <a:gd name="adj" fmla="val 8118"/>
            </a:avLst>
          </a:prstGeom>
          <a:solidFill>
            <a:srgbClr val="EDEFF2"/>
          </a:solidFill>
          <a:ln/>
        </p:spPr>
        <p:txBody>
          <a:bodyPr/>
          <a:lstStyle/>
          <a:p>
            <a:endParaRPr lang="en-US"/>
          </a:p>
        </p:txBody>
      </p:sp>
      <p:sp>
        <p:nvSpPr>
          <p:cNvPr id="27" name="Text 25"/>
          <p:cNvSpPr txBox="1"/>
          <p:nvPr/>
        </p:nvSpPr>
        <p:spPr>
          <a:xfrm>
            <a:off x="5582961" y="1295430"/>
            <a:ext cx="1412199" cy="584210"/>
          </a:xfrm>
          <a:prstGeom prst="rect">
            <a:avLst/>
          </a:prstGeom>
          <a:noFill/>
          <a:ln/>
        </p:spPr>
        <p:txBody>
          <a:bodyPr wrap="square" lIns="0" tIns="0" rIns="0" bIns="0" rtlCol="0" anchor="ctr"/>
          <a:lstStyle/>
          <a:p>
            <a:pPr marL="0" indent="0" algn="ctr">
              <a:lnSpc>
                <a:spcPct val="100000"/>
              </a:lnSpc>
              <a:buNone/>
            </a:pPr>
            <a:r>
              <a:rPr lang="en-US" sz="3400" b="1" dirty="0">
                <a:solidFill>
                  <a:srgbClr val="6A798C"/>
                </a:solidFill>
                <a:latin typeface="Calibri" pitchFamily="34" charset="0"/>
                <a:ea typeface="Calibri" pitchFamily="34" charset="-122"/>
                <a:cs typeface="Calibri" pitchFamily="34" charset="-120"/>
              </a:rPr>
              <a:t>2.71</a:t>
            </a:r>
            <a:endParaRPr lang="en-US" sz="3400" dirty="0"/>
          </a:p>
        </p:txBody>
      </p:sp>
      <p:sp>
        <p:nvSpPr>
          <p:cNvPr id="28" name="Text 26"/>
          <p:cNvSpPr txBox="1"/>
          <p:nvPr/>
        </p:nvSpPr>
        <p:spPr>
          <a:xfrm>
            <a:off x="5582961" y="1879641"/>
            <a:ext cx="1412199" cy="177759"/>
          </a:xfrm>
          <a:prstGeom prst="rect">
            <a:avLst/>
          </a:prstGeom>
          <a:noFill/>
          <a:ln/>
        </p:spPr>
        <p:txBody>
          <a:bodyPr wrap="square" lIns="0" tIns="0" rIns="0" bIns="0" rtlCol="0" anchor="t"/>
          <a:lstStyle/>
          <a:p>
            <a:pPr marL="0" indent="0" algn="ctr">
              <a:lnSpc>
                <a:spcPct val="100000"/>
              </a:lnSpc>
              <a:buNone/>
            </a:pPr>
            <a:r>
              <a:rPr lang="en-US" sz="1100" dirty="0">
                <a:solidFill>
                  <a:srgbClr val="475569"/>
                </a:solidFill>
                <a:latin typeface="Calibri" pitchFamily="34" charset="0"/>
                <a:ea typeface="Calibri" pitchFamily="34" charset="-122"/>
                <a:cs typeface="Calibri" pitchFamily="34" charset="-120"/>
              </a:rPr>
              <a:t>/ 5</a:t>
            </a:r>
            <a:endParaRPr lang="en-US" sz="1100" dirty="0"/>
          </a:p>
        </p:txBody>
      </p:sp>
      <p:sp>
        <p:nvSpPr>
          <p:cNvPr id="29" name="Text 27"/>
          <p:cNvSpPr txBox="1"/>
          <p:nvPr/>
        </p:nvSpPr>
        <p:spPr>
          <a:xfrm>
            <a:off x="5633710" y="2158990"/>
            <a:ext cx="1310610" cy="431780"/>
          </a:xfrm>
          <a:prstGeom prst="rect">
            <a:avLst/>
          </a:prstGeom>
          <a:noFill/>
          <a:ln/>
        </p:spPr>
        <p:txBody>
          <a:bodyPr wrap="square" lIns="0" tIns="0" rIns="0" bIns="0" rtlCol="0" anchor="t"/>
          <a:lstStyle/>
          <a:p>
            <a:pPr marL="0" indent="0" algn="ctr">
              <a:lnSpc>
                <a:spcPct val="100000"/>
              </a:lnSpc>
              <a:buNone/>
            </a:pPr>
            <a:r>
              <a:rPr lang="en-US" sz="1150" b="1" dirty="0">
                <a:solidFill>
                  <a:srgbClr val="1A2433"/>
                </a:solidFill>
                <a:latin typeface="Calibri" pitchFamily="34" charset="0"/>
                <a:ea typeface="Calibri" pitchFamily="34" charset="-122"/>
                <a:cs typeface="Calibri" pitchFamily="34" charset="-120"/>
              </a:rPr>
              <a:t>Satisfied with Available Tools</a:t>
            </a:r>
            <a:endParaRPr lang="en-US" sz="1150" dirty="0"/>
          </a:p>
        </p:txBody>
      </p:sp>
      <p:sp>
        <p:nvSpPr>
          <p:cNvPr id="30" name="Shape 28"/>
          <p:cNvSpPr/>
          <p:nvPr/>
        </p:nvSpPr>
        <p:spPr>
          <a:xfrm>
            <a:off x="5735300" y="2667030"/>
            <a:ext cx="1107430" cy="0"/>
          </a:xfrm>
          <a:prstGeom prst="line">
            <a:avLst/>
          </a:prstGeom>
          <a:noFill/>
          <a:ln w="9525">
            <a:solidFill>
              <a:srgbClr val="E2E8F0"/>
            </a:solidFill>
            <a:prstDash val="solid"/>
          </a:ln>
        </p:spPr>
        <p:txBody>
          <a:bodyPr/>
          <a:lstStyle/>
          <a:p>
            <a:endParaRPr lang="en-US"/>
          </a:p>
        </p:txBody>
      </p:sp>
      <p:sp>
        <p:nvSpPr>
          <p:cNvPr id="31" name="Text 29"/>
          <p:cNvSpPr txBox="1"/>
          <p:nvPr/>
        </p:nvSpPr>
        <p:spPr>
          <a:xfrm>
            <a:off x="5633710" y="2794041"/>
            <a:ext cx="1310610" cy="1397020"/>
          </a:xfrm>
          <a:prstGeom prst="rect">
            <a:avLst/>
          </a:prstGeom>
          <a:noFill/>
          <a:ln/>
        </p:spPr>
        <p:txBody>
          <a:bodyPr wrap="square" lIns="0" tIns="0" rIns="0" bIns="0" rtlCol="0" anchor="t"/>
          <a:lstStyle/>
          <a:p>
            <a:pPr marL="0" indent="0" algn="ctr">
              <a:lnSpc>
                <a:spcPct val="100000"/>
              </a:lnSpc>
              <a:buNone/>
            </a:pPr>
            <a:r>
              <a:rPr lang="en-US" sz="1050" dirty="0">
                <a:solidFill>
                  <a:srgbClr val="475569"/>
                </a:solidFill>
                <a:latin typeface="Calibri" pitchFamily="34" charset="0"/>
                <a:ea typeface="Calibri" pitchFamily="34" charset="-122"/>
                <a:cs typeface="Calibri" pitchFamily="34" charset="-120"/>
              </a:rPr>
              <a:t>Gap. Show what’s available today and how to get the most from it.</a:t>
            </a:r>
            <a:endParaRPr lang="en-US" sz="1050" dirty="0"/>
          </a:p>
        </p:txBody>
      </p:sp>
      <p:sp>
        <p:nvSpPr>
          <p:cNvPr id="32" name="Shape 30"/>
          <p:cNvSpPr/>
          <p:nvPr/>
        </p:nvSpPr>
        <p:spPr>
          <a:xfrm>
            <a:off x="7223760" y="888980"/>
            <a:ext cx="1564630" cy="3403580"/>
          </a:xfrm>
          <a:prstGeom prst="roundRect">
            <a:avLst>
              <a:gd name="adj" fmla="val 8118"/>
            </a:avLst>
          </a:prstGeom>
          <a:solidFill>
            <a:srgbClr val="F4F6F8"/>
          </a:solidFill>
          <a:ln/>
        </p:spPr>
        <p:txBody>
          <a:bodyPr/>
          <a:lstStyle/>
          <a:p>
            <a:endParaRPr lang="en-US"/>
          </a:p>
        </p:txBody>
      </p:sp>
      <p:sp>
        <p:nvSpPr>
          <p:cNvPr id="33" name="Text 31"/>
          <p:cNvSpPr txBox="1"/>
          <p:nvPr/>
        </p:nvSpPr>
        <p:spPr>
          <a:xfrm>
            <a:off x="7299930" y="1295430"/>
            <a:ext cx="1412199" cy="584210"/>
          </a:xfrm>
          <a:prstGeom prst="rect">
            <a:avLst/>
          </a:prstGeom>
          <a:noFill/>
          <a:ln/>
        </p:spPr>
        <p:txBody>
          <a:bodyPr wrap="square" lIns="0" tIns="0" rIns="0" bIns="0" rtlCol="0" anchor="ctr"/>
          <a:lstStyle/>
          <a:p>
            <a:pPr marL="0" indent="0" algn="ctr">
              <a:lnSpc>
                <a:spcPct val="100000"/>
              </a:lnSpc>
              <a:buNone/>
            </a:pPr>
            <a:r>
              <a:rPr lang="en-US" sz="3400" b="1" dirty="0">
                <a:solidFill>
                  <a:srgbClr val="919BA8"/>
                </a:solidFill>
                <a:latin typeface="Calibri" pitchFamily="34" charset="0"/>
                <a:ea typeface="Calibri" pitchFamily="34" charset="-122"/>
                <a:cs typeface="Calibri" pitchFamily="34" charset="-120"/>
              </a:rPr>
              <a:t>2.38</a:t>
            </a:r>
            <a:endParaRPr lang="en-US" sz="3400" dirty="0"/>
          </a:p>
        </p:txBody>
      </p:sp>
      <p:sp>
        <p:nvSpPr>
          <p:cNvPr id="34" name="Text 32"/>
          <p:cNvSpPr txBox="1"/>
          <p:nvPr/>
        </p:nvSpPr>
        <p:spPr>
          <a:xfrm>
            <a:off x="7299930" y="1879641"/>
            <a:ext cx="1412199" cy="177759"/>
          </a:xfrm>
          <a:prstGeom prst="rect">
            <a:avLst/>
          </a:prstGeom>
          <a:noFill/>
          <a:ln/>
        </p:spPr>
        <p:txBody>
          <a:bodyPr wrap="square" lIns="0" tIns="0" rIns="0" bIns="0" rtlCol="0" anchor="t"/>
          <a:lstStyle/>
          <a:p>
            <a:pPr marL="0" indent="0" algn="ctr">
              <a:lnSpc>
                <a:spcPct val="100000"/>
              </a:lnSpc>
              <a:buNone/>
            </a:pPr>
            <a:r>
              <a:rPr lang="en-US" sz="1100" dirty="0">
                <a:solidFill>
                  <a:srgbClr val="475569"/>
                </a:solidFill>
                <a:latin typeface="Calibri" pitchFamily="34" charset="0"/>
                <a:ea typeface="Calibri" pitchFamily="34" charset="-122"/>
                <a:cs typeface="Calibri" pitchFamily="34" charset="-120"/>
              </a:rPr>
              <a:t>/ 5</a:t>
            </a:r>
            <a:endParaRPr lang="en-US" sz="1100" dirty="0"/>
          </a:p>
        </p:txBody>
      </p:sp>
      <p:sp>
        <p:nvSpPr>
          <p:cNvPr id="35" name="Text 33"/>
          <p:cNvSpPr txBox="1"/>
          <p:nvPr/>
        </p:nvSpPr>
        <p:spPr>
          <a:xfrm>
            <a:off x="7350770" y="2158990"/>
            <a:ext cx="1310610" cy="431780"/>
          </a:xfrm>
          <a:prstGeom prst="rect">
            <a:avLst/>
          </a:prstGeom>
          <a:noFill/>
          <a:ln/>
        </p:spPr>
        <p:txBody>
          <a:bodyPr wrap="square" lIns="0" tIns="0" rIns="0" bIns="0" rtlCol="0" anchor="t"/>
          <a:lstStyle/>
          <a:p>
            <a:pPr marL="0" indent="0" algn="ctr">
              <a:lnSpc>
                <a:spcPct val="100000"/>
              </a:lnSpc>
              <a:buNone/>
            </a:pPr>
            <a:r>
              <a:rPr lang="en-US" sz="1150" b="1" dirty="0">
                <a:solidFill>
                  <a:srgbClr val="1A2433"/>
                </a:solidFill>
                <a:latin typeface="Calibri" pitchFamily="34" charset="0"/>
                <a:ea typeface="Calibri" pitchFamily="34" charset="-122"/>
                <a:cs typeface="Calibri" pitchFamily="34" charset="-120"/>
              </a:rPr>
              <a:t>AI Has Improved Productivity</a:t>
            </a:r>
            <a:endParaRPr lang="en-US" sz="1150" dirty="0"/>
          </a:p>
        </p:txBody>
      </p:sp>
      <p:sp>
        <p:nvSpPr>
          <p:cNvPr id="36" name="Shape 34"/>
          <p:cNvSpPr/>
          <p:nvPr/>
        </p:nvSpPr>
        <p:spPr>
          <a:xfrm>
            <a:off x="7452360" y="2667030"/>
            <a:ext cx="1107430" cy="0"/>
          </a:xfrm>
          <a:prstGeom prst="line">
            <a:avLst/>
          </a:prstGeom>
          <a:noFill/>
          <a:ln w="9525">
            <a:solidFill>
              <a:srgbClr val="E2E8F0"/>
            </a:solidFill>
            <a:prstDash val="solid"/>
          </a:ln>
        </p:spPr>
        <p:txBody>
          <a:bodyPr/>
          <a:lstStyle/>
          <a:p>
            <a:endParaRPr lang="en-US"/>
          </a:p>
        </p:txBody>
      </p:sp>
      <p:sp>
        <p:nvSpPr>
          <p:cNvPr id="37" name="Text 35"/>
          <p:cNvSpPr txBox="1"/>
          <p:nvPr/>
        </p:nvSpPr>
        <p:spPr>
          <a:xfrm>
            <a:off x="7350770" y="2794041"/>
            <a:ext cx="1310610" cy="1397020"/>
          </a:xfrm>
          <a:prstGeom prst="rect">
            <a:avLst/>
          </a:prstGeom>
          <a:noFill/>
          <a:ln/>
        </p:spPr>
        <p:txBody>
          <a:bodyPr wrap="square" lIns="0" tIns="0" rIns="0" bIns="0" rtlCol="0" anchor="t"/>
          <a:lstStyle/>
          <a:p>
            <a:pPr marL="0" indent="0" algn="ctr">
              <a:lnSpc>
                <a:spcPct val="100000"/>
              </a:lnSpc>
              <a:buNone/>
            </a:pPr>
            <a:r>
              <a:rPr lang="en-US" sz="1050" dirty="0">
                <a:solidFill>
                  <a:srgbClr val="475569"/>
                </a:solidFill>
                <a:latin typeface="Calibri" pitchFamily="34" charset="0"/>
                <a:ea typeface="Calibri" pitchFamily="34" charset="-122"/>
                <a:cs typeface="Calibri" pitchFamily="34" charset="-120"/>
              </a:rPr>
              <a:t>Biggest gap. Everyday-task demos on real work are what will move this.</a:t>
            </a:r>
            <a:endParaRPr lang="en-US" sz="1050" dirty="0"/>
          </a:p>
        </p:txBody>
      </p:sp>
      <p:sp>
        <p:nvSpPr>
          <p:cNvPr id="38" name="Shape 36"/>
          <p:cNvSpPr/>
          <p:nvPr/>
        </p:nvSpPr>
        <p:spPr>
          <a:xfrm>
            <a:off x="355610" y="4444990"/>
            <a:ext cx="8432780" cy="381030"/>
          </a:xfrm>
          <a:prstGeom prst="roundRect">
            <a:avLst>
              <a:gd name="adj" fmla="val 26662"/>
            </a:avLst>
          </a:prstGeom>
          <a:solidFill>
            <a:srgbClr val="EAF0ED"/>
          </a:solidFill>
          <a:ln/>
        </p:spPr>
        <p:txBody>
          <a:bodyPr/>
          <a:lstStyle/>
          <a:p>
            <a:endParaRPr lang="en-US"/>
          </a:p>
        </p:txBody>
      </p:sp>
      <p:sp>
        <p:nvSpPr>
          <p:cNvPr id="39" name="Text 37"/>
          <p:cNvSpPr txBox="1"/>
          <p:nvPr/>
        </p:nvSpPr>
        <p:spPr>
          <a:xfrm>
            <a:off x="533370" y="4444990"/>
            <a:ext cx="8077170" cy="381030"/>
          </a:xfrm>
          <a:prstGeom prst="rect">
            <a:avLst/>
          </a:prstGeom>
          <a:noFill/>
          <a:ln/>
        </p:spPr>
        <p:txBody>
          <a:bodyPr wrap="square" lIns="0" tIns="0" rIns="0" bIns="0" rtlCol="0" anchor="ctr"/>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Intent is there. Our role is to turn interest into real, everyday value.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55610" y="177759"/>
            <a:ext cx="8432780" cy="431780"/>
          </a:xfrm>
          <a:prstGeom prst="rect">
            <a:avLst/>
          </a:prstGeom>
          <a:noFill/>
          <a:ln/>
        </p:spPr>
        <p:txBody>
          <a:bodyPr wrap="square" lIns="0" tIns="0" rIns="0" bIns="0" rtlCol="0" anchor="ctr"/>
          <a:lstStyle/>
          <a:p>
            <a:pPr marL="0" indent="0" algn="l">
              <a:lnSpc>
                <a:spcPct val="95000"/>
              </a:lnSpc>
              <a:buNone/>
            </a:pPr>
            <a:r>
              <a:rPr lang="en-US" sz="2100" b="1" dirty="0">
                <a:solidFill>
                  <a:srgbClr val="2D6A4F"/>
                </a:solidFill>
                <a:latin typeface="Calibri" pitchFamily="34" charset="0"/>
                <a:ea typeface="Calibri" pitchFamily="34" charset="-122"/>
                <a:cs typeface="Calibri" pitchFamily="34" charset="-120"/>
              </a:rPr>
              <a:t>Employees Told Us What Is Blocking Them</a:t>
            </a:r>
            <a:endParaRPr lang="en-US" sz="2100" dirty="0"/>
          </a:p>
        </p:txBody>
      </p:sp>
      <p:sp>
        <p:nvSpPr>
          <p:cNvPr id="3" name="Text 1"/>
          <p:cNvSpPr txBox="1"/>
          <p:nvPr/>
        </p:nvSpPr>
        <p:spPr>
          <a:xfrm>
            <a:off x="355610" y="4940320"/>
            <a:ext cx="5969020" cy="139720"/>
          </a:xfrm>
          <a:prstGeom prst="rect">
            <a:avLst/>
          </a:prstGeom>
          <a:noFill/>
          <a:ln/>
        </p:spPr>
        <p:txBody>
          <a:bodyPr wrap="square" lIns="0" tIns="0" rIns="0" bIns="0" rtlCol="0" anchor="t"/>
          <a:lstStyle/>
          <a:p>
            <a:pPr marL="0" indent="0" algn="l">
              <a:lnSpc>
                <a:spcPct val="100000"/>
              </a:lnSpc>
              <a:buNone/>
            </a:pPr>
            <a:r>
              <a:rPr lang="en-US" sz="750">
                <a:solidFill>
                  <a:srgbClr val="64748B"/>
                </a:solidFill>
                <a:latin typeface="Calibri" pitchFamily="34" charset="0"/>
                <a:ea typeface="Calibri" pitchFamily="34" charset="-122"/>
                <a:cs typeface="Calibri" pitchFamily="34" charset="-120"/>
              </a:rPr>
              <a:t>  CNAIT ·  AI Awareness Survey - Bseline Data </a:t>
            </a:r>
            <a:endParaRPr lang="en-US" sz="750" dirty="0"/>
          </a:p>
        </p:txBody>
      </p:sp>
      <p:sp>
        <p:nvSpPr>
          <p:cNvPr id="4" name="Text 2"/>
          <p:cNvSpPr txBox="1"/>
          <p:nvPr/>
        </p:nvSpPr>
        <p:spPr>
          <a:xfrm>
            <a:off x="6349959" y="4940320"/>
            <a:ext cx="1879641" cy="139720"/>
          </a:xfrm>
          <a:prstGeom prst="rect">
            <a:avLst/>
          </a:prstGeom>
          <a:noFill/>
          <a:ln/>
        </p:spPr>
        <p:txBody>
          <a:bodyPr wrap="square" lIns="0" tIns="0" rIns="0" bIns="0" rtlCol="0" anchor="t"/>
          <a:lstStyle/>
          <a:p>
            <a:pPr marL="0" indent="0" algn="r">
              <a:lnSpc>
                <a:spcPct val="100000"/>
              </a:lnSpc>
              <a:buNone/>
            </a:pPr>
            <a:r>
              <a:rPr lang="en-US" sz="750" b="1">
                <a:solidFill>
                  <a:srgbClr val="B87A1E"/>
                </a:solidFill>
                <a:latin typeface="Calibri" pitchFamily="34" charset="0"/>
                <a:ea typeface="Calibri" pitchFamily="34" charset="-122"/>
                <a:cs typeface="Calibri" pitchFamily="34" charset="-120"/>
              </a:rPr>
              <a:t> </a:t>
            </a:r>
            <a:endParaRPr lang="en-US" sz="750" dirty="0"/>
          </a:p>
        </p:txBody>
      </p:sp>
      <p:sp>
        <p:nvSpPr>
          <p:cNvPr id="5" name="Text 3"/>
          <p:cNvSpPr txBox="1"/>
          <p:nvPr/>
        </p:nvSpPr>
        <p:spPr>
          <a:xfrm>
            <a:off x="8331190" y="4940320"/>
            <a:ext cx="457200" cy="139720"/>
          </a:xfrm>
          <a:prstGeom prst="rect">
            <a:avLst/>
          </a:prstGeom>
          <a:noFill/>
          <a:ln/>
        </p:spPr>
        <p:txBody>
          <a:bodyPr wrap="square" lIns="0" tIns="0" rIns="0" bIns="0" rtlCol="0" anchor="t"/>
          <a:lstStyle/>
          <a:p>
            <a:pPr marL="0" indent="0" algn="r">
              <a:lnSpc>
                <a:spcPct val="100000"/>
              </a:lnSpc>
              <a:buNone/>
            </a:pPr>
            <a:r>
              <a:rPr lang="en-US" sz="750" dirty="0">
                <a:solidFill>
                  <a:srgbClr val="64748B"/>
                </a:solidFill>
                <a:latin typeface="Calibri" pitchFamily="34" charset="0"/>
                <a:ea typeface="Calibri" pitchFamily="34" charset="-122"/>
                <a:cs typeface="Calibri" pitchFamily="34" charset="-120"/>
              </a:rPr>
              <a:t>5</a:t>
            </a:r>
            <a:endParaRPr lang="en-US" sz="750" dirty="0"/>
          </a:p>
        </p:txBody>
      </p:sp>
      <p:sp>
        <p:nvSpPr>
          <p:cNvPr id="6" name="Text 4"/>
          <p:cNvSpPr txBox="1"/>
          <p:nvPr/>
        </p:nvSpPr>
        <p:spPr>
          <a:xfrm>
            <a:off x="355610" y="838230"/>
            <a:ext cx="3810030" cy="203180"/>
          </a:xfrm>
          <a:prstGeom prst="rect">
            <a:avLst/>
          </a:prstGeom>
          <a:noFill/>
          <a:ln/>
        </p:spPr>
        <p:txBody>
          <a:bodyPr wrap="square" lIns="0" tIns="0" rIns="0" bIns="0" rtlCol="0" anchor="t"/>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How often people use AI for job tasks (% of 489)</a:t>
            </a:r>
            <a:endParaRPr lang="en-US" sz="1100" dirty="0"/>
          </a:p>
        </p:txBody>
      </p:sp>
      <p:graphicFrame>
        <p:nvGraphicFramePr>
          <p:cNvPr id="7" name="Chart 0"/>
          <p:cNvGraphicFramePr/>
          <p:nvPr/>
        </p:nvGraphicFramePr>
        <p:xfrm>
          <a:off x="355610" y="1092159"/>
          <a:ext cx="3810030" cy="317498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4521159" y="838230"/>
            <a:ext cx="4267230" cy="203180"/>
          </a:xfrm>
          <a:prstGeom prst="rect">
            <a:avLst/>
          </a:prstGeom>
          <a:noFill/>
          <a:ln/>
        </p:spPr>
        <p:txBody>
          <a:bodyPr wrap="square" lIns="0" tIns="0" rIns="0" bIns="0" rtlCol="0" anchor="t"/>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Top barriers (people choosing each, of 491)</a:t>
            </a:r>
            <a:endParaRPr lang="en-US" sz="1100" dirty="0"/>
          </a:p>
        </p:txBody>
      </p:sp>
      <p:graphicFrame>
        <p:nvGraphicFramePr>
          <p:cNvPr id="9" name="Chart 1"/>
          <p:cNvGraphicFramePr/>
          <p:nvPr/>
        </p:nvGraphicFramePr>
        <p:xfrm>
          <a:off x="4521159" y="1092159"/>
          <a:ext cx="4267230" cy="317498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6"/>
          <p:cNvSpPr/>
          <p:nvPr/>
        </p:nvSpPr>
        <p:spPr>
          <a:xfrm>
            <a:off x="355610" y="4444990"/>
            <a:ext cx="8432780" cy="381030"/>
          </a:xfrm>
          <a:prstGeom prst="roundRect">
            <a:avLst>
              <a:gd name="adj" fmla="val 26662"/>
            </a:avLst>
          </a:prstGeom>
          <a:solidFill>
            <a:srgbClr val="EAF0ED"/>
          </a:solidFill>
          <a:ln/>
        </p:spPr>
        <p:txBody>
          <a:bodyPr/>
          <a:lstStyle/>
          <a:p>
            <a:endParaRPr lang="en-US"/>
          </a:p>
        </p:txBody>
      </p:sp>
      <p:sp>
        <p:nvSpPr>
          <p:cNvPr id="11" name="Text 7"/>
          <p:cNvSpPr txBox="1"/>
          <p:nvPr/>
        </p:nvSpPr>
        <p:spPr>
          <a:xfrm>
            <a:off x="533370" y="4444990"/>
            <a:ext cx="8077170" cy="381030"/>
          </a:xfrm>
          <a:prstGeom prst="rect">
            <a:avLst/>
          </a:prstGeom>
          <a:noFill/>
          <a:ln/>
        </p:spPr>
        <p:txBody>
          <a:bodyPr wrap="square" lIns="0" tIns="0" rIns="0" bIns="0" rtlCol="0" anchor="ctr"/>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The blockers are answerable: trust, training, and clear rules are things we can address in every session.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55610" y="177759"/>
            <a:ext cx="8432780" cy="431780"/>
          </a:xfrm>
          <a:prstGeom prst="rect">
            <a:avLst/>
          </a:prstGeom>
          <a:noFill/>
          <a:ln/>
        </p:spPr>
        <p:txBody>
          <a:bodyPr wrap="square" lIns="0" tIns="0" rIns="0" bIns="0" rtlCol="0" anchor="ctr"/>
          <a:lstStyle/>
          <a:p>
            <a:pPr marL="0" indent="0" algn="l">
              <a:lnSpc>
                <a:spcPct val="95000"/>
              </a:lnSpc>
              <a:buNone/>
            </a:pPr>
            <a:r>
              <a:rPr lang="en-US" sz="2100" b="1" dirty="0">
                <a:solidFill>
                  <a:srgbClr val="1E3A5F"/>
                </a:solidFill>
                <a:latin typeface="Calibri" pitchFamily="34" charset="0"/>
                <a:ea typeface="Calibri" pitchFamily="34" charset="-122"/>
                <a:cs typeface="Calibri" pitchFamily="34" charset="-120"/>
              </a:rPr>
              <a:t>The Skill Gap Is Real — You’re the Bridge</a:t>
            </a:r>
            <a:endParaRPr lang="en-US" sz="2100" dirty="0"/>
          </a:p>
        </p:txBody>
      </p:sp>
      <p:sp>
        <p:nvSpPr>
          <p:cNvPr id="3" name="Text 1"/>
          <p:cNvSpPr txBox="1"/>
          <p:nvPr/>
        </p:nvSpPr>
        <p:spPr>
          <a:xfrm>
            <a:off x="355610" y="4940320"/>
            <a:ext cx="5969020" cy="139720"/>
          </a:xfrm>
          <a:prstGeom prst="rect">
            <a:avLst/>
          </a:prstGeom>
          <a:noFill/>
          <a:ln/>
        </p:spPr>
        <p:txBody>
          <a:bodyPr wrap="square" lIns="0" tIns="0" rIns="0" bIns="0" rtlCol="0" anchor="t"/>
          <a:lstStyle/>
          <a:p>
            <a:pPr marL="0" indent="0" algn="l">
              <a:lnSpc>
                <a:spcPct val="100000"/>
              </a:lnSpc>
              <a:buNone/>
            </a:pPr>
            <a:r>
              <a:rPr lang="en-US" sz="750">
                <a:solidFill>
                  <a:srgbClr val="64748B"/>
                </a:solidFill>
                <a:latin typeface="Calibri" pitchFamily="34" charset="0"/>
                <a:ea typeface="Calibri" pitchFamily="34" charset="-122"/>
                <a:cs typeface="Calibri" pitchFamily="34" charset="-120"/>
              </a:rPr>
              <a:t>  CNAIT ·  AI Awareness Survey - Bseline Data </a:t>
            </a:r>
            <a:endParaRPr lang="en-US" sz="750" dirty="0"/>
          </a:p>
        </p:txBody>
      </p:sp>
      <p:sp>
        <p:nvSpPr>
          <p:cNvPr id="4" name="Text 2"/>
          <p:cNvSpPr txBox="1"/>
          <p:nvPr/>
        </p:nvSpPr>
        <p:spPr>
          <a:xfrm>
            <a:off x="6349959" y="4940320"/>
            <a:ext cx="1879641" cy="139720"/>
          </a:xfrm>
          <a:prstGeom prst="rect">
            <a:avLst/>
          </a:prstGeom>
          <a:noFill/>
          <a:ln/>
        </p:spPr>
        <p:txBody>
          <a:bodyPr wrap="square" lIns="0" tIns="0" rIns="0" bIns="0" rtlCol="0" anchor="t"/>
          <a:lstStyle/>
          <a:p>
            <a:pPr marL="0" indent="0" algn="r">
              <a:lnSpc>
                <a:spcPct val="100000"/>
              </a:lnSpc>
              <a:buNone/>
            </a:pPr>
            <a:r>
              <a:rPr lang="en-US" sz="750" b="1">
                <a:solidFill>
                  <a:srgbClr val="B87A1E"/>
                </a:solidFill>
                <a:latin typeface="Calibri" pitchFamily="34" charset="0"/>
                <a:ea typeface="Calibri" pitchFamily="34" charset="-122"/>
                <a:cs typeface="Calibri" pitchFamily="34" charset="-120"/>
              </a:rPr>
              <a:t> </a:t>
            </a:r>
            <a:endParaRPr lang="en-US" sz="750" dirty="0"/>
          </a:p>
        </p:txBody>
      </p:sp>
      <p:sp>
        <p:nvSpPr>
          <p:cNvPr id="5" name="Text 3"/>
          <p:cNvSpPr txBox="1"/>
          <p:nvPr/>
        </p:nvSpPr>
        <p:spPr>
          <a:xfrm>
            <a:off x="8331190" y="4940320"/>
            <a:ext cx="457200" cy="139720"/>
          </a:xfrm>
          <a:prstGeom prst="rect">
            <a:avLst/>
          </a:prstGeom>
          <a:noFill/>
          <a:ln/>
        </p:spPr>
        <p:txBody>
          <a:bodyPr wrap="square" lIns="0" tIns="0" rIns="0" bIns="0" rtlCol="0" anchor="t"/>
          <a:lstStyle/>
          <a:p>
            <a:pPr marL="0" indent="0" algn="r">
              <a:lnSpc>
                <a:spcPct val="100000"/>
              </a:lnSpc>
              <a:buNone/>
            </a:pPr>
            <a:r>
              <a:rPr lang="en-US" sz="750" dirty="0">
                <a:solidFill>
                  <a:srgbClr val="64748B"/>
                </a:solidFill>
                <a:latin typeface="Calibri" pitchFamily="34" charset="0"/>
                <a:ea typeface="Calibri" pitchFamily="34" charset="-122"/>
                <a:cs typeface="Calibri" pitchFamily="34" charset="-120"/>
              </a:rPr>
              <a:t>6</a:t>
            </a:r>
            <a:endParaRPr lang="en-US" sz="750" dirty="0"/>
          </a:p>
        </p:txBody>
      </p:sp>
      <p:sp>
        <p:nvSpPr>
          <p:cNvPr id="6" name="Text 4"/>
          <p:cNvSpPr txBox="1"/>
          <p:nvPr/>
        </p:nvSpPr>
        <p:spPr>
          <a:xfrm>
            <a:off x="355610" y="838230"/>
            <a:ext cx="5080041" cy="203180"/>
          </a:xfrm>
          <a:prstGeom prst="rect">
            <a:avLst/>
          </a:prstGeom>
          <a:noFill/>
          <a:ln/>
        </p:spPr>
        <p:txBody>
          <a:bodyPr wrap="square" lIns="0" tIns="0" rIns="0" bIns="0" rtlCol="0" anchor="t"/>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How people rate their AI skill (n=490)</a:t>
            </a:r>
            <a:endParaRPr lang="en-US" sz="1100" dirty="0"/>
          </a:p>
        </p:txBody>
      </p:sp>
      <p:sp>
        <p:nvSpPr>
          <p:cNvPr id="7" name="Text 5"/>
          <p:cNvSpPr txBox="1"/>
          <p:nvPr/>
        </p:nvSpPr>
        <p:spPr>
          <a:xfrm>
            <a:off x="355610" y="1092159"/>
            <a:ext cx="1651041" cy="640080"/>
          </a:xfrm>
          <a:prstGeom prst="rect">
            <a:avLst/>
          </a:prstGeom>
          <a:noFill/>
          <a:ln/>
        </p:spPr>
        <p:txBody>
          <a:bodyPr wrap="square" lIns="0" tIns="0" rIns="0" bIns="0" rtlCol="0" anchor="ctr"/>
          <a:lstStyle/>
          <a:p>
            <a:pPr marL="0" indent="0" algn="l">
              <a:lnSpc>
                <a:spcPct val="95000"/>
              </a:lnSpc>
              <a:buNone/>
            </a:pPr>
            <a:r>
              <a:rPr lang="en-US" sz="1100" b="1" dirty="0">
                <a:solidFill>
                  <a:srgbClr val="1A2433"/>
                </a:solidFill>
                <a:latin typeface="Calibri" pitchFamily="34" charset="0"/>
                <a:ea typeface="Calibri" pitchFamily="34" charset="-122"/>
                <a:cs typeface="Calibri" pitchFamily="34" charset="-120"/>
              </a:rPr>
              <a:t>Awareness</a:t>
            </a:r>
            <a:endParaRPr lang="en-US" sz="1100" dirty="0"/>
          </a:p>
          <a:p>
            <a:pPr marL="0" indent="0" algn="l">
              <a:lnSpc>
                <a:spcPct val="95000"/>
              </a:lnSpc>
              <a:buNone/>
            </a:pPr>
            <a:r>
              <a:rPr lang="en-US" sz="800" dirty="0">
                <a:solidFill>
                  <a:srgbClr val="64748B"/>
                </a:solidFill>
                <a:latin typeface="Calibri" pitchFamily="34" charset="0"/>
                <a:ea typeface="Calibri" pitchFamily="34" charset="-122"/>
                <a:cs typeface="Calibri" pitchFamily="34" charset="-120"/>
              </a:rPr>
              <a:t>Knows what AI is but hasn’t used it</a:t>
            </a:r>
            <a:endParaRPr lang="en-US" sz="1100" dirty="0"/>
          </a:p>
        </p:txBody>
      </p:sp>
      <p:sp>
        <p:nvSpPr>
          <p:cNvPr id="8" name="Shape 6"/>
          <p:cNvSpPr/>
          <p:nvPr/>
        </p:nvSpPr>
        <p:spPr>
          <a:xfrm>
            <a:off x="2082820" y="1232977"/>
            <a:ext cx="1026780" cy="358445"/>
          </a:xfrm>
          <a:prstGeom prst="roundRect">
            <a:avLst>
              <a:gd name="adj" fmla="val 10638"/>
            </a:avLst>
          </a:prstGeom>
          <a:solidFill>
            <a:srgbClr val="1B5E8A"/>
          </a:solidFill>
          <a:ln/>
        </p:spPr>
        <p:txBody>
          <a:bodyPr/>
          <a:lstStyle/>
          <a:p>
            <a:endParaRPr lang="en-US"/>
          </a:p>
        </p:txBody>
      </p:sp>
      <p:sp>
        <p:nvSpPr>
          <p:cNvPr id="9" name="Text 7"/>
          <p:cNvSpPr txBox="1"/>
          <p:nvPr/>
        </p:nvSpPr>
        <p:spPr>
          <a:xfrm>
            <a:off x="3185770" y="1092159"/>
            <a:ext cx="1143000" cy="640080"/>
          </a:xfrm>
          <a:prstGeom prst="rect">
            <a:avLst/>
          </a:prstGeom>
          <a:noFill/>
          <a:ln/>
        </p:spPr>
        <p:txBody>
          <a:bodyPr wrap="square" lIns="0" tIns="0" rIns="0" bIns="0" rtlCol="0" anchor="ctr"/>
          <a:lstStyle/>
          <a:p>
            <a:pPr marL="0" indent="0" algn="l">
              <a:lnSpc>
                <a:spcPct val="100000"/>
              </a:lnSpc>
              <a:buNone/>
            </a:pPr>
            <a:r>
              <a:rPr lang="en-US" sz="1200" b="1" dirty="0">
                <a:solidFill>
                  <a:srgbClr val="1A2433"/>
                </a:solidFill>
                <a:latin typeface="Calibri" pitchFamily="34" charset="0"/>
                <a:ea typeface="Calibri" pitchFamily="34" charset="-122"/>
                <a:cs typeface="Calibri" pitchFamily="34" charset="-120"/>
              </a:rPr>
              <a:t>19%</a:t>
            </a:r>
            <a:r>
              <a:rPr lang="en-US" sz="900" dirty="0">
                <a:solidFill>
                  <a:srgbClr val="64748B"/>
                </a:solidFill>
                <a:latin typeface="Calibri" pitchFamily="34" charset="0"/>
                <a:ea typeface="Calibri" pitchFamily="34" charset="-122"/>
                <a:cs typeface="Calibri" pitchFamily="34" charset="-120"/>
              </a:rPr>
              <a:t>  (95)</a:t>
            </a:r>
            <a:endParaRPr lang="en-US" sz="1200" dirty="0"/>
          </a:p>
        </p:txBody>
      </p:sp>
      <p:sp>
        <p:nvSpPr>
          <p:cNvPr id="10" name="Text 8"/>
          <p:cNvSpPr txBox="1"/>
          <p:nvPr/>
        </p:nvSpPr>
        <p:spPr>
          <a:xfrm>
            <a:off x="355610" y="1732239"/>
            <a:ext cx="1651041" cy="640080"/>
          </a:xfrm>
          <a:prstGeom prst="rect">
            <a:avLst/>
          </a:prstGeom>
          <a:noFill/>
          <a:ln/>
        </p:spPr>
        <p:txBody>
          <a:bodyPr wrap="square" lIns="0" tIns="0" rIns="0" bIns="0" rtlCol="0" anchor="ctr"/>
          <a:lstStyle/>
          <a:p>
            <a:pPr marL="0" indent="0" algn="l">
              <a:lnSpc>
                <a:spcPct val="95000"/>
              </a:lnSpc>
              <a:buNone/>
            </a:pPr>
            <a:r>
              <a:rPr lang="en-US" sz="1100" b="1" dirty="0">
                <a:solidFill>
                  <a:srgbClr val="1A2433"/>
                </a:solidFill>
                <a:latin typeface="Calibri" pitchFamily="34" charset="0"/>
                <a:ea typeface="Calibri" pitchFamily="34" charset="-122"/>
                <a:cs typeface="Calibri" pitchFamily="34" charset="-120"/>
              </a:rPr>
              <a:t>Beginner</a:t>
            </a:r>
            <a:endParaRPr lang="en-US" sz="1100" dirty="0"/>
          </a:p>
          <a:p>
            <a:pPr marL="0" indent="0" algn="l">
              <a:lnSpc>
                <a:spcPct val="95000"/>
              </a:lnSpc>
              <a:buNone/>
            </a:pPr>
            <a:r>
              <a:rPr lang="en-US" sz="800" dirty="0">
                <a:solidFill>
                  <a:srgbClr val="64748B"/>
                </a:solidFill>
                <a:latin typeface="Calibri" pitchFamily="34" charset="0"/>
                <a:ea typeface="Calibri" pitchFamily="34" charset="-122"/>
                <a:cs typeface="Calibri" pitchFamily="34" charset="-120"/>
              </a:rPr>
              <a:t>Has tried AI tools a few times</a:t>
            </a:r>
            <a:endParaRPr lang="en-US" sz="1100" dirty="0"/>
          </a:p>
        </p:txBody>
      </p:sp>
      <p:sp>
        <p:nvSpPr>
          <p:cNvPr id="11" name="Shape 9"/>
          <p:cNvSpPr/>
          <p:nvPr/>
        </p:nvSpPr>
        <p:spPr>
          <a:xfrm>
            <a:off x="2082820" y="1873057"/>
            <a:ext cx="2540020" cy="358445"/>
          </a:xfrm>
          <a:prstGeom prst="roundRect">
            <a:avLst>
              <a:gd name="adj" fmla="val 10638"/>
            </a:avLst>
          </a:prstGeom>
          <a:solidFill>
            <a:srgbClr val="1E3A5F"/>
          </a:solidFill>
          <a:ln/>
        </p:spPr>
        <p:txBody>
          <a:bodyPr/>
          <a:lstStyle/>
          <a:p>
            <a:endParaRPr lang="en-US"/>
          </a:p>
        </p:txBody>
      </p:sp>
      <p:sp>
        <p:nvSpPr>
          <p:cNvPr id="12" name="Text 10"/>
          <p:cNvSpPr txBox="1"/>
          <p:nvPr/>
        </p:nvSpPr>
        <p:spPr>
          <a:xfrm>
            <a:off x="4699010" y="1732239"/>
            <a:ext cx="1143000" cy="640080"/>
          </a:xfrm>
          <a:prstGeom prst="rect">
            <a:avLst/>
          </a:prstGeom>
          <a:noFill/>
          <a:ln/>
        </p:spPr>
        <p:txBody>
          <a:bodyPr wrap="square" lIns="0" tIns="0" rIns="0" bIns="0" rtlCol="0" anchor="ctr"/>
          <a:lstStyle/>
          <a:p>
            <a:pPr marL="0" indent="0" algn="l">
              <a:lnSpc>
                <a:spcPct val="100000"/>
              </a:lnSpc>
              <a:buNone/>
            </a:pPr>
            <a:r>
              <a:rPr lang="en-US" sz="1200" b="1" dirty="0">
                <a:solidFill>
                  <a:srgbClr val="1A2433"/>
                </a:solidFill>
                <a:latin typeface="Calibri" pitchFamily="34" charset="0"/>
                <a:ea typeface="Calibri" pitchFamily="34" charset="-122"/>
                <a:cs typeface="Calibri" pitchFamily="34" charset="-120"/>
              </a:rPr>
              <a:t>47%</a:t>
            </a:r>
            <a:r>
              <a:rPr lang="en-US" sz="900" dirty="0">
                <a:solidFill>
                  <a:srgbClr val="64748B"/>
                </a:solidFill>
                <a:latin typeface="Calibri" pitchFamily="34" charset="0"/>
                <a:ea typeface="Calibri" pitchFamily="34" charset="-122"/>
                <a:cs typeface="Calibri" pitchFamily="34" charset="-120"/>
              </a:rPr>
              <a:t>  (231)</a:t>
            </a:r>
            <a:endParaRPr lang="en-US" sz="1200" dirty="0"/>
          </a:p>
        </p:txBody>
      </p:sp>
      <p:sp>
        <p:nvSpPr>
          <p:cNvPr id="13" name="Text 11"/>
          <p:cNvSpPr txBox="1"/>
          <p:nvPr/>
        </p:nvSpPr>
        <p:spPr>
          <a:xfrm>
            <a:off x="355610" y="2372319"/>
            <a:ext cx="1651041" cy="640080"/>
          </a:xfrm>
          <a:prstGeom prst="rect">
            <a:avLst/>
          </a:prstGeom>
          <a:noFill/>
          <a:ln/>
        </p:spPr>
        <p:txBody>
          <a:bodyPr wrap="square" lIns="0" tIns="0" rIns="0" bIns="0" rtlCol="0" anchor="ctr"/>
          <a:lstStyle/>
          <a:p>
            <a:pPr marL="0" indent="0" algn="l">
              <a:lnSpc>
                <a:spcPct val="95000"/>
              </a:lnSpc>
              <a:buNone/>
            </a:pPr>
            <a:r>
              <a:rPr lang="en-US" sz="1100" b="1" dirty="0">
                <a:solidFill>
                  <a:srgbClr val="1A2433"/>
                </a:solidFill>
                <a:latin typeface="Calibri" pitchFamily="34" charset="0"/>
                <a:ea typeface="Calibri" pitchFamily="34" charset="-122"/>
                <a:cs typeface="Calibri" pitchFamily="34" charset="-120"/>
              </a:rPr>
              <a:t>Practitioner</a:t>
            </a:r>
            <a:endParaRPr lang="en-US" sz="1100" dirty="0"/>
          </a:p>
          <a:p>
            <a:pPr marL="0" indent="0" algn="l">
              <a:lnSpc>
                <a:spcPct val="95000"/>
              </a:lnSpc>
              <a:buNone/>
            </a:pPr>
            <a:r>
              <a:rPr lang="en-US" sz="800" dirty="0">
                <a:solidFill>
                  <a:srgbClr val="64748B"/>
                </a:solidFill>
                <a:latin typeface="Calibri" pitchFamily="34" charset="0"/>
                <a:ea typeface="Calibri" pitchFamily="34" charset="-122"/>
                <a:cs typeface="Calibri" pitchFamily="34" charset="-120"/>
              </a:rPr>
              <a:t>Uses AI regularly for work tasks</a:t>
            </a:r>
            <a:endParaRPr lang="en-US" sz="1100" dirty="0"/>
          </a:p>
        </p:txBody>
      </p:sp>
      <p:sp>
        <p:nvSpPr>
          <p:cNvPr id="14" name="Shape 12"/>
          <p:cNvSpPr/>
          <p:nvPr/>
        </p:nvSpPr>
        <p:spPr>
          <a:xfrm>
            <a:off x="2082820" y="2513137"/>
            <a:ext cx="1567190" cy="358445"/>
          </a:xfrm>
          <a:prstGeom prst="roundRect">
            <a:avLst>
              <a:gd name="adj" fmla="val 10638"/>
            </a:avLst>
          </a:prstGeom>
          <a:solidFill>
            <a:srgbClr val="2D6A4F"/>
          </a:solidFill>
          <a:ln/>
        </p:spPr>
        <p:txBody>
          <a:bodyPr/>
          <a:lstStyle/>
          <a:p>
            <a:endParaRPr lang="en-US"/>
          </a:p>
        </p:txBody>
      </p:sp>
      <p:sp>
        <p:nvSpPr>
          <p:cNvPr id="15" name="Text 13"/>
          <p:cNvSpPr txBox="1"/>
          <p:nvPr/>
        </p:nvSpPr>
        <p:spPr>
          <a:xfrm>
            <a:off x="3726271" y="2372319"/>
            <a:ext cx="1143000" cy="640080"/>
          </a:xfrm>
          <a:prstGeom prst="rect">
            <a:avLst/>
          </a:prstGeom>
          <a:noFill/>
          <a:ln/>
        </p:spPr>
        <p:txBody>
          <a:bodyPr wrap="square" lIns="0" tIns="0" rIns="0" bIns="0" rtlCol="0" anchor="ctr"/>
          <a:lstStyle/>
          <a:p>
            <a:pPr marL="0" indent="0" algn="l">
              <a:lnSpc>
                <a:spcPct val="100000"/>
              </a:lnSpc>
              <a:buNone/>
            </a:pPr>
            <a:r>
              <a:rPr lang="en-US" sz="1200" b="1" dirty="0">
                <a:solidFill>
                  <a:srgbClr val="1A2433"/>
                </a:solidFill>
                <a:latin typeface="Calibri" pitchFamily="34" charset="0"/>
                <a:ea typeface="Calibri" pitchFamily="34" charset="-122"/>
                <a:cs typeface="Calibri" pitchFamily="34" charset="-120"/>
              </a:rPr>
              <a:t>29%</a:t>
            </a:r>
            <a:r>
              <a:rPr lang="en-US" sz="900" dirty="0">
                <a:solidFill>
                  <a:srgbClr val="64748B"/>
                </a:solidFill>
                <a:latin typeface="Calibri" pitchFamily="34" charset="0"/>
                <a:ea typeface="Calibri" pitchFamily="34" charset="-122"/>
                <a:cs typeface="Calibri" pitchFamily="34" charset="-120"/>
              </a:rPr>
              <a:t>  (140)</a:t>
            </a:r>
            <a:endParaRPr lang="en-US" sz="1200" dirty="0"/>
          </a:p>
        </p:txBody>
      </p:sp>
      <p:sp>
        <p:nvSpPr>
          <p:cNvPr id="16" name="Text 14"/>
          <p:cNvSpPr txBox="1"/>
          <p:nvPr/>
        </p:nvSpPr>
        <p:spPr>
          <a:xfrm>
            <a:off x="355610" y="3012399"/>
            <a:ext cx="1651041" cy="640080"/>
          </a:xfrm>
          <a:prstGeom prst="rect">
            <a:avLst/>
          </a:prstGeom>
          <a:noFill/>
          <a:ln/>
        </p:spPr>
        <p:txBody>
          <a:bodyPr wrap="square" lIns="0" tIns="0" rIns="0" bIns="0" rtlCol="0" anchor="ctr"/>
          <a:lstStyle/>
          <a:p>
            <a:pPr marL="0" indent="0" algn="l">
              <a:lnSpc>
                <a:spcPct val="95000"/>
              </a:lnSpc>
              <a:buNone/>
            </a:pPr>
            <a:r>
              <a:rPr lang="en-US" sz="1100" b="1" dirty="0">
                <a:solidFill>
                  <a:srgbClr val="1A2433"/>
                </a:solidFill>
                <a:latin typeface="Calibri" pitchFamily="34" charset="0"/>
                <a:ea typeface="Calibri" pitchFamily="34" charset="-122"/>
                <a:cs typeface="Calibri" pitchFamily="34" charset="-120"/>
              </a:rPr>
              <a:t>Advanced</a:t>
            </a:r>
            <a:endParaRPr lang="en-US" sz="1100" dirty="0"/>
          </a:p>
          <a:p>
            <a:pPr marL="0" indent="0" algn="l">
              <a:lnSpc>
                <a:spcPct val="95000"/>
              </a:lnSpc>
              <a:buNone/>
            </a:pPr>
            <a:r>
              <a:rPr lang="en-US" sz="800" dirty="0">
                <a:solidFill>
                  <a:srgbClr val="64748B"/>
                </a:solidFill>
                <a:latin typeface="Calibri" pitchFamily="34" charset="0"/>
                <a:ea typeface="Calibri" pitchFamily="34" charset="-122"/>
                <a:cs typeface="Calibri" pitchFamily="34" charset="-120"/>
              </a:rPr>
              <a:t>Designs workflows and troubleshoots outputs</a:t>
            </a:r>
            <a:endParaRPr lang="en-US" sz="1100" dirty="0"/>
          </a:p>
        </p:txBody>
      </p:sp>
      <p:sp>
        <p:nvSpPr>
          <p:cNvPr id="17" name="Shape 15"/>
          <p:cNvSpPr/>
          <p:nvPr/>
        </p:nvSpPr>
        <p:spPr>
          <a:xfrm>
            <a:off x="2082820" y="3153217"/>
            <a:ext cx="108082" cy="358445"/>
          </a:xfrm>
          <a:prstGeom prst="roundRect">
            <a:avLst>
              <a:gd name="adj" fmla="val 35279"/>
            </a:avLst>
          </a:prstGeom>
          <a:solidFill>
            <a:srgbClr val="40916C"/>
          </a:solidFill>
          <a:ln/>
        </p:spPr>
        <p:txBody>
          <a:bodyPr/>
          <a:lstStyle/>
          <a:p>
            <a:endParaRPr lang="en-US"/>
          </a:p>
        </p:txBody>
      </p:sp>
      <p:sp>
        <p:nvSpPr>
          <p:cNvPr id="18" name="Text 16"/>
          <p:cNvSpPr txBox="1"/>
          <p:nvPr/>
        </p:nvSpPr>
        <p:spPr>
          <a:xfrm>
            <a:off x="2267072" y="3012399"/>
            <a:ext cx="1143000" cy="640080"/>
          </a:xfrm>
          <a:prstGeom prst="rect">
            <a:avLst/>
          </a:prstGeom>
          <a:noFill/>
          <a:ln/>
        </p:spPr>
        <p:txBody>
          <a:bodyPr wrap="square" lIns="0" tIns="0" rIns="0" bIns="0" rtlCol="0" anchor="ctr"/>
          <a:lstStyle/>
          <a:p>
            <a:pPr marL="0" indent="0" algn="l">
              <a:lnSpc>
                <a:spcPct val="100000"/>
              </a:lnSpc>
              <a:buNone/>
            </a:pPr>
            <a:r>
              <a:rPr lang="en-US" sz="1200" b="1" dirty="0">
                <a:solidFill>
                  <a:srgbClr val="1A2433"/>
                </a:solidFill>
                <a:latin typeface="Calibri" pitchFamily="34" charset="0"/>
                <a:ea typeface="Calibri" pitchFamily="34" charset="-122"/>
                <a:cs typeface="Calibri" pitchFamily="34" charset="-120"/>
              </a:rPr>
              <a:t>2%</a:t>
            </a:r>
            <a:r>
              <a:rPr lang="en-US" sz="900" dirty="0">
                <a:solidFill>
                  <a:srgbClr val="64748B"/>
                </a:solidFill>
                <a:latin typeface="Calibri" pitchFamily="34" charset="0"/>
                <a:ea typeface="Calibri" pitchFamily="34" charset="-122"/>
                <a:cs typeface="Calibri" pitchFamily="34" charset="-120"/>
              </a:rPr>
              <a:t>  (11)</a:t>
            </a:r>
            <a:endParaRPr lang="en-US" sz="1200" dirty="0"/>
          </a:p>
        </p:txBody>
      </p:sp>
      <p:sp>
        <p:nvSpPr>
          <p:cNvPr id="19" name="Text 17"/>
          <p:cNvSpPr txBox="1"/>
          <p:nvPr/>
        </p:nvSpPr>
        <p:spPr>
          <a:xfrm>
            <a:off x="355610" y="3652479"/>
            <a:ext cx="1651041" cy="640080"/>
          </a:xfrm>
          <a:prstGeom prst="rect">
            <a:avLst/>
          </a:prstGeom>
          <a:noFill/>
          <a:ln/>
        </p:spPr>
        <p:txBody>
          <a:bodyPr wrap="square" lIns="0" tIns="0" rIns="0" bIns="0" rtlCol="0" anchor="ctr"/>
          <a:lstStyle/>
          <a:p>
            <a:pPr marL="0" indent="0" algn="l">
              <a:lnSpc>
                <a:spcPct val="95000"/>
              </a:lnSpc>
              <a:buNone/>
            </a:pPr>
            <a:r>
              <a:rPr lang="en-US" sz="1100" b="1" dirty="0">
                <a:solidFill>
                  <a:srgbClr val="1A2433"/>
                </a:solidFill>
                <a:latin typeface="Calibri" pitchFamily="34" charset="0"/>
                <a:ea typeface="Calibri" pitchFamily="34" charset="-122"/>
                <a:cs typeface="Calibri" pitchFamily="34" charset="-120"/>
              </a:rPr>
              <a:t>Leader</a:t>
            </a:r>
            <a:endParaRPr lang="en-US" sz="1100" dirty="0"/>
          </a:p>
          <a:p>
            <a:pPr marL="0" indent="0" algn="l">
              <a:lnSpc>
                <a:spcPct val="95000"/>
              </a:lnSpc>
              <a:buNone/>
            </a:pPr>
            <a:r>
              <a:rPr lang="en-US" sz="800" dirty="0">
                <a:solidFill>
                  <a:srgbClr val="64748B"/>
                </a:solidFill>
                <a:latin typeface="Calibri" pitchFamily="34" charset="0"/>
                <a:ea typeface="Calibri" pitchFamily="34" charset="-122"/>
                <a:cs typeface="Calibri" pitchFamily="34" charset="-120"/>
              </a:rPr>
              <a:t>Guides others and shapes AI strategy</a:t>
            </a:r>
            <a:endParaRPr lang="en-US" sz="1100" dirty="0"/>
          </a:p>
        </p:txBody>
      </p:sp>
      <p:sp>
        <p:nvSpPr>
          <p:cNvPr id="20" name="Shape 18"/>
          <p:cNvSpPr/>
          <p:nvPr/>
        </p:nvSpPr>
        <p:spPr>
          <a:xfrm>
            <a:off x="2082820" y="3793297"/>
            <a:ext cx="162123" cy="358445"/>
          </a:xfrm>
          <a:prstGeom prst="roundRect">
            <a:avLst>
              <a:gd name="adj" fmla="val 23519"/>
            </a:avLst>
          </a:prstGeom>
          <a:solidFill>
            <a:srgbClr val="40916C"/>
          </a:solidFill>
          <a:ln/>
        </p:spPr>
        <p:txBody>
          <a:bodyPr/>
          <a:lstStyle/>
          <a:p>
            <a:endParaRPr lang="en-US"/>
          </a:p>
        </p:txBody>
      </p:sp>
      <p:sp>
        <p:nvSpPr>
          <p:cNvPr id="21" name="Text 19"/>
          <p:cNvSpPr txBox="1"/>
          <p:nvPr/>
        </p:nvSpPr>
        <p:spPr>
          <a:xfrm>
            <a:off x="2321113" y="3652479"/>
            <a:ext cx="1143000" cy="640080"/>
          </a:xfrm>
          <a:prstGeom prst="rect">
            <a:avLst/>
          </a:prstGeom>
          <a:noFill/>
          <a:ln/>
        </p:spPr>
        <p:txBody>
          <a:bodyPr wrap="square" lIns="0" tIns="0" rIns="0" bIns="0" rtlCol="0" anchor="ctr"/>
          <a:lstStyle/>
          <a:p>
            <a:pPr marL="0" indent="0" algn="l">
              <a:lnSpc>
                <a:spcPct val="100000"/>
              </a:lnSpc>
              <a:buNone/>
            </a:pPr>
            <a:r>
              <a:rPr lang="en-US" sz="1200" b="1" dirty="0">
                <a:solidFill>
                  <a:srgbClr val="1A2433"/>
                </a:solidFill>
                <a:latin typeface="Calibri" pitchFamily="34" charset="0"/>
                <a:ea typeface="Calibri" pitchFamily="34" charset="-122"/>
                <a:cs typeface="Calibri" pitchFamily="34" charset="-120"/>
              </a:rPr>
              <a:t>3%</a:t>
            </a:r>
            <a:r>
              <a:rPr lang="en-US" sz="900" dirty="0">
                <a:solidFill>
                  <a:srgbClr val="64748B"/>
                </a:solidFill>
                <a:latin typeface="Calibri" pitchFamily="34" charset="0"/>
                <a:ea typeface="Calibri" pitchFamily="34" charset="-122"/>
                <a:cs typeface="Calibri" pitchFamily="34" charset="-120"/>
              </a:rPr>
              <a:t>  (13)</a:t>
            </a:r>
            <a:endParaRPr lang="en-US" sz="1200" dirty="0"/>
          </a:p>
        </p:txBody>
      </p:sp>
      <p:sp>
        <p:nvSpPr>
          <p:cNvPr id="22" name="Shape 20"/>
          <p:cNvSpPr/>
          <p:nvPr/>
        </p:nvSpPr>
        <p:spPr>
          <a:xfrm>
            <a:off x="5842010" y="863559"/>
            <a:ext cx="2946380" cy="1049823"/>
          </a:xfrm>
          <a:prstGeom prst="roundRect">
            <a:avLst>
              <a:gd name="adj" fmla="val 9677"/>
            </a:avLst>
          </a:prstGeom>
          <a:solidFill>
            <a:srgbClr val="E9EBEF"/>
          </a:solidFill>
          <a:ln/>
        </p:spPr>
        <p:txBody>
          <a:bodyPr/>
          <a:lstStyle/>
          <a:p>
            <a:endParaRPr lang="en-US"/>
          </a:p>
        </p:txBody>
      </p:sp>
      <p:sp>
        <p:nvSpPr>
          <p:cNvPr id="23" name="Text 21"/>
          <p:cNvSpPr txBox="1"/>
          <p:nvPr/>
        </p:nvSpPr>
        <p:spPr>
          <a:xfrm>
            <a:off x="5994441" y="939820"/>
            <a:ext cx="2641610" cy="406359"/>
          </a:xfrm>
          <a:prstGeom prst="rect">
            <a:avLst/>
          </a:prstGeom>
          <a:noFill/>
          <a:ln/>
        </p:spPr>
        <p:txBody>
          <a:bodyPr wrap="square" lIns="0" tIns="0" rIns="0" bIns="0" rtlCol="0" anchor="ctr"/>
          <a:lstStyle/>
          <a:p>
            <a:pPr marL="0" indent="0" algn="l">
              <a:lnSpc>
                <a:spcPct val="100000"/>
              </a:lnSpc>
              <a:buNone/>
            </a:pPr>
            <a:r>
              <a:rPr lang="en-US" sz="2400" b="1" dirty="0">
                <a:solidFill>
                  <a:srgbClr val="1E3A5F"/>
                </a:solidFill>
                <a:latin typeface="Calibri" pitchFamily="34" charset="0"/>
                <a:ea typeface="Calibri" pitchFamily="34" charset="-122"/>
                <a:cs typeface="Calibri" pitchFamily="34" charset="-120"/>
              </a:rPr>
              <a:t>67%</a:t>
            </a:r>
            <a:endParaRPr lang="en-US" sz="2400" dirty="0"/>
          </a:p>
        </p:txBody>
      </p:sp>
      <p:sp>
        <p:nvSpPr>
          <p:cNvPr id="24" name="Text 22"/>
          <p:cNvSpPr txBox="1"/>
          <p:nvPr/>
        </p:nvSpPr>
        <p:spPr>
          <a:xfrm>
            <a:off x="5994441" y="1346180"/>
            <a:ext cx="2641610" cy="491033"/>
          </a:xfrm>
          <a:prstGeom prst="rect">
            <a:avLst/>
          </a:prstGeom>
          <a:noFill/>
          <a:ln/>
        </p:spPr>
        <p:txBody>
          <a:bodyPr wrap="square" lIns="0" tIns="0" rIns="0" bIns="0" rtlCol="0" anchor="t"/>
          <a:lstStyle/>
          <a:p>
            <a:pPr marL="0" indent="0" algn="l">
              <a:lnSpc>
                <a:spcPct val="100000"/>
              </a:lnSpc>
              <a:buNone/>
            </a:pPr>
            <a:r>
              <a:rPr lang="en-US" sz="950" b="1" dirty="0">
                <a:solidFill>
                  <a:srgbClr val="1A2433"/>
                </a:solidFill>
                <a:latin typeface="Calibri" pitchFamily="34" charset="0"/>
                <a:ea typeface="Calibri" pitchFamily="34" charset="-122"/>
                <a:cs typeface="Calibri" pitchFamily="34" charset="-120"/>
              </a:rPr>
              <a:t>Awareness or Beginner (326)</a:t>
            </a:r>
            <a:endParaRPr lang="en-US" sz="950" dirty="0"/>
          </a:p>
          <a:p>
            <a:pPr marL="0" indent="0" algn="l">
              <a:lnSpc>
                <a:spcPct val="100000"/>
              </a:lnSpc>
              <a:buNone/>
            </a:pPr>
            <a:r>
              <a:rPr lang="en-US" sz="300" dirty="0">
                <a:solidFill>
                  <a:srgbClr val="1A2433"/>
                </a:solidFill>
                <a:latin typeface="Calibri" pitchFamily="34" charset="0"/>
                <a:ea typeface="Calibri" pitchFamily="34" charset="-122"/>
                <a:cs typeface="Calibri" pitchFamily="34" charset="-120"/>
              </a:rPr>
              <a:t> </a:t>
            </a:r>
            <a:endParaRPr lang="en-US" sz="950" dirty="0"/>
          </a:p>
          <a:p>
            <a:pPr marL="0" indent="0" algn="l">
              <a:lnSpc>
                <a:spcPct val="100000"/>
              </a:lnSpc>
              <a:buNone/>
            </a:pPr>
            <a:r>
              <a:rPr lang="en-US" sz="900" dirty="0">
                <a:solidFill>
                  <a:srgbClr val="475569"/>
                </a:solidFill>
                <a:latin typeface="Calibri" pitchFamily="34" charset="0"/>
                <a:ea typeface="Calibri" pitchFamily="34" charset="-122"/>
                <a:cs typeface="Calibri" pitchFamily="34" charset="-120"/>
              </a:rPr>
              <a:t>The audience champions serve. Start with the basics and one small win.</a:t>
            </a:r>
            <a:endParaRPr lang="en-US" sz="950" dirty="0"/>
          </a:p>
        </p:txBody>
      </p:sp>
      <p:sp>
        <p:nvSpPr>
          <p:cNvPr id="25" name="Shape 23"/>
          <p:cNvSpPr/>
          <p:nvPr/>
        </p:nvSpPr>
        <p:spPr>
          <a:xfrm>
            <a:off x="5842010" y="2040484"/>
            <a:ext cx="2946380" cy="1049823"/>
          </a:xfrm>
          <a:prstGeom prst="roundRect">
            <a:avLst>
              <a:gd name="adj" fmla="val 9677"/>
            </a:avLst>
          </a:prstGeom>
          <a:solidFill>
            <a:srgbClr val="EAF0ED"/>
          </a:solidFill>
          <a:ln/>
        </p:spPr>
        <p:txBody>
          <a:bodyPr/>
          <a:lstStyle/>
          <a:p>
            <a:endParaRPr lang="en-US"/>
          </a:p>
        </p:txBody>
      </p:sp>
      <p:sp>
        <p:nvSpPr>
          <p:cNvPr id="26" name="Text 24"/>
          <p:cNvSpPr txBox="1"/>
          <p:nvPr/>
        </p:nvSpPr>
        <p:spPr>
          <a:xfrm>
            <a:off x="5994441" y="2116653"/>
            <a:ext cx="2641610" cy="406359"/>
          </a:xfrm>
          <a:prstGeom prst="rect">
            <a:avLst/>
          </a:prstGeom>
          <a:noFill/>
          <a:ln/>
        </p:spPr>
        <p:txBody>
          <a:bodyPr wrap="square" lIns="0" tIns="0" rIns="0" bIns="0" rtlCol="0" anchor="ctr"/>
          <a:lstStyle/>
          <a:p>
            <a:pPr marL="0" indent="0" algn="l">
              <a:lnSpc>
                <a:spcPct val="100000"/>
              </a:lnSpc>
              <a:buNone/>
            </a:pPr>
            <a:r>
              <a:rPr lang="en-US" sz="2400" b="1" dirty="0">
                <a:solidFill>
                  <a:srgbClr val="2D6A4F"/>
                </a:solidFill>
                <a:latin typeface="Calibri" pitchFamily="34" charset="0"/>
                <a:ea typeface="Calibri" pitchFamily="34" charset="-122"/>
                <a:cs typeface="Calibri" pitchFamily="34" charset="-120"/>
              </a:rPr>
              <a:t>33%</a:t>
            </a:r>
            <a:endParaRPr lang="en-US" sz="2400" dirty="0"/>
          </a:p>
        </p:txBody>
      </p:sp>
      <p:sp>
        <p:nvSpPr>
          <p:cNvPr id="27" name="Text 25"/>
          <p:cNvSpPr txBox="1"/>
          <p:nvPr/>
        </p:nvSpPr>
        <p:spPr>
          <a:xfrm>
            <a:off x="5994441" y="2523104"/>
            <a:ext cx="2641610" cy="491033"/>
          </a:xfrm>
          <a:prstGeom prst="rect">
            <a:avLst/>
          </a:prstGeom>
          <a:noFill/>
          <a:ln/>
        </p:spPr>
        <p:txBody>
          <a:bodyPr wrap="square" lIns="0" tIns="0" rIns="0" bIns="0" rtlCol="0" anchor="t"/>
          <a:lstStyle/>
          <a:p>
            <a:pPr marL="0" indent="0" algn="l">
              <a:lnSpc>
                <a:spcPct val="100000"/>
              </a:lnSpc>
              <a:buNone/>
            </a:pPr>
            <a:r>
              <a:rPr lang="en-US" sz="950" b="1" dirty="0">
                <a:solidFill>
                  <a:srgbClr val="1A2433"/>
                </a:solidFill>
                <a:latin typeface="Calibri" pitchFamily="34" charset="0"/>
                <a:ea typeface="Calibri" pitchFamily="34" charset="-122"/>
                <a:cs typeface="Calibri" pitchFamily="34" charset="-120"/>
              </a:rPr>
              <a:t>Practitioner, Advanced or Leader (164)</a:t>
            </a:r>
            <a:endParaRPr lang="en-US" sz="950" dirty="0"/>
          </a:p>
          <a:p>
            <a:pPr marL="0" indent="0" algn="l">
              <a:lnSpc>
                <a:spcPct val="100000"/>
              </a:lnSpc>
              <a:buNone/>
            </a:pPr>
            <a:r>
              <a:rPr lang="en-US" sz="300" dirty="0">
                <a:solidFill>
                  <a:srgbClr val="1A2433"/>
                </a:solidFill>
                <a:latin typeface="Calibri" pitchFamily="34" charset="0"/>
                <a:ea typeface="Calibri" pitchFamily="34" charset="-122"/>
                <a:cs typeface="Calibri" pitchFamily="34" charset="-120"/>
              </a:rPr>
              <a:t> </a:t>
            </a:r>
            <a:endParaRPr lang="en-US" sz="950" dirty="0"/>
          </a:p>
          <a:p>
            <a:pPr marL="0" indent="0" algn="l">
              <a:lnSpc>
                <a:spcPct val="100000"/>
              </a:lnSpc>
              <a:buNone/>
            </a:pPr>
            <a:r>
              <a:rPr lang="en-US" sz="900" dirty="0">
                <a:solidFill>
                  <a:srgbClr val="475569"/>
                </a:solidFill>
                <a:latin typeface="Calibri" pitchFamily="34" charset="0"/>
                <a:ea typeface="Calibri" pitchFamily="34" charset="-122"/>
                <a:cs typeface="Calibri" pitchFamily="34" charset="-120"/>
              </a:rPr>
              <a:t>Peer leaders and force multipliers. Invite them to help.</a:t>
            </a:r>
            <a:endParaRPr lang="en-US" sz="950" dirty="0"/>
          </a:p>
        </p:txBody>
      </p:sp>
      <p:sp>
        <p:nvSpPr>
          <p:cNvPr id="28" name="Shape 26"/>
          <p:cNvSpPr/>
          <p:nvPr/>
        </p:nvSpPr>
        <p:spPr>
          <a:xfrm>
            <a:off x="5842010" y="3217316"/>
            <a:ext cx="2946380" cy="1049823"/>
          </a:xfrm>
          <a:prstGeom prst="roundRect">
            <a:avLst>
              <a:gd name="adj" fmla="val 9677"/>
            </a:avLst>
          </a:prstGeom>
          <a:solidFill>
            <a:srgbClr val="FDEFD8"/>
          </a:solidFill>
          <a:ln/>
        </p:spPr>
        <p:txBody>
          <a:bodyPr/>
          <a:lstStyle/>
          <a:p>
            <a:endParaRPr lang="en-US"/>
          </a:p>
        </p:txBody>
      </p:sp>
      <p:sp>
        <p:nvSpPr>
          <p:cNvPr id="29" name="Text 27"/>
          <p:cNvSpPr txBox="1"/>
          <p:nvPr/>
        </p:nvSpPr>
        <p:spPr>
          <a:xfrm>
            <a:off x="5994441" y="3293577"/>
            <a:ext cx="2641610" cy="406359"/>
          </a:xfrm>
          <a:prstGeom prst="rect">
            <a:avLst/>
          </a:prstGeom>
          <a:noFill/>
          <a:ln/>
        </p:spPr>
        <p:txBody>
          <a:bodyPr wrap="square" lIns="0" tIns="0" rIns="0" bIns="0" rtlCol="0" anchor="ctr"/>
          <a:lstStyle/>
          <a:p>
            <a:pPr marL="0" indent="0" algn="l">
              <a:lnSpc>
                <a:spcPct val="100000"/>
              </a:lnSpc>
              <a:buNone/>
            </a:pPr>
            <a:r>
              <a:rPr lang="en-US" sz="2400" b="1" dirty="0">
                <a:solidFill>
                  <a:srgbClr val="B87A1E"/>
                </a:solidFill>
                <a:latin typeface="Calibri" pitchFamily="34" charset="0"/>
                <a:ea typeface="Calibri" pitchFamily="34" charset="-122"/>
                <a:cs typeface="Calibri" pitchFamily="34" charset="-120"/>
              </a:rPr>
              <a:t>0.86 pts</a:t>
            </a:r>
            <a:endParaRPr lang="en-US" sz="2400" dirty="0"/>
          </a:p>
        </p:txBody>
      </p:sp>
      <p:sp>
        <p:nvSpPr>
          <p:cNvPr id="30" name="Text 28"/>
          <p:cNvSpPr txBox="1"/>
          <p:nvPr/>
        </p:nvSpPr>
        <p:spPr>
          <a:xfrm>
            <a:off x="5994441" y="3699937"/>
            <a:ext cx="2641610" cy="491033"/>
          </a:xfrm>
          <a:prstGeom prst="rect">
            <a:avLst/>
          </a:prstGeom>
          <a:noFill/>
          <a:ln/>
        </p:spPr>
        <p:txBody>
          <a:bodyPr wrap="square" lIns="0" tIns="0" rIns="0" bIns="0" rtlCol="0" anchor="t"/>
          <a:lstStyle/>
          <a:p>
            <a:pPr marL="0" indent="0" algn="l">
              <a:lnSpc>
                <a:spcPct val="100000"/>
              </a:lnSpc>
              <a:buNone/>
            </a:pPr>
            <a:r>
              <a:rPr lang="en-US" sz="950" b="1" dirty="0">
                <a:solidFill>
                  <a:srgbClr val="1A2433"/>
                </a:solidFill>
                <a:latin typeface="Calibri" pitchFamily="34" charset="0"/>
                <a:ea typeface="Calibri" pitchFamily="34" charset="-122"/>
                <a:cs typeface="Calibri" pitchFamily="34" charset="-120"/>
              </a:rPr>
              <a:t>Intent 3.24 vs. productivity 2.38</a:t>
            </a:r>
            <a:endParaRPr lang="en-US" sz="950" dirty="0"/>
          </a:p>
          <a:p>
            <a:pPr marL="0" indent="0" algn="l">
              <a:lnSpc>
                <a:spcPct val="100000"/>
              </a:lnSpc>
              <a:buNone/>
            </a:pPr>
            <a:r>
              <a:rPr lang="en-US" sz="300" dirty="0">
                <a:solidFill>
                  <a:srgbClr val="1A2433"/>
                </a:solidFill>
                <a:latin typeface="Calibri" pitchFamily="34" charset="0"/>
                <a:ea typeface="Calibri" pitchFamily="34" charset="-122"/>
                <a:cs typeface="Calibri" pitchFamily="34" charset="-120"/>
              </a:rPr>
              <a:t> </a:t>
            </a:r>
            <a:endParaRPr lang="en-US" sz="950" dirty="0"/>
          </a:p>
          <a:p>
            <a:pPr marL="0" indent="0" algn="l">
              <a:lnSpc>
                <a:spcPct val="100000"/>
              </a:lnSpc>
              <a:buNone/>
            </a:pPr>
            <a:r>
              <a:rPr lang="en-US" sz="900" dirty="0">
                <a:solidFill>
                  <a:srgbClr val="475569"/>
                </a:solidFill>
                <a:latin typeface="Calibri" pitchFamily="34" charset="0"/>
                <a:ea typeface="Calibri" pitchFamily="34" charset="-122"/>
                <a:cs typeface="Calibri" pitchFamily="34" charset="-120"/>
              </a:rPr>
              <a:t>People want to come back. Our role is to close the gap between wanting value and getting it.</a:t>
            </a:r>
            <a:endParaRPr lang="en-US" sz="950" dirty="0"/>
          </a:p>
        </p:txBody>
      </p:sp>
      <p:sp>
        <p:nvSpPr>
          <p:cNvPr id="31" name="Shape 29"/>
          <p:cNvSpPr/>
          <p:nvPr/>
        </p:nvSpPr>
        <p:spPr>
          <a:xfrm>
            <a:off x="355610" y="4444990"/>
            <a:ext cx="8432780" cy="381030"/>
          </a:xfrm>
          <a:prstGeom prst="roundRect">
            <a:avLst>
              <a:gd name="adj" fmla="val 26662"/>
            </a:avLst>
          </a:prstGeom>
          <a:solidFill>
            <a:srgbClr val="EAF0ED"/>
          </a:solidFill>
          <a:ln/>
        </p:spPr>
        <p:txBody>
          <a:bodyPr/>
          <a:lstStyle/>
          <a:p>
            <a:endParaRPr lang="en-US"/>
          </a:p>
        </p:txBody>
      </p:sp>
      <p:sp>
        <p:nvSpPr>
          <p:cNvPr id="32" name="Text 30"/>
          <p:cNvSpPr txBox="1"/>
          <p:nvPr/>
        </p:nvSpPr>
        <p:spPr>
          <a:xfrm>
            <a:off x="533370" y="4444990"/>
            <a:ext cx="8077170" cy="381030"/>
          </a:xfrm>
          <a:prstGeom prst="rect">
            <a:avLst/>
          </a:prstGeom>
          <a:noFill/>
          <a:ln/>
        </p:spPr>
        <p:txBody>
          <a:bodyPr wrap="square" lIns="0" tIns="0" rIns="0" bIns="0" rtlCol="0" anchor="ctr"/>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Most colleagues are just starting. Meet them where they are — one small win at a time.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55610" y="177759"/>
            <a:ext cx="8432780" cy="431780"/>
          </a:xfrm>
          <a:prstGeom prst="rect">
            <a:avLst/>
          </a:prstGeom>
          <a:noFill/>
          <a:ln/>
        </p:spPr>
        <p:txBody>
          <a:bodyPr wrap="square" lIns="0" tIns="0" rIns="0" bIns="0" rtlCol="0" anchor="ctr"/>
          <a:lstStyle/>
          <a:p>
            <a:pPr marL="0" indent="0" algn="l">
              <a:lnSpc>
                <a:spcPct val="95000"/>
              </a:lnSpc>
              <a:buNone/>
            </a:pPr>
            <a:r>
              <a:rPr lang="en-US" sz="2100" b="1" dirty="0">
                <a:solidFill>
                  <a:srgbClr val="2D6A4F"/>
                </a:solidFill>
                <a:latin typeface="Calibri" pitchFamily="34" charset="0"/>
                <a:ea typeface="Calibri" pitchFamily="34" charset="-122"/>
                <a:cs typeface="Calibri" pitchFamily="34" charset="-120"/>
              </a:rPr>
              <a:t>Insights into the Top Identified Barriers</a:t>
            </a:r>
            <a:endParaRPr lang="en-US" sz="2100" dirty="0"/>
          </a:p>
        </p:txBody>
      </p:sp>
      <p:sp>
        <p:nvSpPr>
          <p:cNvPr id="3" name="Text 1"/>
          <p:cNvSpPr txBox="1"/>
          <p:nvPr/>
        </p:nvSpPr>
        <p:spPr>
          <a:xfrm>
            <a:off x="355610" y="4940320"/>
            <a:ext cx="5969020" cy="139720"/>
          </a:xfrm>
          <a:prstGeom prst="rect">
            <a:avLst/>
          </a:prstGeom>
          <a:noFill/>
          <a:ln/>
        </p:spPr>
        <p:txBody>
          <a:bodyPr wrap="square" lIns="0" tIns="0" rIns="0" bIns="0" rtlCol="0" anchor="t"/>
          <a:lstStyle/>
          <a:p>
            <a:pPr marL="0" indent="0" algn="l">
              <a:lnSpc>
                <a:spcPct val="100000"/>
              </a:lnSpc>
              <a:buNone/>
            </a:pPr>
            <a:r>
              <a:rPr lang="en-US" sz="750">
                <a:solidFill>
                  <a:srgbClr val="64748B"/>
                </a:solidFill>
                <a:latin typeface="Calibri" pitchFamily="34" charset="0"/>
                <a:ea typeface="Calibri" pitchFamily="34" charset="-122"/>
                <a:cs typeface="Calibri" pitchFamily="34" charset="-120"/>
              </a:rPr>
              <a:t>  CNAIT ·  AI Awareness Survey - Bseline Data </a:t>
            </a:r>
            <a:endParaRPr lang="en-US" sz="750" dirty="0"/>
          </a:p>
        </p:txBody>
      </p:sp>
      <p:sp>
        <p:nvSpPr>
          <p:cNvPr id="4" name="Text 2"/>
          <p:cNvSpPr txBox="1"/>
          <p:nvPr/>
        </p:nvSpPr>
        <p:spPr>
          <a:xfrm>
            <a:off x="6349959" y="4940320"/>
            <a:ext cx="1879641" cy="139720"/>
          </a:xfrm>
          <a:prstGeom prst="rect">
            <a:avLst/>
          </a:prstGeom>
          <a:noFill/>
          <a:ln/>
        </p:spPr>
        <p:txBody>
          <a:bodyPr wrap="square" lIns="0" tIns="0" rIns="0" bIns="0" rtlCol="0" anchor="t"/>
          <a:lstStyle/>
          <a:p>
            <a:pPr marL="0" indent="0" algn="r">
              <a:lnSpc>
                <a:spcPct val="100000"/>
              </a:lnSpc>
              <a:buNone/>
            </a:pPr>
            <a:r>
              <a:rPr lang="en-US" sz="750" b="1">
                <a:solidFill>
                  <a:srgbClr val="B87A1E"/>
                </a:solidFill>
                <a:latin typeface="Calibri" pitchFamily="34" charset="0"/>
                <a:ea typeface="Calibri" pitchFamily="34" charset="-122"/>
                <a:cs typeface="Calibri" pitchFamily="34" charset="-120"/>
              </a:rPr>
              <a:t> </a:t>
            </a:r>
            <a:endParaRPr lang="en-US" sz="750" dirty="0"/>
          </a:p>
        </p:txBody>
      </p:sp>
      <p:sp>
        <p:nvSpPr>
          <p:cNvPr id="5" name="Text 3"/>
          <p:cNvSpPr txBox="1"/>
          <p:nvPr/>
        </p:nvSpPr>
        <p:spPr>
          <a:xfrm>
            <a:off x="8331190" y="4940320"/>
            <a:ext cx="457200" cy="139720"/>
          </a:xfrm>
          <a:prstGeom prst="rect">
            <a:avLst/>
          </a:prstGeom>
          <a:noFill/>
          <a:ln/>
        </p:spPr>
        <p:txBody>
          <a:bodyPr wrap="square" lIns="0" tIns="0" rIns="0" bIns="0" rtlCol="0" anchor="t"/>
          <a:lstStyle/>
          <a:p>
            <a:pPr marL="0" indent="0" algn="r">
              <a:lnSpc>
                <a:spcPct val="100000"/>
              </a:lnSpc>
              <a:buNone/>
            </a:pPr>
            <a:r>
              <a:rPr lang="en-US" sz="750" dirty="0">
                <a:solidFill>
                  <a:srgbClr val="64748B"/>
                </a:solidFill>
                <a:latin typeface="Calibri" pitchFamily="34" charset="0"/>
                <a:ea typeface="Calibri" pitchFamily="34" charset="-122"/>
                <a:cs typeface="Calibri" pitchFamily="34" charset="-120"/>
              </a:rPr>
              <a:t>7</a:t>
            </a:r>
            <a:endParaRPr lang="en-US" sz="750" dirty="0"/>
          </a:p>
        </p:txBody>
      </p:sp>
      <p:sp>
        <p:nvSpPr>
          <p:cNvPr id="6" name="Shape 4"/>
          <p:cNvSpPr/>
          <p:nvPr/>
        </p:nvSpPr>
        <p:spPr>
          <a:xfrm>
            <a:off x="355610" y="863559"/>
            <a:ext cx="1993941" cy="3454420"/>
          </a:xfrm>
          <a:prstGeom prst="roundRect">
            <a:avLst>
              <a:gd name="adj" fmla="val 5095"/>
            </a:avLst>
          </a:prstGeom>
          <a:solidFill>
            <a:srgbClr val="F8FAFC"/>
          </a:solidFill>
          <a:ln w="9525">
            <a:solidFill>
              <a:srgbClr val="E2E8F0"/>
            </a:solidFill>
            <a:prstDash val="solid"/>
          </a:ln>
        </p:spPr>
        <p:txBody>
          <a:bodyPr/>
          <a:lstStyle/>
          <a:p>
            <a:endParaRPr lang="en-US"/>
          </a:p>
        </p:txBody>
      </p:sp>
      <p:sp>
        <p:nvSpPr>
          <p:cNvPr id="7" name="Text 5"/>
          <p:cNvSpPr txBox="1"/>
          <p:nvPr/>
        </p:nvSpPr>
        <p:spPr>
          <a:xfrm>
            <a:off x="508041" y="965241"/>
            <a:ext cx="1689080" cy="482620"/>
          </a:xfrm>
          <a:prstGeom prst="rect">
            <a:avLst/>
          </a:prstGeom>
          <a:noFill/>
          <a:ln/>
        </p:spPr>
        <p:txBody>
          <a:bodyPr wrap="square" lIns="0" tIns="0" rIns="0" bIns="0" rtlCol="0" anchor="ctr"/>
          <a:lstStyle/>
          <a:p>
            <a:pPr marL="0" indent="0" algn="l">
              <a:lnSpc>
                <a:spcPct val="100000"/>
              </a:lnSpc>
              <a:buNone/>
            </a:pPr>
            <a:r>
              <a:rPr lang="en-US" sz="3000" b="1" dirty="0">
                <a:solidFill>
                  <a:srgbClr val="1E3A5F"/>
                </a:solidFill>
                <a:latin typeface="Calibri" pitchFamily="34" charset="0"/>
                <a:ea typeface="Calibri" pitchFamily="34" charset="-122"/>
                <a:cs typeface="Calibri" pitchFamily="34" charset="-120"/>
              </a:rPr>
              <a:t>18</a:t>
            </a:r>
            <a:endParaRPr lang="en-US" sz="3000" dirty="0"/>
          </a:p>
        </p:txBody>
      </p:sp>
      <p:sp>
        <p:nvSpPr>
          <p:cNvPr id="8" name="Text 6"/>
          <p:cNvSpPr txBox="1"/>
          <p:nvPr/>
        </p:nvSpPr>
        <p:spPr>
          <a:xfrm>
            <a:off x="508041" y="1447770"/>
            <a:ext cx="1689080" cy="152430"/>
          </a:xfrm>
          <a:prstGeom prst="rect">
            <a:avLst/>
          </a:prstGeom>
          <a:noFill/>
          <a:ln/>
        </p:spPr>
        <p:txBody>
          <a:bodyPr wrap="square" lIns="0" tIns="0" rIns="0" bIns="0" rtlCol="0" anchor="t"/>
          <a:lstStyle/>
          <a:p>
            <a:pPr marL="0" indent="0" algn="l">
              <a:lnSpc>
                <a:spcPct val="100000"/>
              </a:lnSpc>
              <a:buNone/>
            </a:pPr>
            <a:r>
              <a:rPr lang="en-US" sz="850" dirty="0">
                <a:solidFill>
                  <a:srgbClr val="64748B"/>
                </a:solidFill>
                <a:latin typeface="Calibri" pitchFamily="34" charset="0"/>
                <a:ea typeface="Calibri" pitchFamily="34" charset="-122"/>
                <a:cs typeface="Calibri" pitchFamily="34" charset="-120"/>
              </a:rPr>
              <a:t>comments</a:t>
            </a:r>
            <a:endParaRPr lang="en-US" sz="850" dirty="0"/>
          </a:p>
        </p:txBody>
      </p:sp>
      <p:sp>
        <p:nvSpPr>
          <p:cNvPr id="9" name="Text 7"/>
          <p:cNvSpPr txBox="1"/>
          <p:nvPr/>
        </p:nvSpPr>
        <p:spPr>
          <a:xfrm>
            <a:off x="508041" y="1651041"/>
            <a:ext cx="1689080" cy="406359"/>
          </a:xfrm>
          <a:prstGeom prst="rect">
            <a:avLst/>
          </a:prstGeom>
          <a:noFill/>
          <a:ln/>
        </p:spPr>
        <p:txBody>
          <a:bodyPr wrap="square" lIns="0" tIns="0" rIns="0" bIns="0" rtlCol="0" anchor="t"/>
          <a:lstStyle/>
          <a:p>
            <a:pPr marL="0" indent="0" algn="l">
              <a:lnSpc>
                <a:spcPct val="100000"/>
              </a:lnSpc>
              <a:buNone/>
            </a:pPr>
            <a:r>
              <a:rPr lang="en-US" sz="1300" b="1" dirty="0">
                <a:solidFill>
                  <a:srgbClr val="1A2433"/>
                </a:solidFill>
                <a:latin typeface="Calibri" pitchFamily="34" charset="0"/>
                <a:ea typeface="Calibri" pitchFamily="34" charset="-122"/>
                <a:cs typeface="Calibri" pitchFamily="34" charset="-120"/>
              </a:rPr>
              <a:t>Can I Trust It?</a:t>
            </a:r>
            <a:endParaRPr lang="en-US" sz="1300" dirty="0"/>
          </a:p>
        </p:txBody>
      </p:sp>
      <p:sp>
        <p:nvSpPr>
          <p:cNvPr id="10" name="Text 8"/>
          <p:cNvSpPr txBox="1"/>
          <p:nvPr/>
        </p:nvSpPr>
        <p:spPr>
          <a:xfrm>
            <a:off x="508041" y="2082820"/>
            <a:ext cx="1689080" cy="304770"/>
          </a:xfrm>
          <a:prstGeom prst="rect">
            <a:avLst/>
          </a:prstGeom>
          <a:noFill/>
          <a:ln/>
        </p:spPr>
        <p:txBody>
          <a:bodyPr wrap="square" lIns="0" tIns="0" rIns="0" bIns="0" rtlCol="0" anchor="t"/>
          <a:lstStyle/>
          <a:p>
            <a:pPr marL="0" indent="0" algn="l">
              <a:lnSpc>
                <a:spcPct val="100000"/>
              </a:lnSpc>
              <a:buNone/>
            </a:pPr>
            <a:r>
              <a:rPr lang="en-US" sz="900" b="1" dirty="0">
                <a:solidFill>
                  <a:srgbClr val="1E3A5F"/>
                </a:solidFill>
                <a:latin typeface="Calibri" pitchFamily="34" charset="0"/>
                <a:ea typeface="Calibri" pitchFamily="34" charset="-122"/>
                <a:cs typeface="Calibri" pitchFamily="34" charset="-120"/>
              </a:rPr>
              <a:t>244 chose “Lack of trust in accuracy”</a:t>
            </a:r>
            <a:endParaRPr lang="en-US" sz="900" dirty="0"/>
          </a:p>
        </p:txBody>
      </p:sp>
      <p:sp>
        <p:nvSpPr>
          <p:cNvPr id="11" name="Shape 9"/>
          <p:cNvSpPr/>
          <p:nvPr/>
        </p:nvSpPr>
        <p:spPr>
          <a:xfrm>
            <a:off x="508041" y="2438430"/>
            <a:ext cx="1689080" cy="0"/>
          </a:xfrm>
          <a:prstGeom prst="line">
            <a:avLst/>
          </a:prstGeom>
          <a:noFill/>
          <a:ln w="9525">
            <a:solidFill>
              <a:srgbClr val="E2E8F0"/>
            </a:solidFill>
            <a:prstDash val="solid"/>
          </a:ln>
        </p:spPr>
        <p:txBody>
          <a:bodyPr/>
          <a:lstStyle/>
          <a:p>
            <a:endParaRPr lang="en-US"/>
          </a:p>
        </p:txBody>
      </p:sp>
      <p:sp>
        <p:nvSpPr>
          <p:cNvPr id="12" name="Text 10"/>
          <p:cNvSpPr txBox="1"/>
          <p:nvPr/>
        </p:nvSpPr>
        <p:spPr>
          <a:xfrm>
            <a:off x="508041" y="2514600"/>
            <a:ext cx="1689080" cy="1701790"/>
          </a:xfrm>
          <a:prstGeom prst="rect">
            <a:avLst/>
          </a:prstGeom>
          <a:noFill/>
          <a:ln/>
        </p:spPr>
        <p:txBody>
          <a:bodyPr wrap="square" lIns="0" tIns="0" rIns="0" bIns="0" rtlCol="0" anchor="t"/>
          <a:lstStyle/>
          <a:p>
            <a:pPr marL="0" indent="0" algn="l">
              <a:lnSpc>
                <a:spcPct val="100000"/>
              </a:lnSpc>
              <a:buNone/>
            </a:pPr>
            <a:r>
              <a:rPr lang="en-US" sz="1050" i="1" dirty="0">
                <a:solidFill>
                  <a:srgbClr val="475569"/>
                </a:solidFill>
                <a:latin typeface="Calibri" pitchFamily="34" charset="0"/>
                <a:ea typeface="Calibri" pitchFamily="34" charset="-122"/>
                <a:cs typeface="Calibri" pitchFamily="34" charset="-120"/>
              </a:rPr>
              <a:t>“The available tools have had technical issues making them unable to complete the requested task.”</a:t>
            </a:r>
            <a:endParaRPr lang="en-US" sz="1050" dirty="0"/>
          </a:p>
          <a:p>
            <a:pPr marL="0" indent="0" algn="l">
              <a:lnSpc>
                <a:spcPct val="100000"/>
              </a:lnSpc>
              <a:buNone/>
            </a:pPr>
            <a:r>
              <a:rPr lang="en-US" sz="800" dirty="0">
                <a:solidFill>
                  <a:srgbClr val="1A2433"/>
                </a:solidFill>
                <a:latin typeface="Calibri" pitchFamily="34" charset="0"/>
                <a:ea typeface="Calibri" pitchFamily="34" charset="-122"/>
                <a:cs typeface="Calibri" pitchFamily="34" charset="-120"/>
              </a:rPr>
              <a:t> </a:t>
            </a:r>
            <a:endParaRPr lang="en-US" sz="1050" dirty="0"/>
          </a:p>
          <a:p>
            <a:pPr marL="0" indent="0" algn="l">
              <a:lnSpc>
                <a:spcPct val="100000"/>
              </a:lnSpc>
              <a:buNone/>
            </a:pPr>
            <a:r>
              <a:rPr lang="en-US" sz="1050" b="1" dirty="0">
                <a:solidFill>
                  <a:srgbClr val="1E3A5F"/>
                </a:solidFill>
                <a:latin typeface="Calibri" pitchFamily="34" charset="0"/>
                <a:ea typeface="Calibri" pitchFamily="34" charset="-122"/>
                <a:cs typeface="Calibri" pitchFamily="34" charset="-120"/>
              </a:rPr>
              <a:t>→ Share real success stories and model the habit: AI drafts, people verify.</a:t>
            </a:r>
            <a:endParaRPr lang="en-US" sz="1050" dirty="0"/>
          </a:p>
        </p:txBody>
      </p:sp>
      <p:sp>
        <p:nvSpPr>
          <p:cNvPr id="13" name="Shape 11"/>
          <p:cNvSpPr/>
          <p:nvPr/>
        </p:nvSpPr>
        <p:spPr>
          <a:xfrm>
            <a:off x="2501890" y="863559"/>
            <a:ext cx="1993941" cy="3454420"/>
          </a:xfrm>
          <a:prstGeom prst="roundRect">
            <a:avLst>
              <a:gd name="adj" fmla="val 5095"/>
            </a:avLst>
          </a:prstGeom>
          <a:solidFill>
            <a:srgbClr val="F8FAFC"/>
          </a:solidFill>
          <a:ln w="9525">
            <a:solidFill>
              <a:srgbClr val="E2E8F0"/>
            </a:solidFill>
            <a:prstDash val="solid"/>
          </a:ln>
        </p:spPr>
        <p:txBody>
          <a:bodyPr/>
          <a:lstStyle/>
          <a:p>
            <a:endParaRPr lang="en-US"/>
          </a:p>
        </p:txBody>
      </p:sp>
      <p:sp>
        <p:nvSpPr>
          <p:cNvPr id="14" name="Text 12"/>
          <p:cNvSpPr txBox="1"/>
          <p:nvPr/>
        </p:nvSpPr>
        <p:spPr>
          <a:xfrm>
            <a:off x="2654320" y="965241"/>
            <a:ext cx="1689080" cy="482620"/>
          </a:xfrm>
          <a:prstGeom prst="rect">
            <a:avLst/>
          </a:prstGeom>
          <a:noFill/>
          <a:ln/>
        </p:spPr>
        <p:txBody>
          <a:bodyPr wrap="square" lIns="0" tIns="0" rIns="0" bIns="0" rtlCol="0" anchor="ctr"/>
          <a:lstStyle/>
          <a:p>
            <a:pPr marL="0" indent="0" algn="l">
              <a:lnSpc>
                <a:spcPct val="100000"/>
              </a:lnSpc>
              <a:buNone/>
            </a:pPr>
            <a:r>
              <a:rPr lang="en-US" sz="3000" b="1" dirty="0">
                <a:solidFill>
                  <a:srgbClr val="2D6A4F"/>
                </a:solidFill>
                <a:latin typeface="Calibri" pitchFamily="34" charset="0"/>
                <a:ea typeface="Calibri" pitchFamily="34" charset="-122"/>
                <a:cs typeface="Calibri" pitchFamily="34" charset="-120"/>
              </a:rPr>
              <a:t>37</a:t>
            </a:r>
            <a:endParaRPr lang="en-US" sz="3000" dirty="0"/>
          </a:p>
        </p:txBody>
      </p:sp>
      <p:sp>
        <p:nvSpPr>
          <p:cNvPr id="15" name="Text 13"/>
          <p:cNvSpPr txBox="1"/>
          <p:nvPr/>
        </p:nvSpPr>
        <p:spPr>
          <a:xfrm>
            <a:off x="2654320" y="1447770"/>
            <a:ext cx="1689080" cy="152430"/>
          </a:xfrm>
          <a:prstGeom prst="rect">
            <a:avLst/>
          </a:prstGeom>
          <a:noFill/>
          <a:ln/>
        </p:spPr>
        <p:txBody>
          <a:bodyPr wrap="square" lIns="0" tIns="0" rIns="0" bIns="0" rtlCol="0" anchor="t"/>
          <a:lstStyle/>
          <a:p>
            <a:pPr marL="0" indent="0" algn="l">
              <a:lnSpc>
                <a:spcPct val="100000"/>
              </a:lnSpc>
              <a:buNone/>
            </a:pPr>
            <a:r>
              <a:rPr lang="en-US" sz="850" dirty="0">
                <a:solidFill>
                  <a:srgbClr val="64748B"/>
                </a:solidFill>
                <a:latin typeface="Calibri" pitchFamily="34" charset="0"/>
                <a:ea typeface="Calibri" pitchFamily="34" charset="-122"/>
                <a:cs typeface="Calibri" pitchFamily="34" charset="-120"/>
              </a:rPr>
              <a:t>comments</a:t>
            </a:r>
            <a:endParaRPr lang="en-US" sz="850" dirty="0"/>
          </a:p>
        </p:txBody>
      </p:sp>
      <p:sp>
        <p:nvSpPr>
          <p:cNvPr id="16" name="Text 14"/>
          <p:cNvSpPr txBox="1"/>
          <p:nvPr/>
        </p:nvSpPr>
        <p:spPr>
          <a:xfrm>
            <a:off x="2654320" y="1651041"/>
            <a:ext cx="1689080" cy="406359"/>
          </a:xfrm>
          <a:prstGeom prst="rect">
            <a:avLst/>
          </a:prstGeom>
          <a:noFill/>
          <a:ln/>
        </p:spPr>
        <p:txBody>
          <a:bodyPr wrap="square" lIns="0" tIns="0" rIns="0" bIns="0" rtlCol="0" anchor="t"/>
          <a:lstStyle/>
          <a:p>
            <a:pPr marL="0" indent="0" algn="l">
              <a:lnSpc>
                <a:spcPct val="100000"/>
              </a:lnSpc>
              <a:buNone/>
            </a:pPr>
            <a:r>
              <a:rPr lang="en-US" sz="1300" b="1" dirty="0">
                <a:solidFill>
                  <a:srgbClr val="1A2433"/>
                </a:solidFill>
                <a:latin typeface="Calibri" pitchFamily="34" charset="0"/>
                <a:ea typeface="Calibri" pitchFamily="34" charset="-122"/>
                <a:cs typeface="Calibri" pitchFamily="34" charset="-120"/>
              </a:rPr>
              <a:t>Show Me on My Work</a:t>
            </a:r>
            <a:endParaRPr lang="en-US" sz="1300" dirty="0"/>
          </a:p>
        </p:txBody>
      </p:sp>
      <p:sp>
        <p:nvSpPr>
          <p:cNvPr id="17" name="Text 15"/>
          <p:cNvSpPr txBox="1"/>
          <p:nvPr/>
        </p:nvSpPr>
        <p:spPr>
          <a:xfrm>
            <a:off x="2654320" y="2082820"/>
            <a:ext cx="1689080" cy="304770"/>
          </a:xfrm>
          <a:prstGeom prst="rect">
            <a:avLst/>
          </a:prstGeom>
          <a:noFill/>
          <a:ln/>
        </p:spPr>
        <p:txBody>
          <a:bodyPr wrap="square" lIns="0" tIns="0" rIns="0" bIns="0" rtlCol="0" anchor="t"/>
          <a:lstStyle/>
          <a:p>
            <a:pPr marL="0" indent="0" algn="l">
              <a:lnSpc>
                <a:spcPct val="100000"/>
              </a:lnSpc>
              <a:buNone/>
            </a:pPr>
            <a:r>
              <a:rPr lang="en-US" sz="900" b="1" dirty="0">
                <a:solidFill>
                  <a:srgbClr val="2D6A4F"/>
                </a:solidFill>
                <a:latin typeface="Calibri" pitchFamily="34" charset="0"/>
                <a:ea typeface="Calibri" pitchFamily="34" charset="-122"/>
                <a:cs typeface="Calibri" pitchFamily="34" charset="-120"/>
              </a:rPr>
              <a:t>242 chose “Lack of training”</a:t>
            </a:r>
            <a:endParaRPr lang="en-US" sz="900" dirty="0"/>
          </a:p>
        </p:txBody>
      </p:sp>
      <p:sp>
        <p:nvSpPr>
          <p:cNvPr id="18" name="Shape 16"/>
          <p:cNvSpPr/>
          <p:nvPr/>
        </p:nvSpPr>
        <p:spPr>
          <a:xfrm>
            <a:off x="2654320" y="2438430"/>
            <a:ext cx="1689080" cy="0"/>
          </a:xfrm>
          <a:prstGeom prst="line">
            <a:avLst/>
          </a:prstGeom>
          <a:noFill/>
          <a:ln w="9525">
            <a:solidFill>
              <a:srgbClr val="E2E8F0"/>
            </a:solidFill>
            <a:prstDash val="solid"/>
          </a:ln>
        </p:spPr>
        <p:txBody>
          <a:bodyPr/>
          <a:lstStyle/>
          <a:p>
            <a:endParaRPr lang="en-US"/>
          </a:p>
        </p:txBody>
      </p:sp>
      <p:sp>
        <p:nvSpPr>
          <p:cNvPr id="19" name="Text 17"/>
          <p:cNvSpPr txBox="1"/>
          <p:nvPr/>
        </p:nvSpPr>
        <p:spPr>
          <a:xfrm>
            <a:off x="2654320" y="2514600"/>
            <a:ext cx="1689080" cy="1701790"/>
          </a:xfrm>
          <a:prstGeom prst="rect">
            <a:avLst/>
          </a:prstGeom>
          <a:noFill/>
          <a:ln/>
        </p:spPr>
        <p:txBody>
          <a:bodyPr wrap="square" lIns="0" tIns="0" rIns="0" bIns="0" rtlCol="0" anchor="t"/>
          <a:lstStyle/>
          <a:p>
            <a:pPr marL="0" indent="0" algn="l">
              <a:lnSpc>
                <a:spcPct val="100000"/>
              </a:lnSpc>
              <a:buNone/>
            </a:pPr>
            <a:r>
              <a:rPr lang="en-US" sz="1050" i="1" dirty="0">
                <a:solidFill>
                  <a:srgbClr val="475569"/>
                </a:solidFill>
                <a:latin typeface="Calibri" pitchFamily="34" charset="0"/>
                <a:ea typeface="Calibri" pitchFamily="34" charset="-122"/>
                <a:cs typeface="Calibri" pitchFamily="34" charset="-120"/>
              </a:rPr>
              <a:t>“I hope to see more training and digital programs come about in the near future for our agency!”</a:t>
            </a:r>
            <a:endParaRPr lang="en-US" sz="1050" dirty="0"/>
          </a:p>
          <a:p>
            <a:pPr marL="0" indent="0" algn="l">
              <a:lnSpc>
                <a:spcPct val="100000"/>
              </a:lnSpc>
              <a:buNone/>
            </a:pPr>
            <a:r>
              <a:rPr lang="en-US" sz="800" dirty="0">
                <a:solidFill>
                  <a:srgbClr val="1A2433"/>
                </a:solidFill>
                <a:latin typeface="Calibri" pitchFamily="34" charset="0"/>
                <a:ea typeface="Calibri" pitchFamily="34" charset="-122"/>
                <a:cs typeface="Calibri" pitchFamily="34" charset="-120"/>
              </a:rPr>
              <a:t> </a:t>
            </a:r>
            <a:endParaRPr lang="en-US" sz="1050" dirty="0"/>
          </a:p>
          <a:p>
            <a:pPr marL="0" indent="0" algn="l">
              <a:lnSpc>
                <a:spcPct val="100000"/>
              </a:lnSpc>
              <a:buNone/>
            </a:pPr>
            <a:r>
              <a:rPr lang="en-US" sz="1050" b="1" dirty="0">
                <a:solidFill>
                  <a:srgbClr val="2D6A4F"/>
                </a:solidFill>
                <a:latin typeface="Calibri" pitchFamily="34" charset="0"/>
                <a:ea typeface="Calibri" pitchFamily="34" charset="-122"/>
                <a:cs typeface="Calibri" pitchFamily="34" charset="-120"/>
              </a:rPr>
              <a:t>→ Run hands-on, role-specific practice on a real task from the room.</a:t>
            </a:r>
            <a:endParaRPr lang="en-US" sz="1050" dirty="0"/>
          </a:p>
        </p:txBody>
      </p:sp>
      <p:sp>
        <p:nvSpPr>
          <p:cNvPr id="20" name="Shape 18"/>
          <p:cNvSpPr/>
          <p:nvPr/>
        </p:nvSpPr>
        <p:spPr>
          <a:xfrm>
            <a:off x="4648170" y="863559"/>
            <a:ext cx="1993941" cy="3454420"/>
          </a:xfrm>
          <a:prstGeom prst="roundRect">
            <a:avLst>
              <a:gd name="adj" fmla="val 5095"/>
            </a:avLst>
          </a:prstGeom>
          <a:solidFill>
            <a:srgbClr val="F8FAFC"/>
          </a:solidFill>
          <a:ln w="9525">
            <a:solidFill>
              <a:srgbClr val="E2E8F0"/>
            </a:solidFill>
            <a:prstDash val="solid"/>
          </a:ln>
        </p:spPr>
        <p:txBody>
          <a:bodyPr/>
          <a:lstStyle/>
          <a:p>
            <a:endParaRPr lang="en-US"/>
          </a:p>
        </p:txBody>
      </p:sp>
      <p:sp>
        <p:nvSpPr>
          <p:cNvPr id="21" name="Text 19"/>
          <p:cNvSpPr txBox="1"/>
          <p:nvPr/>
        </p:nvSpPr>
        <p:spPr>
          <a:xfrm>
            <a:off x="4800600" y="965241"/>
            <a:ext cx="1689080" cy="482620"/>
          </a:xfrm>
          <a:prstGeom prst="rect">
            <a:avLst/>
          </a:prstGeom>
          <a:noFill/>
          <a:ln/>
        </p:spPr>
        <p:txBody>
          <a:bodyPr wrap="square" lIns="0" tIns="0" rIns="0" bIns="0" rtlCol="0" anchor="ctr"/>
          <a:lstStyle/>
          <a:p>
            <a:pPr marL="0" indent="0" algn="l">
              <a:lnSpc>
                <a:spcPct val="100000"/>
              </a:lnSpc>
              <a:buNone/>
            </a:pPr>
            <a:r>
              <a:rPr lang="en-US" sz="3000" b="1" dirty="0">
                <a:solidFill>
                  <a:srgbClr val="1B5E8A"/>
                </a:solidFill>
                <a:latin typeface="Calibri" pitchFamily="34" charset="0"/>
                <a:ea typeface="Calibri" pitchFamily="34" charset="-122"/>
                <a:cs typeface="Calibri" pitchFamily="34" charset="-120"/>
              </a:rPr>
              <a:t>24</a:t>
            </a:r>
            <a:endParaRPr lang="en-US" sz="3000" dirty="0"/>
          </a:p>
        </p:txBody>
      </p:sp>
      <p:sp>
        <p:nvSpPr>
          <p:cNvPr id="22" name="Text 20"/>
          <p:cNvSpPr txBox="1"/>
          <p:nvPr/>
        </p:nvSpPr>
        <p:spPr>
          <a:xfrm>
            <a:off x="4800600" y="1447770"/>
            <a:ext cx="1689080" cy="152430"/>
          </a:xfrm>
          <a:prstGeom prst="rect">
            <a:avLst/>
          </a:prstGeom>
          <a:noFill/>
          <a:ln/>
        </p:spPr>
        <p:txBody>
          <a:bodyPr wrap="square" lIns="0" tIns="0" rIns="0" bIns="0" rtlCol="0" anchor="t"/>
          <a:lstStyle/>
          <a:p>
            <a:pPr marL="0" indent="0" algn="l">
              <a:lnSpc>
                <a:spcPct val="100000"/>
              </a:lnSpc>
              <a:buNone/>
            </a:pPr>
            <a:r>
              <a:rPr lang="en-US" sz="850" dirty="0">
                <a:solidFill>
                  <a:srgbClr val="64748B"/>
                </a:solidFill>
                <a:latin typeface="Calibri" pitchFamily="34" charset="0"/>
                <a:ea typeface="Calibri" pitchFamily="34" charset="-122"/>
                <a:cs typeface="Calibri" pitchFamily="34" charset="-120"/>
              </a:rPr>
              <a:t>comments</a:t>
            </a:r>
            <a:endParaRPr lang="en-US" sz="850" dirty="0"/>
          </a:p>
        </p:txBody>
      </p:sp>
      <p:sp>
        <p:nvSpPr>
          <p:cNvPr id="23" name="Text 21"/>
          <p:cNvSpPr txBox="1"/>
          <p:nvPr/>
        </p:nvSpPr>
        <p:spPr>
          <a:xfrm>
            <a:off x="4800600" y="1651041"/>
            <a:ext cx="1689080" cy="406359"/>
          </a:xfrm>
          <a:prstGeom prst="rect">
            <a:avLst/>
          </a:prstGeom>
          <a:noFill/>
          <a:ln/>
        </p:spPr>
        <p:txBody>
          <a:bodyPr wrap="square" lIns="0" tIns="0" rIns="0" bIns="0" rtlCol="0" anchor="t"/>
          <a:lstStyle/>
          <a:p>
            <a:pPr marL="0" indent="0" algn="l">
              <a:lnSpc>
                <a:spcPct val="100000"/>
              </a:lnSpc>
              <a:buNone/>
            </a:pPr>
            <a:r>
              <a:rPr lang="en-US" sz="1250" b="1" dirty="0">
                <a:solidFill>
                  <a:srgbClr val="1A2433"/>
                </a:solidFill>
                <a:latin typeface="Calibri" pitchFamily="34" charset="0"/>
                <a:ea typeface="Calibri" pitchFamily="34" charset="-122"/>
                <a:cs typeface="Calibri" pitchFamily="34" charset="-120"/>
              </a:rPr>
              <a:t>What Am I Allowed to Do?</a:t>
            </a:r>
            <a:endParaRPr lang="en-US" sz="1250" dirty="0"/>
          </a:p>
        </p:txBody>
      </p:sp>
      <p:sp>
        <p:nvSpPr>
          <p:cNvPr id="24" name="Text 22"/>
          <p:cNvSpPr txBox="1"/>
          <p:nvPr/>
        </p:nvSpPr>
        <p:spPr>
          <a:xfrm>
            <a:off x="4800600" y="2082820"/>
            <a:ext cx="1689080" cy="304770"/>
          </a:xfrm>
          <a:prstGeom prst="rect">
            <a:avLst/>
          </a:prstGeom>
          <a:noFill/>
          <a:ln/>
        </p:spPr>
        <p:txBody>
          <a:bodyPr wrap="square" lIns="0" tIns="0" rIns="0" bIns="0" rtlCol="0" anchor="t"/>
          <a:lstStyle/>
          <a:p>
            <a:pPr marL="0" indent="0" algn="l">
              <a:lnSpc>
                <a:spcPct val="100000"/>
              </a:lnSpc>
              <a:buNone/>
            </a:pPr>
            <a:r>
              <a:rPr lang="en-US" sz="900" b="1" dirty="0">
                <a:solidFill>
                  <a:srgbClr val="1B5E8A"/>
                </a:solidFill>
                <a:latin typeface="Calibri" pitchFamily="34" charset="0"/>
                <a:ea typeface="Calibri" pitchFamily="34" charset="-122"/>
                <a:cs typeface="Calibri" pitchFamily="34" charset="-120"/>
              </a:rPr>
              <a:t>214 chose “Unclear policies/permissions”</a:t>
            </a:r>
            <a:endParaRPr lang="en-US" sz="900" dirty="0"/>
          </a:p>
        </p:txBody>
      </p:sp>
      <p:sp>
        <p:nvSpPr>
          <p:cNvPr id="25" name="Shape 23"/>
          <p:cNvSpPr/>
          <p:nvPr/>
        </p:nvSpPr>
        <p:spPr>
          <a:xfrm>
            <a:off x="4800600" y="2438430"/>
            <a:ext cx="1689080" cy="0"/>
          </a:xfrm>
          <a:prstGeom prst="line">
            <a:avLst/>
          </a:prstGeom>
          <a:noFill/>
          <a:ln w="9525">
            <a:solidFill>
              <a:srgbClr val="E2E8F0"/>
            </a:solidFill>
            <a:prstDash val="solid"/>
          </a:ln>
        </p:spPr>
        <p:txBody>
          <a:bodyPr/>
          <a:lstStyle/>
          <a:p>
            <a:endParaRPr lang="en-US"/>
          </a:p>
        </p:txBody>
      </p:sp>
      <p:sp>
        <p:nvSpPr>
          <p:cNvPr id="26" name="Text 24"/>
          <p:cNvSpPr txBox="1"/>
          <p:nvPr/>
        </p:nvSpPr>
        <p:spPr>
          <a:xfrm>
            <a:off x="4800600" y="2514600"/>
            <a:ext cx="1689080" cy="1701790"/>
          </a:xfrm>
          <a:prstGeom prst="rect">
            <a:avLst/>
          </a:prstGeom>
          <a:noFill/>
          <a:ln/>
        </p:spPr>
        <p:txBody>
          <a:bodyPr wrap="square" lIns="0" tIns="0" rIns="0" bIns="0" rtlCol="0" anchor="t"/>
          <a:lstStyle/>
          <a:p>
            <a:pPr marL="0" indent="0" algn="l">
              <a:lnSpc>
                <a:spcPct val="100000"/>
              </a:lnSpc>
              <a:buNone/>
            </a:pPr>
            <a:r>
              <a:rPr lang="en-US" sz="1050" i="1" dirty="0">
                <a:solidFill>
                  <a:srgbClr val="475569"/>
                </a:solidFill>
                <a:latin typeface="Calibri" pitchFamily="34" charset="0"/>
                <a:ea typeface="Calibri" pitchFamily="34" charset="-122"/>
                <a:cs typeface="Calibri" pitchFamily="34" charset="-120"/>
              </a:rPr>
              <a:t>“I have concerns that we have not received guidance on the ethical use of AI to generate content.”</a:t>
            </a:r>
            <a:endParaRPr lang="en-US" sz="1050" dirty="0"/>
          </a:p>
          <a:p>
            <a:pPr marL="0" indent="0" algn="l">
              <a:lnSpc>
                <a:spcPct val="100000"/>
              </a:lnSpc>
              <a:buNone/>
            </a:pPr>
            <a:r>
              <a:rPr lang="en-US" sz="800" dirty="0">
                <a:solidFill>
                  <a:srgbClr val="1A2433"/>
                </a:solidFill>
                <a:latin typeface="Calibri" pitchFamily="34" charset="0"/>
                <a:ea typeface="Calibri" pitchFamily="34" charset="-122"/>
                <a:cs typeface="Calibri" pitchFamily="34" charset="-120"/>
              </a:rPr>
              <a:t> </a:t>
            </a:r>
            <a:endParaRPr lang="en-US" sz="1050" dirty="0"/>
          </a:p>
          <a:p>
            <a:pPr marL="0" indent="0" algn="l">
              <a:lnSpc>
                <a:spcPct val="100000"/>
              </a:lnSpc>
              <a:buNone/>
            </a:pPr>
            <a:r>
              <a:rPr lang="en-US" sz="1050" b="1" dirty="0">
                <a:solidFill>
                  <a:srgbClr val="1B5E8A"/>
                </a:solidFill>
                <a:latin typeface="Calibri" pitchFamily="34" charset="0"/>
                <a:ea typeface="Calibri" pitchFamily="34" charset="-122"/>
                <a:cs typeface="Calibri" pitchFamily="34" charset="-120"/>
              </a:rPr>
              <a:t>→ Share the plain-language rules in every session and relay the questions you can’t answer.</a:t>
            </a:r>
            <a:endParaRPr lang="en-US" sz="1050" dirty="0"/>
          </a:p>
        </p:txBody>
      </p:sp>
      <p:sp>
        <p:nvSpPr>
          <p:cNvPr id="27" name="Shape 25"/>
          <p:cNvSpPr/>
          <p:nvPr/>
        </p:nvSpPr>
        <p:spPr>
          <a:xfrm>
            <a:off x="6794541" y="863559"/>
            <a:ext cx="1993941" cy="3454420"/>
          </a:xfrm>
          <a:prstGeom prst="roundRect">
            <a:avLst>
              <a:gd name="adj" fmla="val 5095"/>
            </a:avLst>
          </a:prstGeom>
          <a:solidFill>
            <a:srgbClr val="F8FAFC"/>
          </a:solidFill>
          <a:ln w="9525">
            <a:solidFill>
              <a:srgbClr val="E2E8F0"/>
            </a:solidFill>
            <a:prstDash val="solid"/>
          </a:ln>
        </p:spPr>
        <p:txBody>
          <a:bodyPr/>
          <a:lstStyle/>
          <a:p>
            <a:endParaRPr lang="en-US"/>
          </a:p>
        </p:txBody>
      </p:sp>
      <p:sp>
        <p:nvSpPr>
          <p:cNvPr id="28" name="Text 26"/>
          <p:cNvSpPr txBox="1"/>
          <p:nvPr/>
        </p:nvSpPr>
        <p:spPr>
          <a:xfrm>
            <a:off x="6946880" y="965241"/>
            <a:ext cx="1689080" cy="482620"/>
          </a:xfrm>
          <a:prstGeom prst="rect">
            <a:avLst/>
          </a:prstGeom>
          <a:noFill/>
          <a:ln/>
        </p:spPr>
        <p:txBody>
          <a:bodyPr wrap="square" lIns="0" tIns="0" rIns="0" bIns="0" rtlCol="0" anchor="ctr"/>
          <a:lstStyle/>
          <a:p>
            <a:pPr marL="0" indent="0" algn="l">
              <a:lnSpc>
                <a:spcPct val="100000"/>
              </a:lnSpc>
              <a:buNone/>
            </a:pPr>
            <a:r>
              <a:rPr lang="en-US" sz="3000" b="1" dirty="0">
                <a:solidFill>
                  <a:srgbClr val="B87A1E"/>
                </a:solidFill>
                <a:latin typeface="Calibri" pitchFamily="34" charset="0"/>
                <a:ea typeface="Calibri" pitchFamily="34" charset="-122"/>
                <a:cs typeface="Calibri" pitchFamily="34" charset="-120"/>
              </a:rPr>
              <a:t>21</a:t>
            </a:r>
            <a:endParaRPr lang="en-US" sz="3000" dirty="0"/>
          </a:p>
        </p:txBody>
      </p:sp>
      <p:sp>
        <p:nvSpPr>
          <p:cNvPr id="29" name="Text 27"/>
          <p:cNvSpPr txBox="1"/>
          <p:nvPr/>
        </p:nvSpPr>
        <p:spPr>
          <a:xfrm>
            <a:off x="6946880" y="1447770"/>
            <a:ext cx="1689080" cy="152430"/>
          </a:xfrm>
          <a:prstGeom prst="rect">
            <a:avLst/>
          </a:prstGeom>
          <a:noFill/>
          <a:ln/>
        </p:spPr>
        <p:txBody>
          <a:bodyPr wrap="square" lIns="0" tIns="0" rIns="0" bIns="0" rtlCol="0" anchor="t"/>
          <a:lstStyle/>
          <a:p>
            <a:pPr marL="0" indent="0" algn="l">
              <a:lnSpc>
                <a:spcPct val="100000"/>
              </a:lnSpc>
              <a:buNone/>
            </a:pPr>
            <a:r>
              <a:rPr lang="en-US" sz="850" dirty="0">
                <a:solidFill>
                  <a:srgbClr val="64748B"/>
                </a:solidFill>
                <a:latin typeface="Calibri" pitchFamily="34" charset="0"/>
                <a:ea typeface="Calibri" pitchFamily="34" charset="-122"/>
                <a:cs typeface="Calibri" pitchFamily="34" charset="-120"/>
              </a:rPr>
              <a:t>comments</a:t>
            </a:r>
            <a:endParaRPr lang="en-US" sz="850" dirty="0"/>
          </a:p>
        </p:txBody>
      </p:sp>
      <p:sp>
        <p:nvSpPr>
          <p:cNvPr id="30" name="Text 28"/>
          <p:cNvSpPr txBox="1"/>
          <p:nvPr/>
        </p:nvSpPr>
        <p:spPr>
          <a:xfrm>
            <a:off x="6946880" y="1651041"/>
            <a:ext cx="1689080" cy="406359"/>
          </a:xfrm>
          <a:prstGeom prst="rect">
            <a:avLst/>
          </a:prstGeom>
          <a:noFill/>
          <a:ln/>
        </p:spPr>
        <p:txBody>
          <a:bodyPr wrap="square" lIns="0" tIns="0" rIns="0" bIns="0" rtlCol="0" anchor="t"/>
          <a:lstStyle/>
          <a:p>
            <a:pPr marL="0" indent="0" algn="l">
              <a:lnSpc>
                <a:spcPct val="100000"/>
              </a:lnSpc>
              <a:buNone/>
            </a:pPr>
            <a:r>
              <a:rPr lang="en-US" sz="1300" b="1" dirty="0">
                <a:solidFill>
                  <a:srgbClr val="1A2433"/>
                </a:solidFill>
                <a:latin typeface="Calibri" pitchFamily="34" charset="0"/>
                <a:ea typeface="Calibri" pitchFamily="34" charset="-122"/>
                <a:cs typeface="Calibri" pitchFamily="34" charset="-120"/>
              </a:rPr>
              <a:t>Build It Into the Work</a:t>
            </a:r>
            <a:endParaRPr lang="en-US" sz="1300" dirty="0"/>
          </a:p>
        </p:txBody>
      </p:sp>
      <p:sp>
        <p:nvSpPr>
          <p:cNvPr id="31" name="Text 29"/>
          <p:cNvSpPr txBox="1"/>
          <p:nvPr/>
        </p:nvSpPr>
        <p:spPr>
          <a:xfrm>
            <a:off x="6946880" y="2082820"/>
            <a:ext cx="1689080" cy="304770"/>
          </a:xfrm>
          <a:prstGeom prst="rect">
            <a:avLst/>
          </a:prstGeom>
          <a:noFill/>
          <a:ln/>
        </p:spPr>
        <p:txBody>
          <a:bodyPr wrap="square" lIns="0" tIns="0" rIns="0" bIns="0" rtlCol="0" anchor="t"/>
          <a:lstStyle/>
          <a:p>
            <a:pPr marL="0" indent="0" algn="l">
              <a:lnSpc>
                <a:spcPct val="100000"/>
              </a:lnSpc>
              <a:buNone/>
            </a:pPr>
            <a:r>
              <a:rPr lang="en-US" sz="900" b="1" dirty="0">
                <a:solidFill>
                  <a:srgbClr val="B87A1E"/>
                </a:solidFill>
                <a:latin typeface="Calibri" pitchFamily="34" charset="0"/>
                <a:ea typeface="Calibri" pitchFamily="34" charset="-122"/>
                <a:cs typeface="Calibri" pitchFamily="34" charset="-120"/>
              </a:rPr>
              <a:t>164 rate themselves Practitioner or above</a:t>
            </a:r>
            <a:endParaRPr lang="en-US" sz="900" dirty="0"/>
          </a:p>
        </p:txBody>
      </p:sp>
      <p:sp>
        <p:nvSpPr>
          <p:cNvPr id="32" name="Shape 30"/>
          <p:cNvSpPr/>
          <p:nvPr/>
        </p:nvSpPr>
        <p:spPr>
          <a:xfrm>
            <a:off x="6946880" y="2438430"/>
            <a:ext cx="1689080" cy="0"/>
          </a:xfrm>
          <a:prstGeom prst="line">
            <a:avLst/>
          </a:prstGeom>
          <a:noFill/>
          <a:ln w="9525">
            <a:solidFill>
              <a:srgbClr val="E2E8F0"/>
            </a:solidFill>
            <a:prstDash val="solid"/>
          </a:ln>
        </p:spPr>
        <p:txBody>
          <a:bodyPr/>
          <a:lstStyle/>
          <a:p>
            <a:endParaRPr lang="en-US"/>
          </a:p>
        </p:txBody>
      </p:sp>
      <p:sp>
        <p:nvSpPr>
          <p:cNvPr id="33" name="Text 31"/>
          <p:cNvSpPr txBox="1"/>
          <p:nvPr/>
        </p:nvSpPr>
        <p:spPr>
          <a:xfrm>
            <a:off x="6946880" y="2514600"/>
            <a:ext cx="1689080" cy="1701790"/>
          </a:xfrm>
          <a:prstGeom prst="rect">
            <a:avLst/>
          </a:prstGeom>
          <a:noFill/>
          <a:ln/>
        </p:spPr>
        <p:txBody>
          <a:bodyPr wrap="square" lIns="0" tIns="0" rIns="0" bIns="0" rtlCol="0" anchor="t"/>
          <a:lstStyle/>
          <a:p>
            <a:pPr marL="0" indent="0" algn="l">
              <a:lnSpc>
                <a:spcPct val="100000"/>
              </a:lnSpc>
              <a:buNone/>
            </a:pPr>
            <a:r>
              <a:rPr lang="en-US" sz="1050" i="1" dirty="0">
                <a:solidFill>
                  <a:srgbClr val="475569"/>
                </a:solidFill>
                <a:latin typeface="Calibri" pitchFamily="34" charset="0"/>
                <a:ea typeface="Calibri" pitchFamily="34" charset="-122"/>
                <a:cs typeface="Calibri" pitchFamily="34" charset="-120"/>
              </a:rPr>
              <a:t>“The availability of robust tools to create bots and agentic workflows would be greatly beneficial.”</a:t>
            </a:r>
            <a:endParaRPr lang="en-US" sz="1050" dirty="0"/>
          </a:p>
          <a:p>
            <a:pPr marL="0" indent="0" algn="l">
              <a:lnSpc>
                <a:spcPct val="100000"/>
              </a:lnSpc>
              <a:buNone/>
            </a:pPr>
            <a:r>
              <a:rPr lang="en-US" sz="800" dirty="0">
                <a:solidFill>
                  <a:srgbClr val="1A2433"/>
                </a:solidFill>
                <a:latin typeface="Calibri" pitchFamily="34" charset="0"/>
                <a:ea typeface="Calibri" pitchFamily="34" charset="-122"/>
                <a:cs typeface="Calibri" pitchFamily="34" charset="-120"/>
              </a:rPr>
              <a:t> </a:t>
            </a:r>
            <a:endParaRPr lang="en-US" sz="1050" dirty="0"/>
          </a:p>
          <a:p>
            <a:pPr marL="0" indent="0" algn="l">
              <a:lnSpc>
                <a:spcPct val="100000"/>
              </a:lnSpc>
              <a:buNone/>
            </a:pPr>
            <a:r>
              <a:rPr lang="en-US" sz="1050" b="1" dirty="0">
                <a:solidFill>
                  <a:srgbClr val="B87A1E"/>
                </a:solidFill>
                <a:latin typeface="Calibri" pitchFamily="34" charset="0"/>
                <a:ea typeface="Calibri" pitchFamily="34" charset="-122"/>
                <a:cs typeface="Calibri" pitchFamily="34" charset="-120"/>
              </a:rPr>
              <a:t>→ Invite power users to the AI Builders group and log their automation ideas.</a:t>
            </a:r>
            <a:endParaRPr lang="en-US" sz="1050" dirty="0"/>
          </a:p>
        </p:txBody>
      </p:sp>
      <p:sp>
        <p:nvSpPr>
          <p:cNvPr id="34" name="Shape 32"/>
          <p:cNvSpPr/>
          <p:nvPr/>
        </p:nvSpPr>
        <p:spPr>
          <a:xfrm>
            <a:off x="355610" y="4444990"/>
            <a:ext cx="8432780" cy="381030"/>
          </a:xfrm>
          <a:prstGeom prst="roundRect">
            <a:avLst>
              <a:gd name="adj" fmla="val 26662"/>
            </a:avLst>
          </a:prstGeom>
          <a:solidFill>
            <a:srgbClr val="E9EBEF"/>
          </a:solidFill>
          <a:ln/>
        </p:spPr>
        <p:txBody>
          <a:bodyPr/>
          <a:lstStyle/>
          <a:p>
            <a:endParaRPr lang="en-US"/>
          </a:p>
        </p:txBody>
      </p:sp>
      <p:sp>
        <p:nvSpPr>
          <p:cNvPr id="35" name="Text 33"/>
          <p:cNvSpPr txBox="1"/>
          <p:nvPr/>
        </p:nvSpPr>
        <p:spPr>
          <a:xfrm>
            <a:off x="533370" y="4444990"/>
            <a:ext cx="8077170" cy="381030"/>
          </a:xfrm>
          <a:prstGeom prst="rect">
            <a:avLst/>
          </a:prstGeom>
          <a:noFill/>
          <a:ln/>
        </p:spPr>
        <p:txBody>
          <a:bodyPr wrap="square" lIns="0" tIns="0" rIns="0" bIns="0" rtlCol="0" anchor="ctr"/>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Every barrier has an action we can take this month.</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55610" y="177759"/>
            <a:ext cx="8432780" cy="431780"/>
          </a:xfrm>
          <a:prstGeom prst="rect">
            <a:avLst/>
          </a:prstGeom>
          <a:noFill/>
          <a:ln/>
        </p:spPr>
        <p:txBody>
          <a:bodyPr wrap="square" lIns="0" tIns="0" rIns="0" bIns="0" rtlCol="0" anchor="ctr"/>
          <a:lstStyle/>
          <a:p>
            <a:pPr marL="0" indent="0" algn="l">
              <a:lnSpc>
                <a:spcPct val="95000"/>
              </a:lnSpc>
              <a:buNone/>
            </a:pPr>
            <a:r>
              <a:rPr lang="en-US" sz="2100" b="1" dirty="0">
                <a:solidFill>
                  <a:srgbClr val="1E3A5F"/>
                </a:solidFill>
                <a:latin typeface="Calibri" pitchFamily="34" charset="0"/>
                <a:ea typeface="Calibri" pitchFamily="34" charset="-122"/>
                <a:cs typeface="Calibri" pitchFamily="34" charset="-120"/>
              </a:rPr>
              <a:t>How Employees Use AI Today + What They Asked For</a:t>
            </a:r>
            <a:endParaRPr lang="en-US" sz="2100" dirty="0"/>
          </a:p>
        </p:txBody>
      </p:sp>
      <p:sp>
        <p:nvSpPr>
          <p:cNvPr id="3" name="Text 1"/>
          <p:cNvSpPr txBox="1"/>
          <p:nvPr/>
        </p:nvSpPr>
        <p:spPr>
          <a:xfrm>
            <a:off x="355610" y="4940320"/>
            <a:ext cx="5969020" cy="139720"/>
          </a:xfrm>
          <a:prstGeom prst="rect">
            <a:avLst/>
          </a:prstGeom>
          <a:noFill/>
          <a:ln/>
        </p:spPr>
        <p:txBody>
          <a:bodyPr wrap="square" lIns="0" tIns="0" rIns="0" bIns="0" rtlCol="0" anchor="t"/>
          <a:lstStyle/>
          <a:p>
            <a:pPr marL="0" indent="0" algn="l">
              <a:lnSpc>
                <a:spcPct val="100000"/>
              </a:lnSpc>
              <a:buNone/>
            </a:pPr>
            <a:r>
              <a:rPr lang="en-US" sz="750">
                <a:solidFill>
                  <a:srgbClr val="64748B"/>
                </a:solidFill>
                <a:latin typeface="Calibri" pitchFamily="34" charset="0"/>
                <a:ea typeface="Calibri" pitchFamily="34" charset="-122"/>
                <a:cs typeface="Calibri" pitchFamily="34" charset="-120"/>
              </a:rPr>
              <a:t>  CNAIT ·  AI Awareness Survey - Bseline Data </a:t>
            </a:r>
            <a:endParaRPr lang="en-US" sz="750" dirty="0"/>
          </a:p>
        </p:txBody>
      </p:sp>
      <p:sp>
        <p:nvSpPr>
          <p:cNvPr id="4" name="Text 2"/>
          <p:cNvSpPr txBox="1"/>
          <p:nvPr/>
        </p:nvSpPr>
        <p:spPr>
          <a:xfrm>
            <a:off x="6349959" y="4940320"/>
            <a:ext cx="1879641" cy="139720"/>
          </a:xfrm>
          <a:prstGeom prst="rect">
            <a:avLst/>
          </a:prstGeom>
          <a:noFill/>
          <a:ln/>
        </p:spPr>
        <p:txBody>
          <a:bodyPr wrap="square" lIns="0" tIns="0" rIns="0" bIns="0" rtlCol="0" anchor="t"/>
          <a:lstStyle/>
          <a:p>
            <a:pPr marL="0" indent="0" algn="r">
              <a:lnSpc>
                <a:spcPct val="100000"/>
              </a:lnSpc>
              <a:buNone/>
            </a:pPr>
            <a:r>
              <a:rPr lang="en-US" sz="750" b="1">
                <a:solidFill>
                  <a:srgbClr val="B87A1E"/>
                </a:solidFill>
                <a:latin typeface="Calibri" pitchFamily="34" charset="0"/>
                <a:ea typeface="Calibri" pitchFamily="34" charset="-122"/>
                <a:cs typeface="Calibri" pitchFamily="34" charset="-120"/>
              </a:rPr>
              <a:t> </a:t>
            </a:r>
            <a:endParaRPr lang="en-US" sz="750" dirty="0"/>
          </a:p>
        </p:txBody>
      </p:sp>
      <p:sp>
        <p:nvSpPr>
          <p:cNvPr id="5" name="Text 3"/>
          <p:cNvSpPr txBox="1"/>
          <p:nvPr/>
        </p:nvSpPr>
        <p:spPr>
          <a:xfrm>
            <a:off x="8331190" y="4940320"/>
            <a:ext cx="457200" cy="139720"/>
          </a:xfrm>
          <a:prstGeom prst="rect">
            <a:avLst/>
          </a:prstGeom>
          <a:noFill/>
          <a:ln/>
        </p:spPr>
        <p:txBody>
          <a:bodyPr wrap="square" lIns="0" tIns="0" rIns="0" bIns="0" rtlCol="0" anchor="t"/>
          <a:lstStyle/>
          <a:p>
            <a:pPr marL="0" indent="0" algn="r">
              <a:lnSpc>
                <a:spcPct val="100000"/>
              </a:lnSpc>
              <a:buNone/>
            </a:pPr>
            <a:r>
              <a:rPr lang="en-US" sz="750" dirty="0">
                <a:solidFill>
                  <a:srgbClr val="64748B"/>
                </a:solidFill>
                <a:latin typeface="Calibri" pitchFamily="34" charset="0"/>
                <a:ea typeface="Calibri" pitchFamily="34" charset="-122"/>
                <a:cs typeface="Calibri" pitchFamily="34" charset="-120"/>
              </a:rPr>
              <a:t>8</a:t>
            </a:r>
            <a:endParaRPr lang="en-US" sz="750" dirty="0"/>
          </a:p>
        </p:txBody>
      </p:sp>
      <p:sp>
        <p:nvSpPr>
          <p:cNvPr id="6" name="Text 4"/>
          <p:cNvSpPr txBox="1"/>
          <p:nvPr/>
        </p:nvSpPr>
        <p:spPr>
          <a:xfrm>
            <a:off x="355610" y="838230"/>
            <a:ext cx="4826020" cy="203180"/>
          </a:xfrm>
          <a:prstGeom prst="rect">
            <a:avLst/>
          </a:prstGeom>
          <a:noFill/>
          <a:ln/>
        </p:spPr>
        <p:txBody>
          <a:bodyPr wrap="square" lIns="0" tIns="0" rIns="0" bIns="0" rtlCol="0" anchor="t"/>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Tasks people used AI for in the last 60 days (of 491)</a:t>
            </a:r>
            <a:endParaRPr lang="en-US" sz="1100" dirty="0"/>
          </a:p>
        </p:txBody>
      </p:sp>
      <p:graphicFrame>
        <p:nvGraphicFramePr>
          <p:cNvPr id="7" name="Chart 0"/>
          <p:cNvGraphicFramePr/>
          <p:nvPr/>
        </p:nvGraphicFramePr>
        <p:xfrm>
          <a:off x="355610" y="1092159"/>
          <a:ext cx="4826020" cy="29972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355610" y="4114800"/>
            <a:ext cx="4826020" cy="177759"/>
          </a:xfrm>
          <a:prstGeom prst="rect">
            <a:avLst/>
          </a:prstGeom>
          <a:noFill/>
          <a:ln/>
        </p:spPr>
        <p:txBody>
          <a:bodyPr wrap="square" lIns="0" tIns="0" rIns="0" bIns="0" rtlCol="0" anchor="t"/>
          <a:lstStyle/>
          <a:p>
            <a:pPr marL="0" indent="0" algn="l">
              <a:lnSpc>
                <a:spcPct val="100000"/>
              </a:lnSpc>
              <a:buNone/>
            </a:pPr>
            <a:r>
              <a:rPr lang="en-US" sz="900" i="1" dirty="0">
                <a:solidFill>
                  <a:srgbClr val="64748B"/>
                </a:solidFill>
                <a:latin typeface="Calibri" pitchFamily="34" charset="0"/>
                <a:ea typeface="Calibri" pitchFamily="34" charset="-122"/>
                <a:cs typeface="Calibri" pitchFamily="34" charset="-120"/>
              </a:rPr>
              <a:t>136 people (28%) said they don’t use AI for any task yet.</a:t>
            </a:r>
            <a:endParaRPr lang="en-US" sz="900" dirty="0"/>
          </a:p>
        </p:txBody>
      </p:sp>
      <p:sp>
        <p:nvSpPr>
          <p:cNvPr id="9" name="Text 6"/>
          <p:cNvSpPr txBox="1"/>
          <p:nvPr/>
        </p:nvSpPr>
        <p:spPr>
          <a:xfrm>
            <a:off x="5486400" y="838230"/>
            <a:ext cx="3301990" cy="203180"/>
          </a:xfrm>
          <a:prstGeom prst="rect">
            <a:avLst/>
          </a:prstGeom>
          <a:noFill/>
          <a:ln/>
        </p:spPr>
        <p:txBody>
          <a:bodyPr wrap="square" lIns="0" tIns="0" rIns="0" bIns="0" rtlCol="0" anchor="t"/>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What they asked for</a:t>
            </a:r>
            <a:endParaRPr lang="en-US" sz="1100" dirty="0"/>
          </a:p>
        </p:txBody>
      </p:sp>
      <p:sp>
        <p:nvSpPr>
          <p:cNvPr id="10" name="Shape 7"/>
          <p:cNvSpPr/>
          <p:nvPr/>
        </p:nvSpPr>
        <p:spPr>
          <a:xfrm>
            <a:off x="5486400" y="1143000"/>
            <a:ext cx="355610" cy="355610"/>
          </a:xfrm>
          <a:prstGeom prst="ellipse">
            <a:avLst/>
          </a:prstGeom>
          <a:solidFill>
            <a:srgbClr val="1E3A5F"/>
          </a:solidFill>
          <a:ln/>
        </p:spPr>
        <p:txBody>
          <a:bodyPr/>
          <a:lstStyle/>
          <a:p>
            <a:endParaRPr lang="en-US"/>
          </a:p>
        </p:txBody>
      </p:sp>
      <p:sp>
        <p:nvSpPr>
          <p:cNvPr id="11" name="Text 8"/>
          <p:cNvSpPr txBox="1"/>
          <p:nvPr/>
        </p:nvSpPr>
        <p:spPr>
          <a:xfrm>
            <a:off x="5486400" y="1143000"/>
            <a:ext cx="355610" cy="35561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5994441" y="1117580"/>
            <a:ext cx="2794041" cy="381030"/>
          </a:xfrm>
          <a:prstGeom prst="rect">
            <a:avLst/>
          </a:prstGeom>
          <a:noFill/>
          <a:ln/>
        </p:spPr>
        <p:txBody>
          <a:bodyPr wrap="square" lIns="0" tIns="0" rIns="0" bIns="0" rtlCol="0" anchor="ctr"/>
          <a:lstStyle/>
          <a:p>
            <a:pPr marL="0" indent="0" algn="l">
              <a:lnSpc>
                <a:spcPct val="100000"/>
              </a:lnSpc>
              <a:buNone/>
            </a:pPr>
            <a:r>
              <a:rPr lang="en-US" sz="1250" b="1" dirty="0">
                <a:solidFill>
                  <a:srgbClr val="1A2433"/>
                </a:solidFill>
                <a:latin typeface="Calibri" pitchFamily="34" charset="0"/>
                <a:ea typeface="Calibri" pitchFamily="34" charset="-122"/>
                <a:cs typeface="Calibri" pitchFamily="34" charset="-120"/>
              </a:rPr>
              <a:t>Hands-On Training</a:t>
            </a:r>
            <a:endParaRPr lang="en-US" sz="1250" dirty="0"/>
          </a:p>
        </p:txBody>
      </p:sp>
      <p:sp>
        <p:nvSpPr>
          <p:cNvPr id="13" name="Text 10"/>
          <p:cNvSpPr txBox="1"/>
          <p:nvPr/>
        </p:nvSpPr>
        <p:spPr>
          <a:xfrm>
            <a:off x="5994441" y="1524030"/>
            <a:ext cx="2794041" cy="516453"/>
          </a:xfrm>
          <a:prstGeom prst="rect">
            <a:avLst/>
          </a:prstGeom>
          <a:noFill/>
          <a:ln/>
        </p:spPr>
        <p:txBody>
          <a:bodyPr wrap="square" lIns="0" tIns="0" rIns="0" bIns="0" rtlCol="0" anchor="t"/>
          <a:lstStyle/>
          <a:p>
            <a:pPr marL="0" indent="0" algn="l">
              <a:lnSpc>
                <a:spcPct val="100000"/>
              </a:lnSpc>
              <a:buNone/>
            </a:pPr>
            <a:r>
              <a:rPr lang="en-US" sz="1050" dirty="0">
                <a:solidFill>
                  <a:srgbClr val="475569"/>
                </a:solidFill>
                <a:latin typeface="Calibri" pitchFamily="34" charset="0"/>
                <a:ea typeface="Calibri" pitchFamily="34" charset="-122"/>
                <a:cs typeface="Calibri" pitchFamily="34" charset="-120"/>
              </a:rPr>
              <a:t>271 people (55%) asked for it — the top request. Practice on real tasks beats slides.</a:t>
            </a:r>
            <a:endParaRPr lang="en-US" sz="1050" dirty="0"/>
          </a:p>
        </p:txBody>
      </p:sp>
      <p:sp>
        <p:nvSpPr>
          <p:cNvPr id="14" name="Shape 11"/>
          <p:cNvSpPr/>
          <p:nvPr/>
        </p:nvSpPr>
        <p:spPr>
          <a:xfrm>
            <a:off x="5486400" y="2243663"/>
            <a:ext cx="355610" cy="355610"/>
          </a:xfrm>
          <a:prstGeom prst="ellipse">
            <a:avLst/>
          </a:prstGeom>
          <a:solidFill>
            <a:srgbClr val="2D6A4F"/>
          </a:solidFill>
          <a:ln/>
        </p:spPr>
        <p:txBody>
          <a:bodyPr/>
          <a:lstStyle/>
          <a:p>
            <a:endParaRPr lang="en-US"/>
          </a:p>
        </p:txBody>
      </p:sp>
      <p:sp>
        <p:nvSpPr>
          <p:cNvPr id="15" name="Text 12"/>
          <p:cNvSpPr txBox="1"/>
          <p:nvPr/>
        </p:nvSpPr>
        <p:spPr>
          <a:xfrm>
            <a:off x="5486400" y="2243663"/>
            <a:ext cx="355610" cy="35561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5994441" y="2218243"/>
            <a:ext cx="2794041" cy="381030"/>
          </a:xfrm>
          <a:prstGeom prst="rect">
            <a:avLst/>
          </a:prstGeom>
          <a:noFill/>
          <a:ln/>
        </p:spPr>
        <p:txBody>
          <a:bodyPr wrap="square" lIns="0" tIns="0" rIns="0" bIns="0" rtlCol="0" anchor="ctr"/>
          <a:lstStyle/>
          <a:p>
            <a:pPr marL="0" indent="0" algn="l">
              <a:lnSpc>
                <a:spcPct val="100000"/>
              </a:lnSpc>
              <a:buNone/>
            </a:pPr>
            <a:r>
              <a:rPr lang="en-US" sz="1250" b="1" dirty="0">
                <a:solidFill>
                  <a:srgbClr val="1A2433"/>
                </a:solidFill>
                <a:latin typeface="Calibri" pitchFamily="34" charset="0"/>
                <a:ea typeface="Calibri" pitchFamily="34" charset="-122"/>
                <a:cs typeface="Calibri" pitchFamily="34" charset="-120"/>
              </a:rPr>
              <a:t>Guides &amp; Use Cases</a:t>
            </a:r>
            <a:endParaRPr lang="en-US" sz="1250" dirty="0"/>
          </a:p>
        </p:txBody>
      </p:sp>
      <p:sp>
        <p:nvSpPr>
          <p:cNvPr id="17" name="Text 14"/>
          <p:cNvSpPr txBox="1"/>
          <p:nvPr/>
        </p:nvSpPr>
        <p:spPr>
          <a:xfrm>
            <a:off x="5994441" y="2624694"/>
            <a:ext cx="2794041" cy="516453"/>
          </a:xfrm>
          <a:prstGeom prst="rect">
            <a:avLst/>
          </a:prstGeom>
          <a:noFill/>
          <a:ln/>
        </p:spPr>
        <p:txBody>
          <a:bodyPr wrap="square" lIns="0" tIns="0" rIns="0" bIns="0" rtlCol="0" anchor="t"/>
          <a:lstStyle/>
          <a:p>
            <a:pPr marL="0" indent="0" algn="l">
              <a:lnSpc>
                <a:spcPct val="100000"/>
              </a:lnSpc>
              <a:buNone/>
            </a:pPr>
            <a:r>
              <a:rPr lang="en-US" sz="1050" dirty="0">
                <a:solidFill>
                  <a:srgbClr val="475569"/>
                </a:solidFill>
                <a:latin typeface="Calibri" pitchFamily="34" charset="0"/>
                <a:ea typeface="Calibri" pitchFamily="34" charset="-122"/>
                <a:cs typeface="Calibri" pitchFamily="34" charset="-120"/>
              </a:rPr>
              <a:t>247 want how-to guides and 233 want use-case examples. Short, role-specific, and easy to find.</a:t>
            </a:r>
            <a:endParaRPr lang="en-US" sz="1050" dirty="0"/>
          </a:p>
        </p:txBody>
      </p:sp>
      <p:sp>
        <p:nvSpPr>
          <p:cNvPr id="18" name="Shape 15"/>
          <p:cNvSpPr/>
          <p:nvPr/>
        </p:nvSpPr>
        <p:spPr>
          <a:xfrm>
            <a:off x="5486400" y="3344327"/>
            <a:ext cx="355610" cy="355610"/>
          </a:xfrm>
          <a:prstGeom prst="ellipse">
            <a:avLst/>
          </a:prstGeom>
          <a:solidFill>
            <a:srgbClr val="1B5E8A"/>
          </a:solidFill>
          <a:ln/>
        </p:spPr>
        <p:txBody>
          <a:bodyPr/>
          <a:lstStyle/>
          <a:p>
            <a:endParaRPr lang="en-US"/>
          </a:p>
        </p:txBody>
      </p:sp>
      <p:sp>
        <p:nvSpPr>
          <p:cNvPr id="19" name="Text 16"/>
          <p:cNvSpPr txBox="1"/>
          <p:nvPr/>
        </p:nvSpPr>
        <p:spPr>
          <a:xfrm>
            <a:off x="5486400" y="3344327"/>
            <a:ext cx="355610" cy="355610"/>
          </a:xfrm>
          <a:prstGeom prst="rect">
            <a:avLst/>
          </a:prstGeom>
          <a:noFill/>
          <a:ln/>
        </p:spPr>
        <p:txBody>
          <a:bodyPr wrap="square" lIns="0" tIns="0" rIns="0" bIns="0"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5994441" y="3318906"/>
            <a:ext cx="2794041" cy="381030"/>
          </a:xfrm>
          <a:prstGeom prst="rect">
            <a:avLst/>
          </a:prstGeom>
          <a:noFill/>
          <a:ln/>
        </p:spPr>
        <p:txBody>
          <a:bodyPr wrap="square" lIns="0" tIns="0" rIns="0" bIns="0" rtlCol="0" anchor="ctr"/>
          <a:lstStyle/>
          <a:p>
            <a:pPr marL="0" indent="0" algn="l">
              <a:lnSpc>
                <a:spcPct val="100000"/>
              </a:lnSpc>
              <a:buNone/>
            </a:pPr>
            <a:r>
              <a:rPr lang="en-US" sz="1250" b="1" dirty="0">
                <a:solidFill>
                  <a:srgbClr val="1A2433"/>
                </a:solidFill>
                <a:latin typeface="Calibri" pitchFamily="34" charset="0"/>
                <a:ea typeface="Calibri" pitchFamily="34" charset="-122"/>
                <a:cs typeface="Calibri" pitchFamily="34" charset="-120"/>
              </a:rPr>
              <a:t>Demonstrate AI as an Everyday Assistant</a:t>
            </a:r>
            <a:endParaRPr lang="en-US" sz="1250" dirty="0"/>
          </a:p>
        </p:txBody>
      </p:sp>
      <p:sp>
        <p:nvSpPr>
          <p:cNvPr id="21" name="Text 18"/>
          <p:cNvSpPr txBox="1"/>
          <p:nvPr/>
        </p:nvSpPr>
        <p:spPr>
          <a:xfrm>
            <a:off x="5994441" y="3725357"/>
            <a:ext cx="2794041" cy="516453"/>
          </a:xfrm>
          <a:prstGeom prst="rect">
            <a:avLst/>
          </a:prstGeom>
          <a:noFill/>
          <a:ln/>
        </p:spPr>
        <p:txBody>
          <a:bodyPr wrap="square" lIns="0" tIns="0" rIns="0" bIns="0" rtlCol="0" anchor="t"/>
          <a:lstStyle/>
          <a:p>
            <a:pPr marL="0" indent="0" algn="l">
              <a:lnSpc>
                <a:spcPct val="100000"/>
              </a:lnSpc>
              <a:buNone/>
            </a:pPr>
            <a:r>
              <a:rPr lang="en-US" sz="1050" dirty="0">
                <a:solidFill>
                  <a:srgbClr val="475569"/>
                </a:solidFill>
                <a:latin typeface="Calibri" pitchFamily="34" charset="0"/>
                <a:ea typeface="Calibri" pitchFamily="34" charset="-122"/>
                <a:cs typeface="Calibri" pitchFamily="34" charset="-120"/>
              </a:rPr>
              <a:t>Repetitive, time-intensive tasks like drafting text and summarizing show real everyday value.</a:t>
            </a:r>
            <a:endParaRPr lang="en-US" sz="1050" dirty="0"/>
          </a:p>
        </p:txBody>
      </p:sp>
      <p:sp>
        <p:nvSpPr>
          <p:cNvPr id="22" name="Shape 19"/>
          <p:cNvSpPr/>
          <p:nvPr/>
        </p:nvSpPr>
        <p:spPr>
          <a:xfrm>
            <a:off x="355610" y="4444990"/>
            <a:ext cx="8432780" cy="381030"/>
          </a:xfrm>
          <a:prstGeom prst="roundRect">
            <a:avLst>
              <a:gd name="adj" fmla="val 26662"/>
            </a:avLst>
          </a:prstGeom>
          <a:solidFill>
            <a:srgbClr val="EAF0ED"/>
          </a:solidFill>
          <a:ln/>
        </p:spPr>
        <p:txBody>
          <a:bodyPr/>
          <a:lstStyle/>
          <a:p>
            <a:endParaRPr lang="en-US"/>
          </a:p>
        </p:txBody>
      </p:sp>
      <p:sp>
        <p:nvSpPr>
          <p:cNvPr id="23" name="Text 20"/>
          <p:cNvSpPr txBox="1"/>
          <p:nvPr/>
        </p:nvSpPr>
        <p:spPr>
          <a:xfrm>
            <a:off x="533370" y="4444990"/>
            <a:ext cx="8077170" cy="381030"/>
          </a:xfrm>
          <a:prstGeom prst="rect">
            <a:avLst/>
          </a:prstGeom>
          <a:noFill/>
          <a:ln/>
        </p:spPr>
        <p:txBody>
          <a:bodyPr wrap="square" lIns="0" tIns="0" rIns="0" bIns="0" rtlCol="0" anchor="ctr"/>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Start with the tasks people already do every day.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55610" y="177759"/>
            <a:ext cx="8432780" cy="431780"/>
          </a:xfrm>
          <a:prstGeom prst="rect">
            <a:avLst/>
          </a:prstGeom>
          <a:noFill/>
          <a:ln/>
        </p:spPr>
        <p:txBody>
          <a:bodyPr wrap="square" lIns="0" tIns="0" rIns="0" bIns="0" rtlCol="0" anchor="ctr"/>
          <a:lstStyle/>
          <a:p>
            <a:pPr marL="0" indent="0" algn="l">
              <a:lnSpc>
                <a:spcPct val="95000"/>
              </a:lnSpc>
              <a:buNone/>
            </a:pPr>
            <a:r>
              <a:rPr lang="en-US" sz="2100" b="1" dirty="0">
                <a:solidFill>
                  <a:srgbClr val="2D6A4F"/>
                </a:solidFill>
                <a:latin typeface="Calibri" pitchFamily="34" charset="0"/>
                <a:ea typeface="Calibri" pitchFamily="34" charset="-122"/>
                <a:cs typeface="Calibri" pitchFamily="34" charset="-120"/>
              </a:rPr>
              <a:t>In Their Own Words: What the Comments Say</a:t>
            </a:r>
            <a:endParaRPr lang="en-US" sz="2100" dirty="0"/>
          </a:p>
        </p:txBody>
      </p:sp>
      <p:sp>
        <p:nvSpPr>
          <p:cNvPr id="3" name="Text 1"/>
          <p:cNvSpPr txBox="1"/>
          <p:nvPr/>
        </p:nvSpPr>
        <p:spPr>
          <a:xfrm>
            <a:off x="355610" y="4940320"/>
            <a:ext cx="5969020" cy="139720"/>
          </a:xfrm>
          <a:prstGeom prst="rect">
            <a:avLst/>
          </a:prstGeom>
          <a:noFill/>
          <a:ln/>
        </p:spPr>
        <p:txBody>
          <a:bodyPr wrap="square" lIns="0" tIns="0" rIns="0" bIns="0" rtlCol="0" anchor="t"/>
          <a:lstStyle/>
          <a:p>
            <a:pPr marL="0" indent="0" algn="l">
              <a:lnSpc>
                <a:spcPct val="100000"/>
              </a:lnSpc>
              <a:buNone/>
            </a:pPr>
            <a:r>
              <a:rPr lang="en-US" sz="750">
                <a:solidFill>
                  <a:srgbClr val="64748B"/>
                </a:solidFill>
                <a:latin typeface="Calibri" pitchFamily="34" charset="0"/>
                <a:ea typeface="Calibri" pitchFamily="34" charset="-122"/>
                <a:cs typeface="Calibri" pitchFamily="34" charset="-120"/>
              </a:rPr>
              <a:t>  CNAIT ·  AI Awareness Survey - Bseline Data </a:t>
            </a:r>
            <a:endParaRPr lang="en-US" sz="750" dirty="0"/>
          </a:p>
        </p:txBody>
      </p:sp>
      <p:sp>
        <p:nvSpPr>
          <p:cNvPr id="4" name="Text 2"/>
          <p:cNvSpPr txBox="1"/>
          <p:nvPr/>
        </p:nvSpPr>
        <p:spPr>
          <a:xfrm>
            <a:off x="6349959" y="4940320"/>
            <a:ext cx="1879641" cy="139720"/>
          </a:xfrm>
          <a:prstGeom prst="rect">
            <a:avLst/>
          </a:prstGeom>
          <a:noFill/>
          <a:ln/>
        </p:spPr>
        <p:txBody>
          <a:bodyPr wrap="square" lIns="0" tIns="0" rIns="0" bIns="0" rtlCol="0" anchor="t"/>
          <a:lstStyle/>
          <a:p>
            <a:pPr marL="0" indent="0" algn="r">
              <a:lnSpc>
                <a:spcPct val="100000"/>
              </a:lnSpc>
              <a:buNone/>
            </a:pPr>
            <a:r>
              <a:rPr lang="en-US" sz="750" b="1">
                <a:solidFill>
                  <a:srgbClr val="B87A1E"/>
                </a:solidFill>
                <a:latin typeface="Calibri" pitchFamily="34" charset="0"/>
                <a:ea typeface="Calibri" pitchFamily="34" charset="-122"/>
                <a:cs typeface="Calibri" pitchFamily="34" charset="-120"/>
              </a:rPr>
              <a:t> </a:t>
            </a:r>
            <a:endParaRPr lang="en-US" sz="750" dirty="0"/>
          </a:p>
        </p:txBody>
      </p:sp>
      <p:sp>
        <p:nvSpPr>
          <p:cNvPr id="5" name="Text 3"/>
          <p:cNvSpPr txBox="1"/>
          <p:nvPr/>
        </p:nvSpPr>
        <p:spPr>
          <a:xfrm>
            <a:off x="8331190" y="4940320"/>
            <a:ext cx="457200" cy="139720"/>
          </a:xfrm>
          <a:prstGeom prst="rect">
            <a:avLst/>
          </a:prstGeom>
          <a:noFill/>
          <a:ln/>
        </p:spPr>
        <p:txBody>
          <a:bodyPr wrap="square" lIns="0" tIns="0" rIns="0" bIns="0" rtlCol="0" anchor="t"/>
          <a:lstStyle/>
          <a:p>
            <a:pPr marL="0" indent="0" algn="r">
              <a:lnSpc>
                <a:spcPct val="100000"/>
              </a:lnSpc>
              <a:buNone/>
            </a:pPr>
            <a:r>
              <a:rPr lang="en-US" sz="750" dirty="0">
                <a:solidFill>
                  <a:srgbClr val="64748B"/>
                </a:solidFill>
                <a:latin typeface="Calibri" pitchFamily="34" charset="0"/>
                <a:ea typeface="Calibri" pitchFamily="34" charset="-122"/>
                <a:cs typeface="Calibri" pitchFamily="34" charset="-120"/>
              </a:rPr>
              <a:t>9</a:t>
            </a:r>
            <a:endParaRPr lang="en-US" sz="750" dirty="0"/>
          </a:p>
        </p:txBody>
      </p:sp>
      <p:sp>
        <p:nvSpPr>
          <p:cNvPr id="6" name="Text 4"/>
          <p:cNvSpPr txBox="1"/>
          <p:nvPr/>
        </p:nvSpPr>
        <p:spPr>
          <a:xfrm>
            <a:off x="355610" y="838230"/>
            <a:ext cx="4826020" cy="203180"/>
          </a:xfrm>
          <a:prstGeom prst="rect">
            <a:avLst/>
          </a:prstGeom>
          <a:noFill/>
          <a:ln/>
        </p:spPr>
        <p:txBody>
          <a:bodyPr wrap="square" lIns="0" tIns="0" rIns="0" bIns="0" rtlCol="0" anchor="t"/>
          <a:lstStyle/>
          <a:p>
            <a:pPr marL="0" indent="0" algn="l">
              <a:lnSpc>
                <a:spcPct val="100000"/>
              </a:lnSpc>
              <a:buNone/>
            </a:pPr>
            <a:r>
              <a:rPr lang="en-US" sz="1100" b="1" dirty="0">
                <a:solidFill>
                  <a:srgbClr val="1A2433"/>
                </a:solidFill>
                <a:latin typeface="Calibri" pitchFamily="34" charset="0"/>
                <a:ea typeface="Calibri" pitchFamily="34" charset="-122"/>
                <a:cs typeface="Calibri" pitchFamily="34" charset="-120"/>
              </a:rPr>
              <a:t>Comments raising each theme (of 141 substantive comments)</a:t>
            </a:r>
            <a:endParaRPr lang="en-US" sz="1100" dirty="0"/>
          </a:p>
        </p:txBody>
      </p:sp>
      <p:graphicFrame>
        <p:nvGraphicFramePr>
          <p:cNvPr id="7" name="Chart 0"/>
          <p:cNvGraphicFramePr/>
          <p:nvPr/>
        </p:nvGraphicFramePr>
        <p:xfrm>
          <a:off x="355610" y="1092159"/>
          <a:ext cx="4826020" cy="355601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5435559" y="863559"/>
            <a:ext cx="3352830" cy="3962370"/>
          </a:xfrm>
          <a:prstGeom prst="roundRect">
            <a:avLst>
              <a:gd name="adj" fmla="val 3030"/>
            </a:avLst>
          </a:prstGeom>
          <a:solidFill>
            <a:srgbClr val="F8FAFC"/>
          </a:solidFill>
          <a:ln w="9525">
            <a:solidFill>
              <a:srgbClr val="E2E8F0"/>
            </a:solidFill>
            <a:prstDash val="solid"/>
          </a:ln>
        </p:spPr>
        <p:txBody>
          <a:bodyPr/>
          <a:lstStyle/>
          <a:p>
            <a:endParaRPr lang="en-US"/>
          </a:p>
        </p:txBody>
      </p:sp>
      <p:sp>
        <p:nvSpPr>
          <p:cNvPr id="9" name="Text 6"/>
          <p:cNvSpPr txBox="1"/>
          <p:nvPr/>
        </p:nvSpPr>
        <p:spPr>
          <a:xfrm>
            <a:off x="5638830" y="1015990"/>
            <a:ext cx="2946380" cy="177759"/>
          </a:xfrm>
          <a:prstGeom prst="rect">
            <a:avLst/>
          </a:prstGeom>
          <a:noFill/>
          <a:ln/>
        </p:spPr>
        <p:txBody>
          <a:bodyPr wrap="square" lIns="0" tIns="0" rIns="0" bIns="0" rtlCol="0" anchor="t"/>
          <a:lstStyle/>
          <a:p>
            <a:pPr marL="0" indent="0" algn="l">
              <a:lnSpc>
                <a:spcPct val="100000"/>
              </a:lnSpc>
              <a:buNone/>
            </a:pPr>
            <a:r>
              <a:rPr lang="en-US" sz="850" b="1" kern="0" spc="80" dirty="0">
                <a:solidFill>
                  <a:srgbClr val="64748B"/>
                </a:solidFill>
                <a:latin typeface="Calibri" pitchFamily="34" charset="0"/>
                <a:ea typeface="Calibri" pitchFamily="34" charset="-122"/>
                <a:cs typeface="Calibri" pitchFamily="34" charset="-120"/>
              </a:rPr>
              <a:t>FEATURED THEME</a:t>
            </a:r>
            <a:endParaRPr lang="en-US" sz="850" dirty="0"/>
          </a:p>
        </p:txBody>
      </p:sp>
      <p:sp>
        <p:nvSpPr>
          <p:cNvPr id="10" name="Text 7"/>
          <p:cNvSpPr txBox="1"/>
          <p:nvPr/>
        </p:nvSpPr>
        <p:spPr>
          <a:xfrm>
            <a:off x="5638830" y="1219170"/>
            <a:ext cx="2946380" cy="279441"/>
          </a:xfrm>
          <a:prstGeom prst="rect">
            <a:avLst/>
          </a:prstGeom>
          <a:noFill/>
          <a:ln/>
        </p:spPr>
        <p:txBody>
          <a:bodyPr wrap="square" lIns="0" tIns="0" rIns="0" bIns="0" rtlCol="0" anchor="t"/>
          <a:lstStyle/>
          <a:p>
            <a:pPr marL="0" indent="0" algn="l">
              <a:lnSpc>
                <a:spcPct val="100000"/>
              </a:lnSpc>
              <a:buNone/>
            </a:pPr>
            <a:r>
              <a:rPr lang="en-US" sz="1600" b="1" dirty="0">
                <a:solidFill>
                  <a:srgbClr val="2D6A4F"/>
                </a:solidFill>
                <a:latin typeface="Calibri" pitchFamily="34" charset="0"/>
                <a:ea typeface="Calibri" pitchFamily="34" charset="-122"/>
                <a:cs typeface="Calibri" pitchFamily="34" charset="-120"/>
              </a:rPr>
              <a:t>Show Me on My Work</a:t>
            </a:r>
            <a:endParaRPr lang="en-US" sz="1600" dirty="0"/>
          </a:p>
        </p:txBody>
      </p:sp>
      <p:sp>
        <p:nvSpPr>
          <p:cNvPr id="11" name="Text 8"/>
          <p:cNvSpPr txBox="1"/>
          <p:nvPr/>
        </p:nvSpPr>
        <p:spPr>
          <a:xfrm>
            <a:off x="5638830" y="1524030"/>
            <a:ext cx="2946380" cy="177759"/>
          </a:xfrm>
          <a:prstGeom prst="rect">
            <a:avLst/>
          </a:prstGeom>
          <a:noFill/>
          <a:ln/>
        </p:spPr>
        <p:txBody>
          <a:bodyPr wrap="square" lIns="0" tIns="0" rIns="0" bIns="0" rtlCol="0" anchor="t"/>
          <a:lstStyle/>
          <a:p>
            <a:pPr marL="0" indent="0" algn="l">
              <a:lnSpc>
                <a:spcPct val="100000"/>
              </a:lnSpc>
              <a:buNone/>
            </a:pPr>
            <a:r>
              <a:rPr lang="en-US" sz="950" b="1" dirty="0">
                <a:solidFill>
                  <a:srgbClr val="475569"/>
                </a:solidFill>
                <a:latin typeface="Calibri" pitchFamily="34" charset="0"/>
                <a:ea typeface="Calibri" pitchFamily="34" charset="-122"/>
                <a:cs typeface="Calibri" pitchFamily="34" charset="-120"/>
              </a:rPr>
              <a:t>Training gaps · 37 comments</a:t>
            </a:r>
            <a:endParaRPr lang="en-US" sz="950" dirty="0"/>
          </a:p>
        </p:txBody>
      </p:sp>
      <p:sp>
        <p:nvSpPr>
          <p:cNvPr id="12" name="Text 9"/>
          <p:cNvSpPr txBox="1"/>
          <p:nvPr/>
        </p:nvSpPr>
        <p:spPr>
          <a:xfrm>
            <a:off x="5638830" y="1828800"/>
            <a:ext cx="2946380" cy="2336841"/>
          </a:xfrm>
          <a:prstGeom prst="rect">
            <a:avLst/>
          </a:prstGeom>
          <a:noFill/>
          <a:ln/>
        </p:spPr>
        <p:txBody>
          <a:bodyPr wrap="square" lIns="0" tIns="0" rIns="0" bIns="0" rtlCol="0" anchor="t"/>
          <a:lstStyle/>
          <a:p>
            <a:pPr marL="0" indent="0" algn="l">
              <a:lnSpc>
                <a:spcPct val="100000"/>
              </a:lnSpc>
              <a:buNone/>
            </a:pPr>
            <a:r>
              <a:rPr lang="en-US" sz="1050" b="1" dirty="0">
                <a:solidFill>
                  <a:srgbClr val="1A2433"/>
                </a:solidFill>
                <a:latin typeface="Calibri" pitchFamily="34" charset="0"/>
                <a:ea typeface="Calibri" pitchFamily="34" charset="-122"/>
                <a:cs typeface="Calibri" pitchFamily="34" charset="-120"/>
              </a:rPr>
              <a:t>People want training tied to their role and program — not just introductions.</a:t>
            </a:r>
            <a:endParaRPr lang="en-US" sz="1050" dirty="0"/>
          </a:p>
          <a:p>
            <a:pPr marL="0" indent="0" algn="l">
              <a:lnSpc>
                <a:spcPct val="100000"/>
              </a:lnSpc>
              <a:buNone/>
            </a:pPr>
            <a:r>
              <a:rPr lang="en-US" sz="600" dirty="0">
                <a:solidFill>
                  <a:srgbClr val="1A2433"/>
                </a:solidFill>
                <a:latin typeface="Calibri" pitchFamily="34" charset="0"/>
                <a:ea typeface="Calibri" pitchFamily="34" charset="-122"/>
                <a:cs typeface="Calibri" pitchFamily="34" charset="-120"/>
              </a:rPr>
              <a:t> </a:t>
            </a:r>
            <a:endParaRPr lang="en-US" sz="1050" dirty="0"/>
          </a:p>
          <a:p>
            <a:pPr marL="0" indent="0" algn="l">
              <a:lnSpc>
                <a:spcPct val="100000"/>
              </a:lnSpc>
              <a:buNone/>
            </a:pPr>
            <a:r>
              <a:rPr lang="en-US" sz="1050" i="1" dirty="0">
                <a:solidFill>
                  <a:srgbClr val="475569"/>
                </a:solidFill>
                <a:latin typeface="Calibri" pitchFamily="34" charset="0"/>
                <a:ea typeface="Calibri" pitchFamily="34" charset="-122"/>
                <a:cs typeface="Calibri" pitchFamily="34" charset="-120"/>
              </a:rPr>
              <a:t>“I hope to see more training and digital programs come about in the near future for our agency!”</a:t>
            </a:r>
            <a:endParaRPr lang="en-US" sz="1050" dirty="0"/>
          </a:p>
          <a:p>
            <a:pPr marL="0" indent="0" algn="l">
              <a:lnSpc>
                <a:spcPct val="100000"/>
              </a:lnSpc>
              <a:buNone/>
            </a:pPr>
            <a:r>
              <a:rPr lang="en-US" sz="600" dirty="0">
                <a:solidFill>
                  <a:srgbClr val="1A2433"/>
                </a:solidFill>
                <a:latin typeface="Calibri" pitchFamily="34" charset="0"/>
                <a:ea typeface="Calibri" pitchFamily="34" charset="-122"/>
                <a:cs typeface="Calibri" pitchFamily="34" charset="-120"/>
              </a:rPr>
              <a:t> </a:t>
            </a:r>
            <a:endParaRPr lang="en-US" sz="1050" dirty="0"/>
          </a:p>
          <a:p>
            <a:pPr marL="0" indent="0" algn="l">
              <a:lnSpc>
                <a:spcPct val="100000"/>
              </a:lnSpc>
              <a:buNone/>
            </a:pPr>
            <a:r>
              <a:rPr lang="en-US" sz="1050" b="1" dirty="0">
                <a:solidFill>
                  <a:srgbClr val="2D6A4F"/>
                </a:solidFill>
                <a:latin typeface="Calibri" pitchFamily="34" charset="0"/>
                <a:ea typeface="Calibri" pitchFamily="34" charset="-122"/>
                <a:cs typeface="Calibri" pitchFamily="34" charset="-120"/>
              </a:rPr>
              <a:t>→ Run hands-on, role-specific practice on a real task from the room.</a:t>
            </a:r>
            <a:endParaRPr lang="en-US" sz="1050" dirty="0"/>
          </a:p>
        </p:txBody>
      </p:sp>
      <p:sp>
        <p:nvSpPr>
          <p:cNvPr id="13" name="Shape 10"/>
          <p:cNvSpPr/>
          <p:nvPr/>
        </p:nvSpPr>
        <p:spPr>
          <a:xfrm>
            <a:off x="5638830" y="4267230"/>
            <a:ext cx="2946380" cy="0"/>
          </a:xfrm>
          <a:prstGeom prst="line">
            <a:avLst/>
          </a:prstGeom>
          <a:noFill/>
          <a:ln w="9525">
            <a:solidFill>
              <a:srgbClr val="E2E8F0"/>
            </a:solidFill>
            <a:prstDash val="solid"/>
          </a:ln>
        </p:spPr>
        <p:txBody>
          <a:bodyPr/>
          <a:lstStyle/>
          <a:p>
            <a:endParaRPr lang="en-US"/>
          </a:p>
        </p:txBody>
      </p:sp>
      <p:sp>
        <p:nvSpPr>
          <p:cNvPr id="14" name="Text 11"/>
          <p:cNvSpPr txBox="1"/>
          <p:nvPr/>
        </p:nvSpPr>
        <p:spPr>
          <a:xfrm>
            <a:off x="5638830" y="4343400"/>
            <a:ext cx="2946380" cy="406359"/>
          </a:xfrm>
          <a:prstGeom prst="rect">
            <a:avLst/>
          </a:prstGeom>
          <a:noFill/>
          <a:ln/>
        </p:spPr>
        <p:txBody>
          <a:bodyPr wrap="square" lIns="0" tIns="0" rIns="0" bIns="0" rtlCol="0" anchor="t"/>
          <a:lstStyle/>
          <a:p>
            <a:pPr marL="0" indent="0" algn="l">
              <a:lnSpc>
                <a:spcPct val="100000"/>
              </a:lnSpc>
              <a:buNone/>
            </a:pPr>
            <a:r>
              <a:rPr lang="en-US" sz="850" i="1" dirty="0">
                <a:solidFill>
                  <a:srgbClr val="64748B"/>
                </a:solidFill>
                <a:latin typeface="Calibri" pitchFamily="34" charset="0"/>
                <a:ea typeface="Calibri" pitchFamily="34" charset="-122"/>
                <a:cs typeface="Calibri" pitchFamily="34" charset="-120"/>
              </a:rPr>
              <a:t>A comment can raise several themes. Use Spotlight to feature a different theme.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55610" y="177759"/>
            <a:ext cx="8432780" cy="431780"/>
          </a:xfrm>
          <a:prstGeom prst="rect">
            <a:avLst/>
          </a:prstGeom>
          <a:noFill/>
          <a:ln/>
        </p:spPr>
        <p:txBody>
          <a:bodyPr wrap="square" lIns="0" tIns="0" rIns="0" bIns="0" rtlCol="0" anchor="ctr"/>
          <a:lstStyle/>
          <a:p>
            <a:pPr marL="0" indent="0" algn="l">
              <a:lnSpc>
                <a:spcPct val="95000"/>
              </a:lnSpc>
              <a:buNone/>
            </a:pPr>
            <a:r>
              <a:rPr lang="en-US" sz="2100" b="1" dirty="0">
                <a:solidFill>
                  <a:srgbClr val="1E3A5F"/>
                </a:solidFill>
                <a:latin typeface="Calibri" pitchFamily="34" charset="0"/>
                <a:ea typeface="Calibri" pitchFamily="34" charset="-122"/>
                <a:cs typeface="Calibri" pitchFamily="34" charset="-120"/>
              </a:rPr>
              <a:t>Your Next Steps as a Champion</a:t>
            </a:r>
            <a:endParaRPr lang="en-US" sz="2100" dirty="0"/>
          </a:p>
        </p:txBody>
      </p:sp>
      <p:sp>
        <p:nvSpPr>
          <p:cNvPr id="3" name="Text 1"/>
          <p:cNvSpPr txBox="1"/>
          <p:nvPr/>
        </p:nvSpPr>
        <p:spPr>
          <a:xfrm>
            <a:off x="355610" y="4940320"/>
            <a:ext cx="5969020" cy="139720"/>
          </a:xfrm>
          <a:prstGeom prst="rect">
            <a:avLst/>
          </a:prstGeom>
          <a:noFill/>
          <a:ln/>
        </p:spPr>
        <p:txBody>
          <a:bodyPr wrap="square" lIns="0" tIns="0" rIns="0" bIns="0" rtlCol="0" anchor="t"/>
          <a:lstStyle/>
          <a:p>
            <a:pPr marL="0" indent="0" algn="l">
              <a:lnSpc>
                <a:spcPct val="100000"/>
              </a:lnSpc>
              <a:buNone/>
            </a:pPr>
            <a:r>
              <a:rPr lang="en-US" sz="750">
                <a:solidFill>
                  <a:srgbClr val="64748B"/>
                </a:solidFill>
                <a:latin typeface="Calibri" pitchFamily="34" charset="0"/>
                <a:ea typeface="Calibri" pitchFamily="34" charset="-122"/>
                <a:cs typeface="Calibri" pitchFamily="34" charset="-120"/>
              </a:rPr>
              <a:t>  CNAIT ·  AI Awareness Survey - Bseline Data </a:t>
            </a:r>
            <a:endParaRPr lang="en-US" sz="750" dirty="0"/>
          </a:p>
        </p:txBody>
      </p:sp>
      <p:sp>
        <p:nvSpPr>
          <p:cNvPr id="4" name="Text 2"/>
          <p:cNvSpPr txBox="1"/>
          <p:nvPr/>
        </p:nvSpPr>
        <p:spPr>
          <a:xfrm>
            <a:off x="6349959" y="4940320"/>
            <a:ext cx="1879641" cy="139720"/>
          </a:xfrm>
          <a:prstGeom prst="rect">
            <a:avLst/>
          </a:prstGeom>
          <a:noFill/>
          <a:ln/>
        </p:spPr>
        <p:txBody>
          <a:bodyPr wrap="square" lIns="0" tIns="0" rIns="0" bIns="0" rtlCol="0" anchor="t"/>
          <a:lstStyle/>
          <a:p>
            <a:pPr marL="0" indent="0" algn="r">
              <a:lnSpc>
                <a:spcPct val="100000"/>
              </a:lnSpc>
              <a:buNone/>
            </a:pPr>
            <a:r>
              <a:rPr lang="en-US" sz="750" b="1">
                <a:solidFill>
                  <a:srgbClr val="B87A1E"/>
                </a:solidFill>
                <a:latin typeface="Calibri" pitchFamily="34" charset="0"/>
                <a:ea typeface="Calibri" pitchFamily="34" charset="-122"/>
                <a:cs typeface="Calibri" pitchFamily="34" charset="-120"/>
              </a:rPr>
              <a:t> </a:t>
            </a:r>
            <a:endParaRPr lang="en-US" sz="750" dirty="0"/>
          </a:p>
        </p:txBody>
      </p:sp>
      <p:sp>
        <p:nvSpPr>
          <p:cNvPr id="5" name="Text 3"/>
          <p:cNvSpPr txBox="1"/>
          <p:nvPr/>
        </p:nvSpPr>
        <p:spPr>
          <a:xfrm>
            <a:off x="8331190" y="4940320"/>
            <a:ext cx="457200" cy="139720"/>
          </a:xfrm>
          <a:prstGeom prst="rect">
            <a:avLst/>
          </a:prstGeom>
          <a:noFill/>
          <a:ln/>
        </p:spPr>
        <p:txBody>
          <a:bodyPr wrap="square" lIns="0" tIns="0" rIns="0" bIns="0" rtlCol="0" anchor="t"/>
          <a:lstStyle/>
          <a:p>
            <a:pPr marL="0" indent="0" algn="r">
              <a:lnSpc>
                <a:spcPct val="100000"/>
              </a:lnSpc>
              <a:buNone/>
            </a:pPr>
            <a:r>
              <a:rPr lang="en-US" sz="750" dirty="0">
                <a:solidFill>
                  <a:srgbClr val="64748B"/>
                </a:solidFill>
                <a:latin typeface="Calibri" pitchFamily="34" charset="0"/>
                <a:ea typeface="Calibri" pitchFamily="34" charset="-122"/>
                <a:cs typeface="Calibri" pitchFamily="34" charset="-120"/>
              </a:rPr>
              <a:t>10</a:t>
            </a:r>
            <a:endParaRPr lang="en-US" sz="750" dirty="0"/>
          </a:p>
        </p:txBody>
      </p:sp>
      <p:sp>
        <p:nvSpPr>
          <p:cNvPr id="6" name="Shape 4"/>
          <p:cNvSpPr/>
          <p:nvPr/>
        </p:nvSpPr>
        <p:spPr>
          <a:xfrm>
            <a:off x="355610" y="939820"/>
            <a:ext cx="1955810" cy="3759190"/>
          </a:xfrm>
          <a:prstGeom prst="roundRect">
            <a:avLst>
              <a:gd name="adj" fmla="val 5194"/>
            </a:avLst>
          </a:prstGeom>
          <a:solidFill>
            <a:srgbClr val="F8FAFC"/>
          </a:solidFill>
          <a:ln w="9525">
            <a:solidFill>
              <a:srgbClr val="E2E8F0"/>
            </a:solidFill>
            <a:prstDash val="solid"/>
          </a:ln>
        </p:spPr>
        <p:txBody>
          <a:bodyPr/>
          <a:lstStyle/>
          <a:p>
            <a:endParaRPr lang="en-US"/>
          </a:p>
        </p:txBody>
      </p:sp>
      <p:sp>
        <p:nvSpPr>
          <p:cNvPr id="7" name="Shape 5"/>
          <p:cNvSpPr/>
          <p:nvPr/>
        </p:nvSpPr>
        <p:spPr>
          <a:xfrm>
            <a:off x="533370" y="1143000"/>
            <a:ext cx="431780" cy="431780"/>
          </a:xfrm>
          <a:prstGeom prst="ellipse">
            <a:avLst/>
          </a:prstGeom>
          <a:solidFill>
            <a:srgbClr val="1E3A5F"/>
          </a:solidFill>
          <a:ln/>
        </p:spPr>
        <p:txBody>
          <a:bodyPr/>
          <a:lstStyle/>
          <a:p>
            <a:endParaRPr lang="en-US"/>
          </a:p>
        </p:txBody>
      </p:sp>
      <p:sp>
        <p:nvSpPr>
          <p:cNvPr id="8" name="Text 6"/>
          <p:cNvSpPr txBox="1"/>
          <p:nvPr/>
        </p:nvSpPr>
        <p:spPr>
          <a:xfrm>
            <a:off x="533370" y="1143000"/>
            <a:ext cx="431780" cy="431780"/>
          </a:xfrm>
          <a:prstGeom prst="rect">
            <a:avLst/>
          </a:prstGeom>
          <a:noFill/>
          <a:ln/>
        </p:spPr>
        <p:txBody>
          <a:bodyPr wrap="square" lIns="0" tIns="0" rIns="0" bIns="0" rtlCol="0" anchor="ctr"/>
          <a:lstStyle/>
          <a:p>
            <a:pPr marL="0" indent="0" algn="ctr">
              <a:lnSpc>
                <a:spcPct val="100000"/>
              </a:lnSpc>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9" name="Text 7"/>
          <p:cNvSpPr txBox="1"/>
          <p:nvPr/>
        </p:nvSpPr>
        <p:spPr>
          <a:xfrm>
            <a:off x="533370" y="1727210"/>
            <a:ext cx="1600200" cy="558790"/>
          </a:xfrm>
          <a:prstGeom prst="rect">
            <a:avLst/>
          </a:prstGeom>
          <a:noFill/>
          <a:ln/>
        </p:spPr>
        <p:txBody>
          <a:bodyPr wrap="square" lIns="0" tIns="0" rIns="0" bIns="0" rtlCol="0" anchor="t"/>
          <a:lstStyle/>
          <a:p>
            <a:pPr marL="0" indent="0" algn="l">
              <a:lnSpc>
                <a:spcPct val="100000"/>
              </a:lnSpc>
              <a:buNone/>
            </a:pPr>
            <a:r>
              <a:rPr lang="en-US" sz="1300" b="1" dirty="0">
                <a:solidFill>
                  <a:srgbClr val="1A2433"/>
                </a:solidFill>
                <a:latin typeface="Calibri" pitchFamily="34" charset="0"/>
                <a:ea typeface="Calibri" pitchFamily="34" charset="-122"/>
                <a:cs typeface="Calibri" pitchFamily="34" charset="-120"/>
              </a:rPr>
              <a:t>Run one ‘Try It’ demo</a:t>
            </a:r>
            <a:endParaRPr lang="en-US" sz="1300" dirty="0"/>
          </a:p>
        </p:txBody>
      </p:sp>
      <p:sp>
        <p:nvSpPr>
          <p:cNvPr id="10" name="Text 8"/>
          <p:cNvSpPr txBox="1"/>
          <p:nvPr/>
        </p:nvSpPr>
        <p:spPr>
          <a:xfrm>
            <a:off x="533370" y="2362170"/>
            <a:ext cx="1600200" cy="2184410"/>
          </a:xfrm>
          <a:prstGeom prst="rect">
            <a:avLst/>
          </a:prstGeom>
          <a:noFill/>
          <a:ln/>
        </p:spPr>
        <p:txBody>
          <a:bodyPr wrap="square" lIns="0" tIns="0" rIns="0" bIns="0" rtlCol="0" anchor="t"/>
          <a:lstStyle/>
          <a:p>
            <a:pPr marL="0" indent="0" algn="l">
              <a:lnSpc>
                <a:spcPct val="100000"/>
              </a:lnSpc>
              <a:buNone/>
            </a:pPr>
            <a:r>
              <a:rPr lang="en-US" sz="1050" dirty="0">
                <a:solidFill>
                  <a:srgbClr val="475569"/>
                </a:solidFill>
                <a:latin typeface="Calibri" pitchFamily="34" charset="0"/>
                <a:ea typeface="Calibri" pitchFamily="34" charset="-122"/>
                <a:cs typeface="Calibri" pitchFamily="34" charset="-120"/>
              </a:rPr>
              <a:t>A 15-minute live demo on drafting text or summarizing — the tasks people already use AI for most.</a:t>
            </a:r>
            <a:endParaRPr lang="en-US" sz="1050" dirty="0"/>
          </a:p>
        </p:txBody>
      </p:sp>
      <p:sp>
        <p:nvSpPr>
          <p:cNvPr id="11" name="Shape 9"/>
          <p:cNvSpPr/>
          <p:nvPr/>
        </p:nvSpPr>
        <p:spPr>
          <a:xfrm>
            <a:off x="2514600" y="939820"/>
            <a:ext cx="1955810" cy="3759190"/>
          </a:xfrm>
          <a:prstGeom prst="roundRect">
            <a:avLst>
              <a:gd name="adj" fmla="val 5194"/>
            </a:avLst>
          </a:prstGeom>
          <a:solidFill>
            <a:srgbClr val="F8FAFC"/>
          </a:solidFill>
          <a:ln w="9525">
            <a:solidFill>
              <a:srgbClr val="E2E8F0"/>
            </a:solidFill>
            <a:prstDash val="solid"/>
          </a:ln>
        </p:spPr>
        <p:txBody>
          <a:bodyPr/>
          <a:lstStyle/>
          <a:p>
            <a:endParaRPr lang="en-US"/>
          </a:p>
        </p:txBody>
      </p:sp>
      <p:sp>
        <p:nvSpPr>
          <p:cNvPr id="12" name="Shape 10"/>
          <p:cNvSpPr/>
          <p:nvPr/>
        </p:nvSpPr>
        <p:spPr>
          <a:xfrm>
            <a:off x="2692359" y="1143000"/>
            <a:ext cx="431780" cy="431780"/>
          </a:xfrm>
          <a:prstGeom prst="ellipse">
            <a:avLst/>
          </a:prstGeom>
          <a:solidFill>
            <a:srgbClr val="2D6A4F"/>
          </a:solidFill>
          <a:ln/>
        </p:spPr>
        <p:txBody>
          <a:bodyPr/>
          <a:lstStyle/>
          <a:p>
            <a:endParaRPr lang="en-US"/>
          </a:p>
        </p:txBody>
      </p:sp>
      <p:sp>
        <p:nvSpPr>
          <p:cNvPr id="13" name="Text 11"/>
          <p:cNvSpPr txBox="1"/>
          <p:nvPr/>
        </p:nvSpPr>
        <p:spPr>
          <a:xfrm>
            <a:off x="2692359" y="1143000"/>
            <a:ext cx="431780" cy="431780"/>
          </a:xfrm>
          <a:prstGeom prst="rect">
            <a:avLst/>
          </a:prstGeom>
          <a:noFill/>
          <a:ln/>
        </p:spPr>
        <p:txBody>
          <a:bodyPr wrap="square" lIns="0" tIns="0" rIns="0" bIns="0" rtlCol="0" anchor="ctr"/>
          <a:lstStyle/>
          <a:p>
            <a:pPr marL="0" indent="0" algn="ctr">
              <a:lnSpc>
                <a:spcPct val="100000"/>
              </a:lnSpc>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4" name="Text 12"/>
          <p:cNvSpPr txBox="1"/>
          <p:nvPr/>
        </p:nvSpPr>
        <p:spPr>
          <a:xfrm>
            <a:off x="2692359" y="1727210"/>
            <a:ext cx="1600200" cy="558790"/>
          </a:xfrm>
          <a:prstGeom prst="rect">
            <a:avLst/>
          </a:prstGeom>
          <a:noFill/>
          <a:ln/>
        </p:spPr>
        <p:txBody>
          <a:bodyPr wrap="square" lIns="0" tIns="0" rIns="0" bIns="0" rtlCol="0" anchor="t"/>
          <a:lstStyle/>
          <a:p>
            <a:pPr marL="0" indent="0" algn="l">
              <a:lnSpc>
                <a:spcPct val="100000"/>
              </a:lnSpc>
              <a:buNone/>
            </a:pPr>
            <a:r>
              <a:rPr lang="en-US" sz="1300" b="1" dirty="0">
                <a:solidFill>
                  <a:srgbClr val="1A2433"/>
                </a:solidFill>
                <a:latin typeface="Calibri" pitchFamily="34" charset="0"/>
                <a:ea typeface="Calibri" pitchFamily="34" charset="-122"/>
                <a:cs typeface="Calibri" pitchFamily="34" charset="-120"/>
              </a:rPr>
              <a:t>Collect one success story</a:t>
            </a:r>
            <a:endParaRPr lang="en-US" sz="1300" dirty="0"/>
          </a:p>
        </p:txBody>
      </p:sp>
      <p:sp>
        <p:nvSpPr>
          <p:cNvPr id="15" name="Text 13"/>
          <p:cNvSpPr txBox="1"/>
          <p:nvPr/>
        </p:nvSpPr>
        <p:spPr>
          <a:xfrm>
            <a:off x="2692359" y="2362170"/>
            <a:ext cx="1600200" cy="2184410"/>
          </a:xfrm>
          <a:prstGeom prst="rect">
            <a:avLst/>
          </a:prstGeom>
          <a:noFill/>
          <a:ln/>
        </p:spPr>
        <p:txBody>
          <a:bodyPr wrap="square" lIns="0" tIns="0" rIns="0" bIns="0" rtlCol="0" anchor="t"/>
          <a:lstStyle/>
          <a:p>
            <a:pPr marL="0" indent="0" algn="l">
              <a:lnSpc>
                <a:spcPct val="100000"/>
              </a:lnSpc>
              <a:buNone/>
            </a:pPr>
            <a:r>
              <a:rPr lang="en-US" sz="1050" dirty="0">
                <a:solidFill>
                  <a:srgbClr val="475569"/>
                </a:solidFill>
                <a:latin typeface="Calibri" pitchFamily="34" charset="0"/>
                <a:ea typeface="Calibri" pitchFamily="34" charset="-122"/>
                <a:cs typeface="Calibri" pitchFamily="34" charset="-120"/>
              </a:rPr>
              <a:t>Ask one colleague what AI saved them this month and add it to the CNAIT Success Library.</a:t>
            </a:r>
            <a:endParaRPr lang="en-US" sz="1050" dirty="0"/>
          </a:p>
        </p:txBody>
      </p:sp>
      <p:sp>
        <p:nvSpPr>
          <p:cNvPr id="16" name="Shape 14"/>
          <p:cNvSpPr/>
          <p:nvPr/>
        </p:nvSpPr>
        <p:spPr>
          <a:xfrm>
            <a:off x="4673590" y="939820"/>
            <a:ext cx="1955810" cy="3759190"/>
          </a:xfrm>
          <a:prstGeom prst="roundRect">
            <a:avLst>
              <a:gd name="adj" fmla="val 5194"/>
            </a:avLst>
          </a:prstGeom>
          <a:solidFill>
            <a:srgbClr val="F8FAFC"/>
          </a:solidFill>
          <a:ln w="9525">
            <a:solidFill>
              <a:srgbClr val="E2E8F0"/>
            </a:solidFill>
            <a:prstDash val="solid"/>
          </a:ln>
        </p:spPr>
        <p:txBody>
          <a:bodyPr/>
          <a:lstStyle/>
          <a:p>
            <a:endParaRPr lang="en-US"/>
          </a:p>
        </p:txBody>
      </p:sp>
      <p:sp>
        <p:nvSpPr>
          <p:cNvPr id="17" name="Shape 15"/>
          <p:cNvSpPr/>
          <p:nvPr/>
        </p:nvSpPr>
        <p:spPr>
          <a:xfrm>
            <a:off x="4851441" y="1143000"/>
            <a:ext cx="431780" cy="431780"/>
          </a:xfrm>
          <a:prstGeom prst="ellipse">
            <a:avLst/>
          </a:prstGeom>
          <a:solidFill>
            <a:srgbClr val="1E3A5F"/>
          </a:solidFill>
          <a:ln/>
        </p:spPr>
        <p:txBody>
          <a:bodyPr/>
          <a:lstStyle/>
          <a:p>
            <a:endParaRPr lang="en-US"/>
          </a:p>
        </p:txBody>
      </p:sp>
      <p:sp>
        <p:nvSpPr>
          <p:cNvPr id="18" name="Text 16"/>
          <p:cNvSpPr txBox="1"/>
          <p:nvPr/>
        </p:nvSpPr>
        <p:spPr>
          <a:xfrm>
            <a:off x="4851441" y="1143000"/>
            <a:ext cx="431780" cy="431780"/>
          </a:xfrm>
          <a:prstGeom prst="rect">
            <a:avLst/>
          </a:prstGeom>
          <a:noFill/>
          <a:ln/>
        </p:spPr>
        <p:txBody>
          <a:bodyPr wrap="square" lIns="0" tIns="0" rIns="0" bIns="0" rtlCol="0" anchor="ctr"/>
          <a:lstStyle/>
          <a:p>
            <a:pPr marL="0" indent="0" algn="ctr">
              <a:lnSpc>
                <a:spcPct val="100000"/>
              </a:lnSpc>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9" name="Text 17"/>
          <p:cNvSpPr txBox="1"/>
          <p:nvPr/>
        </p:nvSpPr>
        <p:spPr>
          <a:xfrm>
            <a:off x="4851441" y="1727210"/>
            <a:ext cx="1600200" cy="558790"/>
          </a:xfrm>
          <a:prstGeom prst="rect">
            <a:avLst/>
          </a:prstGeom>
          <a:noFill/>
          <a:ln/>
        </p:spPr>
        <p:txBody>
          <a:bodyPr wrap="square" lIns="0" tIns="0" rIns="0" bIns="0" rtlCol="0" anchor="t"/>
          <a:lstStyle/>
          <a:p>
            <a:pPr marL="0" indent="0" algn="l">
              <a:lnSpc>
                <a:spcPct val="100000"/>
              </a:lnSpc>
              <a:buNone/>
            </a:pPr>
            <a:r>
              <a:rPr lang="en-US" sz="1300" b="1" dirty="0">
                <a:solidFill>
                  <a:srgbClr val="1A2433"/>
                </a:solidFill>
                <a:latin typeface="Calibri" pitchFamily="34" charset="0"/>
                <a:ea typeface="Calibri" pitchFamily="34" charset="-122"/>
                <a:cs typeface="Calibri" pitchFamily="34" charset="-120"/>
              </a:rPr>
              <a:t>Be the go-to resource</a:t>
            </a:r>
            <a:endParaRPr lang="en-US" sz="1300" dirty="0"/>
          </a:p>
        </p:txBody>
      </p:sp>
      <p:sp>
        <p:nvSpPr>
          <p:cNvPr id="20" name="Text 18"/>
          <p:cNvSpPr txBox="1"/>
          <p:nvPr/>
        </p:nvSpPr>
        <p:spPr>
          <a:xfrm>
            <a:off x="4851441" y="2362170"/>
            <a:ext cx="1600200" cy="2184410"/>
          </a:xfrm>
          <a:prstGeom prst="rect">
            <a:avLst/>
          </a:prstGeom>
          <a:noFill/>
          <a:ln/>
        </p:spPr>
        <p:txBody>
          <a:bodyPr wrap="square" lIns="0" tIns="0" rIns="0" bIns="0" rtlCol="0" anchor="t"/>
          <a:lstStyle/>
          <a:p>
            <a:pPr marL="0" indent="0" algn="l">
              <a:lnSpc>
                <a:spcPct val="100000"/>
              </a:lnSpc>
              <a:buNone/>
            </a:pPr>
            <a:r>
              <a:rPr lang="en-US" sz="1050" dirty="0">
                <a:solidFill>
                  <a:srgbClr val="475569"/>
                </a:solidFill>
                <a:latin typeface="Calibri" pitchFamily="34" charset="0"/>
                <a:ea typeface="Calibri" pitchFamily="34" charset="-122"/>
                <a:cs typeface="Calibri" pitchFamily="34" charset="-120"/>
              </a:rPr>
              <a:t>Answer what you can. Relay policy, access, and job questions to the CNAIT council.</a:t>
            </a:r>
            <a:endParaRPr lang="en-US" sz="1050" dirty="0"/>
          </a:p>
        </p:txBody>
      </p:sp>
      <p:sp>
        <p:nvSpPr>
          <p:cNvPr id="21" name="Shape 19"/>
          <p:cNvSpPr/>
          <p:nvPr/>
        </p:nvSpPr>
        <p:spPr>
          <a:xfrm>
            <a:off x="6832580" y="939820"/>
            <a:ext cx="1955810" cy="3759190"/>
          </a:xfrm>
          <a:prstGeom prst="roundRect">
            <a:avLst>
              <a:gd name="adj" fmla="val 5194"/>
            </a:avLst>
          </a:prstGeom>
          <a:solidFill>
            <a:srgbClr val="F8FAFC"/>
          </a:solidFill>
          <a:ln w="9525">
            <a:solidFill>
              <a:srgbClr val="E2E8F0"/>
            </a:solidFill>
            <a:prstDash val="solid"/>
          </a:ln>
        </p:spPr>
        <p:txBody>
          <a:bodyPr/>
          <a:lstStyle/>
          <a:p>
            <a:endParaRPr lang="en-US"/>
          </a:p>
        </p:txBody>
      </p:sp>
      <p:sp>
        <p:nvSpPr>
          <p:cNvPr id="22" name="Shape 20"/>
          <p:cNvSpPr/>
          <p:nvPr/>
        </p:nvSpPr>
        <p:spPr>
          <a:xfrm>
            <a:off x="7010430" y="1143000"/>
            <a:ext cx="431780" cy="431780"/>
          </a:xfrm>
          <a:prstGeom prst="ellipse">
            <a:avLst/>
          </a:prstGeom>
          <a:solidFill>
            <a:srgbClr val="2D6A4F"/>
          </a:solidFill>
          <a:ln/>
        </p:spPr>
        <p:txBody>
          <a:bodyPr/>
          <a:lstStyle/>
          <a:p>
            <a:endParaRPr lang="en-US"/>
          </a:p>
        </p:txBody>
      </p:sp>
      <p:sp>
        <p:nvSpPr>
          <p:cNvPr id="23" name="Text 21"/>
          <p:cNvSpPr txBox="1"/>
          <p:nvPr/>
        </p:nvSpPr>
        <p:spPr>
          <a:xfrm>
            <a:off x="7010430" y="1143000"/>
            <a:ext cx="431780" cy="431780"/>
          </a:xfrm>
          <a:prstGeom prst="rect">
            <a:avLst/>
          </a:prstGeom>
          <a:noFill/>
          <a:ln/>
        </p:spPr>
        <p:txBody>
          <a:bodyPr wrap="square" lIns="0" tIns="0" rIns="0" bIns="0" rtlCol="0" anchor="ctr"/>
          <a:lstStyle/>
          <a:p>
            <a:pPr marL="0" indent="0" algn="ctr">
              <a:lnSpc>
                <a:spcPct val="100000"/>
              </a:lnSpc>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4" name="Text 22"/>
          <p:cNvSpPr txBox="1"/>
          <p:nvPr/>
        </p:nvSpPr>
        <p:spPr>
          <a:xfrm>
            <a:off x="7010430" y="1727210"/>
            <a:ext cx="1600200" cy="558790"/>
          </a:xfrm>
          <a:prstGeom prst="rect">
            <a:avLst/>
          </a:prstGeom>
          <a:noFill/>
          <a:ln/>
        </p:spPr>
        <p:txBody>
          <a:bodyPr wrap="square" lIns="0" tIns="0" rIns="0" bIns="0" rtlCol="0" anchor="t"/>
          <a:lstStyle/>
          <a:p>
            <a:pPr marL="0" indent="0" algn="l">
              <a:lnSpc>
                <a:spcPct val="100000"/>
              </a:lnSpc>
              <a:buNone/>
            </a:pPr>
            <a:r>
              <a:rPr lang="en-US" sz="1300" b="1" dirty="0">
                <a:solidFill>
                  <a:srgbClr val="1A2433"/>
                </a:solidFill>
                <a:latin typeface="Calibri" pitchFamily="34" charset="0"/>
                <a:ea typeface="Calibri" pitchFamily="34" charset="-122"/>
                <a:cs typeface="Calibri" pitchFamily="34" charset="-120"/>
              </a:rPr>
              <a:t>Feed back what you hear</a:t>
            </a:r>
            <a:endParaRPr lang="en-US" sz="1300" dirty="0"/>
          </a:p>
        </p:txBody>
      </p:sp>
      <p:sp>
        <p:nvSpPr>
          <p:cNvPr id="25" name="Text 23"/>
          <p:cNvSpPr txBox="1"/>
          <p:nvPr/>
        </p:nvSpPr>
        <p:spPr>
          <a:xfrm>
            <a:off x="7010430" y="2362170"/>
            <a:ext cx="1600200" cy="2184410"/>
          </a:xfrm>
          <a:prstGeom prst="rect">
            <a:avLst/>
          </a:prstGeom>
          <a:noFill/>
          <a:ln/>
        </p:spPr>
        <p:txBody>
          <a:bodyPr wrap="square" lIns="0" tIns="0" rIns="0" bIns="0" rtlCol="0" anchor="t"/>
          <a:lstStyle/>
          <a:p>
            <a:pPr marL="0" indent="0" algn="l">
              <a:lnSpc>
                <a:spcPct val="100000"/>
              </a:lnSpc>
              <a:buNone/>
            </a:pPr>
            <a:r>
              <a:rPr lang="en-US" sz="1050" dirty="0">
                <a:solidFill>
                  <a:srgbClr val="475569"/>
                </a:solidFill>
                <a:latin typeface="Calibri" pitchFamily="34" charset="0"/>
                <a:ea typeface="Calibri" pitchFamily="34" charset="-122"/>
                <a:cs typeface="Calibri" pitchFamily="34" charset="-120"/>
              </a:rPr>
              <a:t>Track the questions and concerns in your sessions and share them — it shapes the next survey round.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E3A5F"/>
          </a:solidFill>
          <a:ln/>
        </p:spPr>
        <p:txBody>
          <a:bodyPr/>
          <a:lstStyle/>
          <a:p>
            <a:endParaRPr lang="en-US"/>
          </a:p>
        </p:txBody>
      </p:sp>
      <p:sp>
        <p:nvSpPr>
          <p:cNvPr id="3" name="Shape 1"/>
          <p:cNvSpPr/>
          <p:nvPr/>
        </p:nvSpPr>
        <p:spPr>
          <a:xfrm>
            <a:off x="5867430" y="-1219170"/>
            <a:ext cx="4826020" cy="4826020"/>
          </a:xfrm>
          <a:prstGeom prst="ellipse">
            <a:avLst/>
          </a:prstGeom>
          <a:solidFill>
            <a:srgbClr val="1A3355"/>
          </a:solidFill>
          <a:ln/>
        </p:spPr>
        <p:txBody>
          <a:bodyPr/>
          <a:lstStyle/>
          <a:p>
            <a:endParaRPr lang="en-US"/>
          </a:p>
        </p:txBody>
      </p:sp>
      <p:sp>
        <p:nvSpPr>
          <p:cNvPr id="4" name="Shape 2"/>
          <p:cNvSpPr/>
          <p:nvPr/>
        </p:nvSpPr>
        <p:spPr>
          <a:xfrm>
            <a:off x="7188190" y="2717780"/>
            <a:ext cx="3301990" cy="3301990"/>
          </a:xfrm>
          <a:prstGeom prst="ellipse">
            <a:avLst/>
          </a:prstGeom>
          <a:solidFill>
            <a:srgbClr val="172D4B"/>
          </a:solidFill>
          <a:ln/>
        </p:spPr>
        <p:txBody>
          <a:bodyPr/>
          <a:lstStyle/>
          <a:p>
            <a:endParaRPr lang="en-US"/>
          </a:p>
        </p:txBody>
      </p:sp>
      <p:sp>
        <p:nvSpPr>
          <p:cNvPr id="5" name="Shape 3"/>
          <p:cNvSpPr/>
          <p:nvPr/>
        </p:nvSpPr>
        <p:spPr>
          <a:xfrm>
            <a:off x="-1015990" y="4038630"/>
            <a:ext cx="2413010" cy="2413010"/>
          </a:xfrm>
          <a:prstGeom prst="ellipse">
            <a:avLst/>
          </a:prstGeom>
          <a:solidFill>
            <a:srgbClr val="1A3355"/>
          </a:solidFill>
          <a:ln/>
        </p:spPr>
        <p:txBody>
          <a:bodyPr/>
          <a:lstStyle/>
          <a:p>
            <a:endParaRPr lang="en-US"/>
          </a:p>
        </p:txBody>
      </p:sp>
      <p:sp>
        <p:nvSpPr>
          <p:cNvPr id="6" name="Text 4"/>
          <p:cNvSpPr txBox="1"/>
          <p:nvPr/>
        </p:nvSpPr>
        <p:spPr>
          <a:xfrm>
            <a:off x="711220" y="1371600"/>
            <a:ext cx="5842010" cy="1270010"/>
          </a:xfrm>
          <a:prstGeom prst="rect">
            <a:avLst/>
          </a:prstGeom>
          <a:noFill/>
          <a:ln/>
        </p:spPr>
        <p:txBody>
          <a:bodyPr wrap="square" lIns="0" tIns="0" rIns="0" bIns="0" rtlCol="0" anchor="t"/>
          <a:lstStyle/>
          <a:p>
            <a:pPr marL="0" indent="0" algn="l">
              <a:lnSpc>
                <a:spcPct val="92000"/>
              </a:lnSpc>
              <a:buNone/>
            </a:pPr>
            <a:r>
              <a:rPr lang="en-US" sz="3400" b="1" dirty="0">
                <a:solidFill>
                  <a:srgbClr val="FFFFFF"/>
                </a:solidFill>
                <a:latin typeface="Calibri" pitchFamily="34" charset="0"/>
                <a:ea typeface="Calibri" pitchFamily="34" charset="-122"/>
                <a:cs typeface="Calibri" pitchFamily="34" charset="-120"/>
              </a:rPr>
              <a:t>This Is Our Starting Line</a:t>
            </a:r>
            <a:endParaRPr lang="en-US" sz="3400" dirty="0"/>
          </a:p>
        </p:txBody>
      </p:sp>
      <p:sp>
        <p:nvSpPr>
          <p:cNvPr id="7" name="Text 5"/>
          <p:cNvSpPr txBox="1"/>
          <p:nvPr/>
        </p:nvSpPr>
        <p:spPr>
          <a:xfrm>
            <a:off x="711220" y="2717780"/>
            <a:ext cx="5587990" cy="508041"/>
          </a:xfrm>
          <a:prstGeom prst="rect">
            <a:avLst/>
          </a:prstGeom>
          <a:noFill/>
          <a:ln/>
        </p:spPr>
        <p:txBody>
          <a:bodyPr wrap="square" lIns="0" tIns="0" rIns="0" bIns="0" rtlCol="0" anchor="t"/>
          <a:lstStyle/>
          <a:p>
            <a:pPr marL="0" indent="0" algn="l">
              <a:lnSpc>
                <a:spcPct val="100000"/>
              </a:lnSpc>
              <a:buNone/>
            </a:pPr>
            <a:r>
              <a:rPr lang="en-US" sz="1400" dirty="0">
                <a:solidFill>
                  <a:srgbClr val="C9D6E8"/>
                </a:solidFill>
                <a:latin typeface="Calibri" pitchFamily="34" charset="0"/>
                <a:ea typeface="Calibri" pitchFamily="34" charset="-122"/>
                <a:cs typeface="Calibri" pitchFamily="34" charset="-120"/>
              </a:rPr>
              <a:t>Every 6 months, we’ll show exactly how far we’ve moved.</a:t>
            </a:r>
            <a:endParaRPr lang="en-US" sz="1400" dirty="0"/>
          </a:p>
        </p:txBody>
      </p:sp>
      <p:sp>
        <p:nvSpPr>
          <p:cNvPr id="8" name="Text 6"/>
          <p:cNvSpPr txBox="1"/>
          <p:nvPr/>
        </p:nvSpPr>
        <p:spPr>
          <a:xfrm>
            <a:off x="711220" y="3403580"/>
            <a:ext cx="5842010" cy="330190"/>
          </a:xfrm>
          <a:prstGeom prst="rect">
            <a:avLst/>
          </a:prstGeom>
          <a:noFill/>
          <a:ln/>
        </p:spPr>
        <p:txBody>
          <a:bodyPr wrap="square" lIns="0" tIns="0" rIns="0" bIns="0" rtlCol="0" anchor="t"/>
          <a:lstStyle/>
          <a:p>
            <a:pPr marL="0" indent="0" algn="l">
              <a:lnSpc>
                <a:spcPct val="100000"/>
              </a:lnSpc>
              <a:buNone/>
            </a:pPr>
            <a:r>
              <a:rPr lang="en-US" sz="1800" b="1" dirty="0">
                <a:solidFill>
                  <a:srgbClr val="F59E0B"/>
                </a:solidFill>
                <a:latin typeface="Calibri" pitchFamily="34" charset="0"/>
                <a:ea typeface="Calibri" pitchFamily="34" charset="-122"/>
                <a:cs typeface="Calibri" pitchFamily="34" charset="-120"/>
              </a:rPr>
              <a:t>Questions &amp; Discussion</a:t>
            </a:r>
            <a:endParaRPr lang="en-US" sz="1800" dirty="0"/>
          </a:p>
        </p:txBody>
      </p:sp>
      <p:sp>
        <p:nvSpPr>
          <p:cNvPr id="9" name="Text 7"/>
          <p:cNvSpPr txBox="1"/>
          <p:nvPr/>
        </p:nvSpPr>
        <p:spPr>
          <a:xfrm>
            <a:off x="711220" y="4470410"/>
            <a:ext cx="7112020" cy="177759"/>
          </a:xfrm>
          <a:prstGeom prst="rect">
            <a:avLst/>
          </a:prstGeom>
          <a:noFill/>
          <a:ln/>
        </p:spPr>
        <p:txBody>
          <a:bodyPr wrap="square" lIns="0" tIns="0" rIns="0" bIns="0" rtlCol="0" anchor="t"/>
          <a:lstStyle/>
          <a:p>
            <a:pPr marL="0" indent="0" algn="l">
              <a:lnSpc>
                <a:spcPct val="100000"/>
              </a:lnSpc>
              <a:buNone/>
            </a:pPr>
            <a:r>
              <a:rPr lang="en-US" sz="900" dirty="0">
                <a:solidFill>
                  <a:srgbClr val="C9D6E8"/>
                </a:solidFill>
                <a:latin typeface="Calibri" pitchFamily="34" charset="0"/>
                <a:ea typeface="Calibri" pitchFamily="34" charset="-122"/>
                <a:cs typeface="Calibri" pitchFamily="34" charset="-120"/>
              </a:rPr>
              <a:t>CNAIT Program  |  Survey [#] – Baseline Data</a:t>
            </a:r>
            <a:endParaRPr lang="en-US" sz="900" dirty="0"/>
          </a:p>
        </p:txBody>
      </p:sp>
      <p:sp>
        <p:nvSpPr>
          <p:cNvPr id="10" name="Text 8"/>
          <p:cNvSpPr txBox="1"/>
          <p:nvPr/>
        </p:nvSpPr>
        <p:spPr>
          <a:xfrm>
            <a:off x="711220" y="4673590"/>
            <a:ext cx="3810030" cy="152430"/>
          </a:xfrm>
          <a:prstGeom prst="rect">
            <a:avLst/>
          </a:prstGeom>
          <a:noFill/>
          <a:ln/>
        </p:spPr>
        <p:txBody>
          <a:bodyPr wrap="square" lIns="0" tIns="0" rIns="0" bIns="0" rtlCol="0" anchor="t"/>
          <a:lstStyle/>
          <a:p>
            <a:pPr marL="0" indent="0" algn="l">
              <a:lnSpc>
                <a:spcPct val="100000"/>
              </a:lnSpc>
              <a:buNone/>
            </a:pPr>
            <a:r>
              <a:rPr lang="en-US" sz="800" b="1" kern="0" spc="80">
                <a:solidFill>
                  <a:srgbClr val="F59E0B"/>
                </a:solidFill>
                <a:latin typeface="Calibri" pitchFamily="34" charset="0"/>
                <a:ea typeface="Calibri" pitchFamily="34" charset="-122"/>
                <a:cs typeface="Calibri" pitchFamily="34" charset="-120"/>
              </a:rPr>
              <a:t> </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3199</Words>
  <Application>Microsoft Office PowerPoint</Application>
  <PresentationFormat>On-screen Show (16:9)</PresentationFormat>
  <Paragraphs>207</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CNAIT Program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Awareness Survey</dc:title>
  <dc:subject>AI Awareness Survey insights (DRAFT)</dc:subject>
  <dc:creator>PptxGenJS</dc:creator>
  <cp:lastModifiedBy>Watson, Sarah (CTR) - OCIO-DISC, VA</cp:lastModifiedBy>
  <cp:revision>1</cp:revision>
  <dcterms:created xsi:type="dcterms:W3CDTF">2026-10-16T21:41:21Z</dcterms:created>
  <dcterms:modified xsi:type="dcterms:W3CDTF">2026-10-16T21:44:58Z</dcterms:modified>
</cp:coreProperties>
</file>