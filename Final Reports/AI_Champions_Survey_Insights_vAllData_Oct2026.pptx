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8E7D2-8A1D-497B-A17F-8B559132DEE9}" v="1" dt="2026-10-19T14:16:13.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6" d="100"/>
          <a:sy n="156" d="100"/>
        </p:scale>
        <p:origin x="140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Sarah (CTR) - OCIO-DISC, VA" userId="df6b9219-6125-48cb-b26b-165e2b0f108c" providerId="ADAL" clId="{B8E14C89-29FE-433A-9231-31982FF94371}"/>
    <pc:docChg chg="modSld">
      <pc:chgData name="Watson, Sarah (CTR) - OCIO-DISC, VA" userId="df6b9219-6125-48cb-b26b-165e2b0f108c" providerId="ADAL" clId="{B8E14C89-29FE-433A-9231-31982FF94371}" dt="2026-10-19T14:16:13.645" v="2"/>
      <pc:docMkLst>
        <pc:docMk/>
      </pc:docMkLst>
      <pc:sldChg chg="modSp">
        <pc:chgData name="Watson, Sarah (CTR) - OCIO-DISC, VA" userId="df6b9219-6125-48cb-b26b-165e2b0f108c" providerId="ADAL" clId="{B8E14C89-29FE-433A-9231-31982FF94371}" dt="2026-10-19T14:16:13.645" v="2"/>
        <pc:sldMkLst>
          <pc:docMk/>
          <pc:sldMk cId="0" sldId="256"/>
        </pc:sldMkLst>
        <pc:spChg chg="mod">
          <ac:chgData name="Watson, Sarah (CTR) - OCIO-DISC, VA" userId="df6b9219-6125-48cb-b26b-165e2b0f108c" providerId="ADAL" clId="{B8E14C89-29FE-433A-9231-31982FF94371}" dt="2026-10-19T14:16:13.645" v="2"/>
          <ac:spMkLst>
            <pc:docMk/>
            <pc:sldMk cId="0" sldId="256"/>
            <ac:spMk id="5" creationId="{00000000-0000-0000-0000-000000000000}"/>
          </ac:spMkLst>
        </pc:spChg>
        <pc:spChg chg="mod">
          <ac:chgData name="Watson, Sarah (CTR) - OCIO-DISC, VA" userId="df6b9219-6125-48cb-b26b-165e2b0f108c" providerId="ADAL" clId="{B8E14C89-29FE-433A-9231-31982FF94371}" dt="2026-10-19T14:16:13.645" v="2"/>
          <ac:spMkLst>
            <pc:docMk/>
            <pc:sldMk cId="0" sldId="256"/>
            <ac:spMk id="8"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57"/>
        </pc:sldMkLst>
        <pc:spChg chg="mod">
          <ac:chgData name="Watson, Sarah (CTR) - OCIO-DISC, VA" userId="df6b9219-6125-48cb-b26b-165e2b0f108c" providerId="ADAL" clId="{B8E14C89-29FE-433A-9231-31982FF94371}" dt="2026-10-19T14:16:13.645" v="2"/>
          <ac:spMkLst>
            <pc:docMk/>
            <pc:sldMk cId="0" sldId="257"/>
            <ac:spMk id="3" creationId="{00000000-0000-0000-0000-000000000000}"/>
          </ac:spMkLst>
        </pc:spChg>
      </pc:sldChg>
      <pc:sldChg chg="modSp mod">
        <pc:chgData name="Watson, Sarah (CTR) - OCIO-DISC, VA" userId="df6b9219-6125-48cb-b26b-165e2b0f108c" providerId="ADAL" clId="{B8E14C89-29FE-433A-9231-31982FF94371}" dt="2026-10-19T14:16:13.645" v="2"/>
        <pc:sldMkLst>
          <pc:docMk/>
          <pc:sldMk cId="0" sldId="258"/>
        </pc:sldMkLst>
        <pc:spChg chg="mod">
          <ac:chgData name="Watson, Sarah (CTR) - OCIO-DISC, VA" userId="df6b9219-6125-48cb-b26b-165e2b0f108c" providerId="ADAL" clId="{B8E14C89-29FE-433A-9231-31982FF94371}" dt="2026-10-19T14:16:13.645" v="2"/>
          <ac:spMkLst>
            <pc:docMk/>
            <pc:sldMk cId="0" sldId="258"/>
            <ac:spMk id="3" creationId="{00000000-0000-0000-0000-000000000000}"/>
          </ac:spMkLst>
        </pc:spChg>
        <pc:spChg chg="mod">
          <ac:chgData name="Watson, Sarah (CTR) - OCIO-DISC, VA" userId="df6b9219-6125-48cb-b26b-165e2b0f108c" providerId="ADAL" clId="{B8E14C89-29FE-433A-9231-31982FF94371}" dt="2026-10-19T14:15:29.775" v="1" actId="6549"/>
          <ac:spMkLst>
            <pc:docMk/>
            <pc:sldMk cId="0" sldId="258"/>
            <ac:spMk id="16"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59"/>
        </pc:sldMkLst>
        <pc:spChg chg="mod">
          <ac:chgData name="Watson, Sarah (CTR) - OCIO-DISC, VA" userId="df6b9219-6125-48cb-b26b-165e2b0f108c" providerId="ADAL" clId="{B8E14C89-29FE-433A-9231-31982FF94371}" dt="2026-10-19T14:16:13.645" v="2"/>
          <ac:spMkLst>
            <pc:docMk/>
            <pc:sldMk cId="0" sldId="259"/>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0"/>
        </pc:sldMkLst>
        <pc:spChg chg="mod">
          <ac:chgData name="Watson, Sarah (CTR) - OCIO-DISC, VA" userId="df6b9219-6125-48cb-b26b-165e2b0f108c" providerId="ADAL" clId="{B8E14C89-29FE-433A-9231-31982FF94371}" dt="2026-10-19T14:16:13.645" v="2"/>
          <ac:spMkLst>
            <pc:docMk/>
            <pc:sldMk cId="0" sldId="260"/>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1"/>
        </pc:sldMkLst>
        <pc:spChg chg="mod">
          <ac:chgData name="Watson, Sarah (CTR) - OCIO-DISC, VA" userId="df6b9219-6125-48cb-b26b-165e2b0f108c" providerId="ADAL" clId="{B8E14C89-29FE-433A-9231-31982FF94371}" dt="2026-10-19T14:16:13.645" v="2"/>
          <ac:spMkLst>
            <pc:docMk/>
            <pc:sldMk cId="0" sldId="261"/>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2"/>
        </pc:sldMkLst>
        <pc:spChg chg="mod">
          <ac:chgData name="Watson, Sarah (CTR) - OCIO-DISC, VA" userId="df6b9219-6125-48cb-b26b-165e2b0f108c" providerId="ADAL" clId="{B8E14C89-29FE-433A-9231-31982FF94371}" dt="2026-10-19T14:16:13.645" v="2"/>
          <ac:spMkLst>
            <pc:docMk/>
            <pc:sldMk cId="0" sldId="262"/>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3"/>
        </pc:sldMkLst>
        <pc:spChg chg="mod">
          <ac:chgData name="Watson, Sarah (CTR) - OCIO-DISC, VA" userId="df6b9219-6125-48cb-b26b-165e2b0f108c" providerId="ADAL" clId="{B8E14C89-29FE-433A-9231-31982FF94371}" dt="2026-10-19T14:16:13.645" v="2"/>
          <ac:spMkLst>
            <pc:docMk/>
            <pc:sldMk cId="0" sldId="263"/>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4"/>
        </pc:sldMkLst>
        <pc:spChg chg="mod">
          <ac:chgData name="Watson, Sarah (CTR) - OCIO-DISC, VA" userId="df6b9219-6125-48cb-b26b-165e2b0f108c" providerId="ADAL" clId="{B8E14C89-29FE-433A-9231-31982FF94371}" dt="2026-10-19T14:16:13.645" v="2"/>
          <ac:spMkLst>
            <pc:docMk/>
            <pc:sldMk cId="0" sldId="264"/>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5"/>
        </pc:sldMkLst>
        <pc:spChg chg="mod">
          <ac:chgData name="Watson, Sarah (CTR) - OCIO-DISC, VA" userId="df6b9219-6125-48cb-b26b-165e2b0f108c" providerId="ADAL" clId="{B8E14C89-29FE-433A-9231-31982FF94371}" dt="2026-10-19T14:16:13.645" v="2"/>
          <ac:spMkLst>
            <pc:docMk/>
            <pc:sldMk cId="0" sldId="265"/>
            <ac:spMk id="3" creationId="{00000000-0000-0000-0000-000000000000}"/>
          </ac:spMkLst>
        </pc:spChg>
      </pc:sldChg>
      <pc:sldChg chg="modSp">
        <pc:chgData name="Watson, Sarah (CTR) - OCIO-DISC, VA" userId="df6b9219-6125-48cb-b26b-165e2b0f108c" providerId="ADAL" clId="{B8E14C89-29FE-433A-9231-31982FF94371}" dt="2026-10-19T14:16:13.645" v="2"/>
        <pc:sldMkLst>
          <pc:docMk/>
          <pc:sldMk cId="0" sldId="266"/>
        </pc:sldMkLst>
        <pc:spChg chg="mod">
          <ac:chgData name="Watson, Sarah (CTR) - OCIO-DISC, VA" userId="df6b9219-6125-48cb-b26b-165e2b0f108c" providerId="ADAL" clId="{B8E14C89-29FE-433A-9231-31982FF94371}" dt="2026-10-19T14:16:13.645" v="2"/>
          <ac:spMkLst>
            <pc:docMk/>
            <pc:sldMk cId="0" sldId="266"/>
            <ac:spMk id="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1E3A5F"/>
            </a:solidFill>
            <a:effectLst/>
          </c:spPr>
          <c:invertIfNegative val="0"/>
          <c:dPt>
            <c:idx val="0"/>
            <c:invertIfNegative val="0"/>
            <c:bubble3D val="0"/>
            <c:spPr>
              <a:solidFill>
                <a:srgbClr val="1E3A5F"/>
              </a:solidFill>
              <a:effectLst/>
            </c:spPr>
            <c:extLst>
              <c:ext xmlns:c16="http://schemas.microsoft.com/office/drawing/2014/chart" uri="{C3380CC4-5D6E-409C-BE32-E72D297353CC}">
                <c16:uniqueId val="{00000001-FC3D-4462-A959-528EA0DF4EB2}"/>
              </c:ext>
            </c:extLst>
          </c:dPt>
          <c:dPt>
            <c:idx val="1"/>
            <c:invertIfNegative val="0"/>
            <c:bubble3D val="0"/>
            <c:spPr>
              <a:solidFill>
                <a:srgbClr val="2D6A4F"/>
              </a:solidFill>
              <a:effectLst/>
            </c:spPr>
            <c:extLst>
              <c:ext xmlns:c16="http://schemas.microsoft.com/office/drawing/2014/chart" uri="{C3380CC4-5D6E-409C-BE32-E72D297353CC}">
                <c16:uniqueId val="{00000003-FC3D-4462-A959-528EA0DF4EB2}"/>
              </c:ext>
            </c:extLst>
          </c:dPt>
          <c:dPt>
            <c:idx val="2"/>
            <c:invertIfNegative val="0"/>
            <c:bubble3D val="0"/>
            <c:spPr>
              <a:solidFill>
                <a:srgbClr val="1E3A5F"/>
              </a:solidFill>
              <a:effectLst/>
            </c:spPr>
            <c:extLst>
              <c:ext xmlns:c16="http://schemas.microsoft.com/office/drawing/2014/chart" uri="{C3380CC4-5D6E-409C-BE32-E72D297353CC}">
                <c16:uniqueId val="{00000005-FC3D-4462-A959-528EA0DF4EB2}"/>
              </c:ext>
            </c:extLst>
          </c:dPt>
          <c:dPt>
            <c:idx val="3"/>
            <c:invertIfNegative val="0"/>
            <c:bubble3D val="0"/>
            <c:spPr>
              <a:solidFill>
                <a:srgbClr val="2D6A4F"/>
              </a:solidFill>
              <a:effectLst/>
            </c:spPr>
            <c:extLst>
              <c:ext xmlns:c16="http://schemas.microsoft.com/office/drawing/2014/chart" uri="{C3380CC4-5D6E-409C-BE32-E72D297353CC}">
                <c16:uniqueId val="{00000007-FC3D-4462-A959-528EA0DF4EB2}"/>
              </c:ext>
            </c:extLst>
          </c:dPt>
          <c:dPt>
            <c:idx val="4"/>
            <c:invertIfNegative val="0"/>
            <c:bubble3D val="0"/>
            <c:spPr>
              <a:solidFill>
                <a:srgbClr val="1E3A5F"/>
              </a:solidFill>
              <a:effectLst/>
            </c:spPr>
            <c:extLst>
              <c:ext xmlns:c16="http://schemas.microsoft.com/office/drawing/2014/chart" uri="{C3380CC4-5D6E-409C-BE32-E72D297353CC}">
                <c16:uniqueId val="{00000009-FC3D-4462-A959-528EA0DF4EB2}"/>
              </c:ext>
            </c:extLst>
          </c:dPt>
          <c:dPt>
            <c:idx val="5"/>
            <c:invertIfNegative val="0"/>
            <c:bubble3D val="0"/>
            <c:spPr>
              <a:solidFill>
                <a:srgbClr val="2D6A4F"/>
              </a:solidFill>
              <a:effectLst/>
            </c:spPr>
            <c:extLst>
              <c:ext xmlns:c16="http://schemas.microsoft.com/office/drawing/2014/chart" uri="{C3380CC4-5D6E-409C-BE32-E72D297353CC}">
                <c16:uniqueId val="{0000000B-FC3D-4462-A959-528EA0DF4EB2}"/>
              </c:ext>
            </c:extLst>
          </c:dPt>
          <c:dPt>
            <c:idx val="6"/>
            <c:invertIfNegative val="0"/>
            <c:bubble3D val="0"/>
            <c:spPr>
              <a:solidFill>
                <a:srgbClr val="1E3A5F"/>
              </a:solidFill>
              <a:effectLst/>
            </c:spPr>
            <c:extLst>
              <c:ext xmlns:c16="http://schemas.microsoft.com/office/drawing/2014/chart" uri="{C3380CC4-5D6E-409C-BE32-E72D297353CC}">
                <c16:uniqueId val="{0000000D-FC3D-4462-A959-528EA0DF4EB2}"/>
              </c:ext>
            </c:extLst>
          </c:dPt>
          <c:dPt>
            <c:idx val="7"/>
            <c:invertIfNegative val="0"/>
            <c:bubble3D val="0"/>
            <c:spPr>
              <a:solidFill>
                <a:srgbClr val="2D6A4F"/>
              </a:solidFill>
              <a:effectLst/>
            </c:spPr>
            <c:extLst>
              <c:ext xmlns:c16="http://schemas.microsoft.com/office/drawing/2014/chart" uri="{C3380CC4-5D6E-409C-BE32-E72D297353CC}">
                <c16:uniqueId val="{0000000F-FC3D-4462-A959-528EA0DF4EB2}"/>
              </c:ext>
            </c:extLst>
          </c:dPt>
          <c:dPt>
            <c:idx val="8"/>
            <c:invertIfNegative val="0"/>
            <c:bubble3D val="0"/>
            <c:spPr>
              <a:solidFill>
                <a:srgbClr val="1E3A5F"/>
              </a:solidFill>
              <a:effectLst/>
            </c:spPr>
            <c:extLst>
              <c:ext xmlns:c16="http://schemas.microsoft.com/office/drawing/2014/chart" uri="{C3380CC4-5D6E-409C-BE32-E72D297353CC}">
                <c16:uniqueId val="{00000011-FC3D-4462-A959-528EA0DF4EB2}"/>
              </c:ext>
            </c:extLst>
          </c:dPt>
          <c:dPt>
            <c:idx val="9"/>
            <c:invertIfNegative val="0"/>
            <c:bubble3D val="0"/>
            <c:spPr>
              <a:solidFill>
                <a:srgbClr val="2D6A4F"/>
              </a:solidFill>
              <a:effectLst/>
            </c:spPr>
            <c:extLst>
              <c:ext xmlns:c16="http://schemas.microsoft.com/office/drawing/2014/chart" uri="{C3380CC4-5D6E-409C-BE32-E72D297353CC}">
                <c16:uniqueId val="{00000013-FC3D-4462-A959-528EA0DF4EB2}"/>
              </c:ext>
            </c:extLst>
          </c:dPt>
          <c:dPt>
            <c:idx val="10"/>
            <c:invertIfNegative val="0"/>
            <c:bubble3D val="0"/>
            <c:spPr>
              <a:solidFill>
                <a:srgbClr val="1E3A5F"/>
              </a:solidFill>
              <a:effectLst/>
            </c:spPr>
            <c:extLst>
              <c:ext xmlns:c16="http://schemas.microsoft.com/office/drawing/2014/chart" uri="{C3380CC4-5D6E-409C-BE32-E72D297353CC}">
                <c16:uniqueId val="{00000015-FC3D-4462-A959-528EA0DF4EB2}"/>
              </c:ext>
            </c:extLst>
          </c:dPt>
          <c:dPt>
            <c:idx val="11"/>
            <c:invertIfNegative val="0"/>
            <c:bubble3D val="0"/>
            <c:spPr>
              <a:solidFill>
                <a:srgbClr val="2D6A4F"/>
              </a:solidFill>
              <a:effectLst/>
            </c:spPr>
            <c:extLst>
              <c:ext xmlns:c16="http://schemas.microsoft.com/office/drawing/2014/chart" uri="{C3380CC4-5D6E-409C-BE32-E72D297353CC}">
                <c16:uniqueId val="{00000017-FC3D-4462-A959-528EA0DF4EB2}"/>
              </c:ext>
            </c:extLst>
          </c:dPt>
          <c:dPt>
            <c:idx val="12"/>
            <c:invertIfNegative val="0"/>
            <c:bubble3D val="0"/>
            <c:spPr>
              <a:solidFill>
                <a:srgbClr val="1E3A5F"/>
              </a:solidFill>
              <a:effectLst/>
            </c:spPr>
            <c:extLst>
              <c:ext xmlns:c16="http://schemas.microsoft.com/office/drawing/2014/chart" uri="{C3380CC4-5D6E-409C-BE32-E72D297353CC}">
                <c16:uniqueId val="{00000019-FC3D-4462-A959-528EA0DF4EB2}"/>
              </c:ext>
            </c:extLst>
          </c:dPt>
          <c:dPt>
            <c:idx val="13"/>
            <c:invertIfNegative val="0"/>
            <c:bubble3D val="0"/>
            <c:spPr>
              <a:solidFill>
                <a:srgbClr val="2D6A4F"/>
              </a:solidFill>
              <a:effectLst/>
            </c:spPr>
            <c:extLst>
              <c:ext xmlns:c16="http://schemas.microsoft.com/office/drawing/2014/chart" uri="{C3380CC4-5D6E-409C-BE32-E72D297353CC}">
                <c16:uniqueId val="{0000001B-FC3D-4462-A959-528EA0DF4EB2}"/>
              </c:ext>
            </c:extLst>
          </c:dPt>
          <c:dPt>
            <c:idx val="14"/>
            <c:invertIfNegative val="0"/>
            <c:bubble3D val="0"/>
            <c:spPr>
              <a:solidFill>
                <a:srgbClr val="1E3A5F"/>
              </a:solidFill>
              <a:effectLst/>
            </c:spPr>
            <c:extLst>
              <c:ext xmlns:c16="http://schemas.microsoft.com/office/drawing/2014/chart" uri="{C3380CC4-5D6E-409C-BE32-E72D297353CC}">
                <c16:uniqueId val="{0000001D-FC3D-4462-A959-528EA0DF4EB2}"/>
              </c:ext>
            </c:extLst>
          </c:dPt>
          <c:dPt>
            <c:idx val="15"/>
            <c:invertIfNegative val="0"/>
            <c:bubble3D val="0"/>
            <c:spPr>
              <a:solidFill>
                <a:srgbClr val="2D6A4F"/>
              </a:solidFill>
              <a:effectLst/>
            </c:spPr>
            <c:extLst>
              <c:ext xmlns:c16="http://schemas.microsoft.com/office/drawing/2014/chart" uri="{C3380CC4-5D6E-409C-BE32-E72D297353CC}">
                <c16:uniqueId val="{0000001F-FC3D-4462-A959-528EA0DF4EB2}"/>
              </c:ext>
            </c:extLst>
          </c:dPt>
          <c:dPt>
            <c:idx val="16"/>
            <c:invertIfNegative val="0"/>
            <c:bubble3D val="0"/>
            <c:spPr>
              <a:solidFill>
                <a:srgbClr val="1E3A5F"/>
              </a:solidFill>
              <a:effectLst/>
            </c:spPr>
            <c:extLst>
              <c:ext xmlns:c16="http://schemas.microsoft.com/office/drawing/2014/chart" uri="{C3380CC4-5D6E-409C-BE32-E72D297353CC}">
                <c16:uniqueId val="{00000021-FC3D-4462-A959-528EA0DF4EB2}"/>
              </c:ext>
            </c:extLst>
          </c:dPt>
          <c:dPt>
            <c:idx val="17"/>
            <c:invertIfNegative val="0"/>
            <c:bubble3D val="0"/>
            <c:spPr>
              <a:solidFill>
                <a:srgbClr val="2D6A4F"/>
              </a:solidFill>
              <a:effectLst/>
            </c:spPr>
            <c:extLst>
              <c:ext xmlns:c16="http://schemas.microsoft.com/office/drawing/2014/chart" uri="{C3380CC4-5D6E-409C-BE32-E72D297353CC}">
                <c16:uniqueId val="{00000023-FC3D-4462-A959-528EA0DF4EB2}"/>
              </c:ext>
            </c:extLst>
          </c:dPt>
          <c:dLbls>
            <c:numFmt formatCode="#,##0" sourceLinked="0"/>
            <c:spPr>
              <a:noFill/>
              <a:ln>
                <a:noFill/>
              </a:ln>
              <a:effectLst/>
            </c:spPr>
            <c:txPr>
              <a:bodyPr/>
              <a:lstStyle/>
              <a:p>
                <a:pPr>
                  <a:defRPr sz="8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Sheet1!$A$2:$A$19</c:f>
              <c:strCache>
                <c:ptCount val="18"/>
                <c:pt idx="0">
                  <c:v>RD-RHS</c:v>
                </c:pt>
                <c:pt idx="1">
                  <c:v>FSA</c:v>
                </c:pt>
                <c:pt idx="2">
                  <c:v>RD</c:v>
                </c:pt>
                <c:pt idx="3">
                  <c:v>FS</c:v>
                </c:pt>
                <c:pt idx="4">
                  <c:v>RD-RUS</c:v>
                </c:pt>
                <c:pt idx="5">
                  <c:v>NRCS</c:v>
                </c:pt>
                <c:pt idx="6">
                  <c:v>RD-RBCS</c:v>
                </c:pt>
                <c:pt idx="7">
                  <c:v>APHIS</c:v>
                </c:pt>
                <c:pt idx="8">
                  <c:v>ARS</c:v>
                </c:pt>
                <c:pt idx="9">
                  <c:v>Prefer not to specify</c:v>
                </c:pt>
                <c:pt idx="10">
                  <c:v>FNS</c:v>
                </c:pt>
                <c:pt idx="11">
                  <c:v>OCIO</c:v>
                </c:pt>
                <c:pt idx="12">
                  <c:v>OCFO</c:v>
                </c:pt>
                <c:pt idx="13">
                  <c:v>OHA</c:v>
                </c:pt>
                <c:pt idx="14">
                  <c:v>FSIS</c:v>
                </c:pt>
                <c:pt idx="15">
                  <c:v>DA</c:v>
                </c:pt>
                <c:pt idx="16">
                  <c:v>AMS</c:v>
                </c:pt>
                <c:pt idx="17">
                  <c:v>ERS</c:v>
                </c:pt>
              </c:strCache>
            </c:strRef>
          </c:cat>
          <c:val>
            <c:numRef>
              <c:f>Sheet1!$B$2:$B$19</c:f>
              <c:numCache>
                <c:formatCode>General</c:formatCode>
                <c:ptCount val="18"/>
                <c:pt idx="0">
                  <c:v>82</c:v>
                </c:pt>
                <c:pt idx="1">
                  <c:v>76</c:v>
                </c:pt>
                <c:pt idx="2">
                  <c:v>67</c:v>
                </c:pt>
                <c:pt idx="3">
                  <c:v>57</c:v>
                </c:pt>
                <c:pt idx="4">
                  <c:v>39</c:v>
                </c:pt>
                <c:pt idx="5">
                  <c:v>37</c:v>
                </c:pt>
                <c:pt idx="6">
                  <c:v>34</c:v>
                </c:pt>
                <c:pt idx="7">
                  <c:v>21</c:v>
                </c:pt>
                <c:pt idx="8">
                  <c:v>20</c:v>
                </c:pt>
                <c:pt idx="9">
                  <c:v>16</c:v>
                </c:pt>
                <c:pt idx="10">
                  <c:v>10</c:v>
                </c:pt>
                <c:pt idx="11">
                  <c:v>9</c:v>
                </c:pt>
                <c:pt idx="12">
                  <c:v>6</c:v>
                </c:pt>
                <c:pt idx="13">
                  <c:v>6</c:v>
                </c:pt>
                <c:pt idx="14">
                  <c:v>5</c:v>
                </c:pt>
                <c:pt idx="15">
                  <c:v>2</c:v>
                </c:pt>
                <c:pt idx="16">
                  <c:v>2</c:v>
                </c:pt>
                <c:pt idx="17">
                  <c:v>1</c:v>
                </c:pt>
              </c:numCache>
            </c:numRef>
          </c:val>
          <c:extLst>
            <c:ext xmlns:c16="http://schemas.microsoft.com/office/drawing/2014/chart" uri="{C3380CC4-5D6E-409C-BE32-E72D297353CC}">
              <c16:uniqueId val="{00000024-FC3D-4462-A959-528EA0DF4EB2}"/>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8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97"/>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64748B"/>
              </a:solidFill>
              <a:ln w="12700" cap="flat">
                <a:solidFill>
                  <a:srgbClr val="FFFFFF"/>
                </a:solidFill>
                <a:prstDash val="solid"/>
                <a:round/>
              </a:ln>
              <a:effectLst/>
            </c:spPr>
            <c:extLst>
              <c:ext xmlns:c16="http://schemas.microsoft.com/office/drawing/2014/chart" uri="{C3380CC4-5D6E-409C-BE32-E72D297353CC}">
                <c16:uniqueId val="{00000001-B34C-46B2-A2F2-A1F47BE9AEF4}"/>
              </c:ext>
            </c:extLst>
          </c:dPt>
          <c:dPt>
            <c:idx val="1"/>
            <c:bubble3D val="0"/>
            <c:spPr>
              <a:solidFill>
                <a:srgbClr val="40698B"/>
              </a:solidFill>
              <a:ln w="12700" cap="flat">
                <a:solidFill>
                  <a:srgbClr val="FFFFFF"/>
                </a:solidFill>
                <a:prstDash val="solid"/>
                <a:round/>
              </a:ln>
              <a:effectLst/>
            </c:spPr>
            <c:extLst>
              <c:ext xmlns:c16="http://schemas.microsoft.com/office/drawing/2014/chart" uri="{C3380CC4-5D6E-409C-BE32-E72D297353CC}">
                <c16:uniqueId val="{00000003-B34C-46B2-A2F2-A1F47BE9AEF4}"/>
              </c:ext>
            </c:extLst>
          </c:dPt>
          <c:dPt>
            <c:idx val="2"/>
            <c:bubble3D val="0"/>
            <c:spPr>
              <a:solidFill>
                <a:srgbClr val="1B5E8A"/>
              </a:solidFill>
              <a:ln w="12700" cap="flat">
                <a:solidFill>
                  <a:srgbClr val="FFFFFF"/>
                </a:solidFill>
                <a:prstDash val="solid"/>
                <a:round/>
              </a:ln>
              <a:effectLst/>
            </c:spPr>
            <c:extLst>
              <c:ext xmlns:c16="http://schemas.microsoft.com/office/drawing/2014/chart" uri="{C3380CC4-5D6E-409C-BE32-E72D297353CC}">
                <c16:uniqueId val="{00000005-B34C-46B2-A2F2-A1F47BE9AEF4}"/>
              </c:ext>
            </c:extLst>
          </c:dPt>
          <c:dPt>
            <c:idx val="3"/>
            <c:bubble3D val="0"/>
            <c:spPr>
              <a:solidFill>
                <a:srgbClr val="40916C"/>
              </a:solidFill>
              <a:ln w="12700" cap="flat">
                <a:solidFill>
                  <a:srgbClr val="FFFFFF"/>
                </a:solidFill>
                <a:prstDash val="solid"/>
                <a:round/>
              </a:ln>
              <a:effectLst/>
            </c:spPr>
            <c:extLst>
              <c:ext xmlns:c16="http://schemas.microsoft.com/office/drawing/2014/chart" uri="{C3380CC4-5D6E-409C-BE32-E72D297353CC}">
                <c16:uniqueId val="{00000007-B34C-46B2-A2F2-A1F47BE9AEF4}"/>
              </c:ext>
            </c:extLst>
          </c:dPt>
          <c:dPt>
            <c:idx val="4"/>
            <c:bubble3D val="0"/>
            <c:spPr>
              <a:solidFill>
                <a:srgbClr val="2D6A4F"/>
              </a:solidFill>
              <a:ln w="12700" cap="flat">
                <a:solidFill>
                  <a:srgbClr val="FFFFFF"/>
                </a:solidFill>
                <a:prstDash val="solid"/>
                <a:round/>
              </a:ln>
              <a:effectLst/>
            </c:spPr>
            <c:extLst>
              <c:ext xmlns:c16="http://schemas.microsoft.com/office/drawing/2014/chart" uri="{C3380CC4-5D6E-409C-BE32-E72D297353CC}">
                <c16:uniqueId val="{00000009-B34C-46B2-A2F2-A1F47BE9AEF4}"/>
              </c:ext>
            </c:extLst>
          </c:dPt>
          <c:cat>
            <c:strRef>
              <c:f>Sheet1!$A$2:$A$6</c:f>
              <c:strCache>
                <c:ptCount val="5"/>
                <c:pt idx="0">
                  <c:v>Never</c:v>
                </c:pt>
                <c:pt idx="1">
                  <c:v>Rarely</c:v>
                </c:pt>
                <c:pt idx="2">
                  <c:v>Sometimes</c:v>
                </c:pt>
                <c:pt idx="3">
                  <c:v>Often</c:v>
                </c:pt>
                <c:pt idx="4">
                  <c:v>Daily</c:v>
                </c:pt>
              </c:strCache>
            </c:strRef>
          </c:cat>
          <c:val>
            <c:numRef>
              <c:f>Sheet1!$B$2:$B$6</c:f>
              <c:numCache>
                <c:formatCode>General</c:formatCode>
                <c:ptCount val="5"/>
                <c:pt idx="0">
                  <c:v>133</c:v>
                </c:pt>
                <c:pt idx="1">
                  <c:v>106</c:v>
                </c:pt>
                <c:pt idx="2">
                  <c:v>137</c:v>
                </c:pt>
                <c:pt idx="3">
                  <c:v>53</c:v>
                </c:pt>
                <c:pt idx="4">
                  <c:v>60</c:v>
                </c:pt>
              </c:numCache>
            </c:numRef>
          </c:val>
          <c:extLst>
            <c:ext xmlns:c16="http://schemas.microsoft.com/office/drawing/2014/chart" uri="{C3380CC4-5D6E-409C-BE32-E72D297353CC}">
              <c16:uniqueId val="{0000000A-B34C-46B2-A2F2-A1F47BE9AEF4}"/>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1E3A5F"/>
            </a:solidFill>
            <a:effectLst/>
          </c:spPr>
          <c:invertIfNegative val="0"/>
          <c:dPt>
            <c:idx val="0"/>
            <c:invertIfNegative val="0"/>
            <c:bubble3D val="0"/>
            <c:extLst>
              <c:ext xmlns:c16="http://schemas.microsoft.com/office/drawing/2014/chart" uri="{C3380CC4-5D6E-409C-BE32-E72D297353CC}">
                <c16:uniqueId val="{00000001-583C-4D6E-9E30-E01E18014C33}"/>
              </c:ext>
            </c:extLst>
          </c:dPt>
          <c:dPt>
            <c:idx val="1"/>
            <c:invertIfNegative val="0"/>
            <c:bubble3D val="0"/>
            <c:extLst>
              <c:ext xmlns:c16="http://schemas.microsoft.com/office/drawing/2014/chart" uri="{C3380CC4-5D6E-409C-BE32-E72D297353CC}">
                <c16:uniqueId val="{00000003-583C-4D6E-9E30-E01E18014C33}"/>
              </c:ext>
            </c:extLst>
          </c:dPt>
          <c:dPt>
            <c:idx val="2"/>
            <c:invertIfNegative val="0"/>
            <c:bubble3D val="0"/>
            <c:extLst>
              <c:ext xmlns:c16="http://schemas.microsoft.com/office/drawing/2014/chart" uri="{C3380CC4-5D6E-409C-BE32-E72D297353CC}">
                <c16:uniqueId val="{00000005-583C-4D6E-9E30-E01E18014C33}"/>
              </c:ext>
            </c:extLst>
          </c:dPt>
          <c:dPt>
            <c:idx val="3"/>
            <c:invertIfNegative val="0"/>
            <c:bubble3D val="0"/>
            <c:extLst>
              <c:ext xmlns:c16="http://schemas.microsoft.com/office/drawing/2014/chart" uri="{C3380CC4-5D6E-409C-BE32-E72D297353CC}">
                <c16:uniqueId val="{00000007-583C-4D6E-9E30-E01E18014C33}"/>
              </c:ext>
            </c:extLst>
          </c:dPt>
          <c:dPt>
            <c:idx val="4"/>
            <c:invertIfNegative val="0"/>
            <c:bubble3D val="0"/>
            <c:extLst>
              <c:ext xmlns:c16="http://schemas.microsoft.com/office/drawing/2014/chart" uri="{C3380CC4-5D6E-409C-BE32-E72D297353CC}">
                <c16:uniqueId val="{00000009-583C-4D6E-9E30-E01E18014C33}"/>
              </c:ext>
            </c:extLst>
          </c:dPt>
          <c:dPt>
            <c:idx val="5"/>
            <c:invertIfNegative val="0"/>
            <c:bubble3D val="0"/>
            <c:extLst>
              <c:ext xmlns:c16="http://schemas.microsoft.com/office/drawing/2014/chart" uri="{C3380CC4-5D6E-409C-BE32-E72D297353CC}">
                <c16:uniqueId val="{0000000B-583C-4D6E-9E30-E01E18014C33}"/>
              </c:ext>
            </c:extLst>
          </c:dPt>
          <c:dLbls>
            <c:numFmt formatCode="#,##0" sourceLinked="0"/>
            <c:spPr>
              <a:noFill/>
              <a:ln>
                <a:noFill/>
              </a:ln>
              <a:effectLst/>
            </c:spPr>
            <c:txPr>
              <a:bodyPr/>
              <a:lstStyle/>
              <a:p>
                <a:pPr>
                  <a:defRPr sz="10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Trust in accuracy</c:v>
                </c:pt>
                <c:pt idx="1">
                  <c:v>Lack of training</c:v>
                </c:pt>
                <c:pt idx="2">
                  <c:v>Unclear policies</c:v>
                </c:pt>
                <c:pt idx="3">
                  <c:v>Privacy &amp; security</c:v>
                </c:pt>
                <c:pt idx="4">
                  <c:v>Time constraints</c:v>
                </c:pt>
                <c:pt idx="5">
                  <c:v>Not relevant to my work</c:v>
                </c:pt>
              </c:strCache>
            </c:strRef>
          </c:cat>
          <c:val>
            <c:numRef>
              <c:f>Sheet1!$B$2:$B$7</c:f>
              <c:numCache>
                <c:formatCode>General</c:formatCode>
                <c:ptCount val="6"/>
                <c:pt idx="0">
                  <c:v>244</c:v>
                </c:pt>
                <c:pt idx="1">
                  <c:v>241</c:v>
                </c:pt>
                <c:pt idx="2">
                  <c:v>214</c:v>
                </c:pt>
                <c:pt idx="3">
                  <c:v>194</c:v>
                </c:pt>
                <c:pt idx="4">
                  <c:v>120</c:v>
                </c:pt>
                <c:pt idx="5">
                  <c:v>64</c:v>
                </c:pt>
              </c:numCache>
            </c:numRef>
          </c:val>
          <c:extLst>
            <c:ext xmlns:c16="http://schemas.microsoft.com/office/drawing/2014/chart" uri="{C3380CC4-5D6E-409C-BE32-E72D297353CC}">
              <c16:uniqueId val="{0000000C-583C-4D6E-9E30-E01E18014C33}"/>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10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288"/>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2D6A4F"/>
            </a:solidFill>
            <a:effectLst/>
          </c:spPr>
          <c:invertIfNegative val="0"/>
          <c:dPt>
            <c:idx val="0"/>
            <c:invertIfNegative val="0"/>
            <c:bubble3D val="0"/>
            <c:extLst>
              <c:ext xmlns:c16="http://schemas.microsoft.com/office/drawing/2014/chart" uri="{C3380CC4-5D6E-409C-BE32-E72D297353CC}">
                <c16:uniqueId val="{00000001-3B92-42F4-8443-DAB7BB504671}"/>
              </c:ext>
            </c:extLst>
          </c:dPt>
          <c:dPt>
            <c:idx val="1"/>
            <c:invertIfNegative val="0"/>
            <c:bubble3D val="0"/>
            <c:extLst>
              <c:ext xmlns:c16="http://schemas.microsoft.com/office/drawing/2014/chart" uri="{C3380CC4-5D6E-409C-BE32-E72D297353CC}">
                <c16:uniqueId val="{00000003-3B92-42F4-8443-DAB7BB504671}"/>
              </c:ext>
            </c:extLst>
          </c:dPt>
          <c:dPt>
            <c:idx val="2"/>
            <c:invertIfNegative val="0"/>
            <c:bubble3D val="0"/>
            <c:extLst>
              <c:ext xmlns:c16="http://schemas.microsoft.com/office/drawing/2014/chart" uri="{C3380CC4-5D6E-409C-BE32-E72D297353CC}">
                <c16:uniqueId val="{00000005-3B92-42F4-8443-DAB7BB504671}"/>
              </c:ext>
            </c:extLst>
          </c:dPt>
          <c:dPt>
            <c:idx val="3"/>
            <c:invertIfNegative val="0"/>
            <c:bubble3D val="0"/>
            <c:extLst>
              <c:ext xmlns:c16="http://schemas.microsoft.com/office/drawing/2014/chart" uri="{C3380CC4-5D6E-409C-BE32-E72D297353CC}">
                <c16:uniqueId val="{00000007-3B92-42F4-8443-DAB7BB504671}"/>
              </c:ext>
            </c:extLst>
          </c:dPt>
          <c:dPt>
            <c:idx val="4"/>
            <c:invertIfNegative val="0"/>
            <c:bubble3D val="0"/>
            <c:extLst>
              <c:ext xmlns:c16="http://schemas.microsoft.com/office/drawing/2014/chart" uri="{C3380CC4-5D6E-409C-BE32-E72D297353CC}">
                <c16:uniqueId val="{00000009-3B92-42F4-8443-DAB7BB504671}"/>
              </c:ext>
            </c:extLst>
          </c:dPt>
          <c:dPt>
            <c:idx val="5"/>
            <c:invertIfNegative val="0"/>
            <c:bubble3D val="0"/>
            <c:extLst>
              <c:ext xmlns:c16="http://schemas.microsoft.com/office/drawing/2014/chart" uri="{C3380CC4-5D6E-409C-BE32-E72D297353CC}">
                <c16:uniqueId val="{0000000B-3B92-42F4-8443-DAB7BB504671}"/>
              </c:ext>
            </c:extLst>
          </c:dPt>
          <c:dPt>
            <c:idx val="6"/>
            <c:invertIfNegative val="0"/>
            <c:bubble3D val="0"/>
            <c:extLst>
              <c:ext xmlns:c16="http://schemas.microsoft.com/office/drawing/2014/chart" uri="{C3380CC4-5D6E-409C-BE32-E72D297353CC}">
                <c16:uniqueId val="{0000000D-3B92-42F4-8443-DAB7BB504671}"/>
              </c:ext>
            </c:extLst>
          </c:dPt>
          <c:dLbls>
            <c:numFmt formatCode="#,##0" sourceLinked="0"/>
            <c:spPr>
              <a:noFill/>
              <a:ln>
                <a:noFill/>
              </a:ln>
              <a:effectLst/>
            </c:spPr>
            <c:txPr>
              <a:bodyPr/>
              <a:lstStyle/>
              <a:p>
                <a:pPr>
                  <a:defRPr sz="10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Drafting text</c:v>
                </c:pt>
                <c:pt idx="1">
                  <c:v>Summarizing</c:v>
                </c:pt>
                <c:pt idx="2">
                  <c:v>Meeting prep &amp; notes</c:v>
                </c:pt>
                <c:pt idx="3">
                  <c:v>Data analysis</c:v>
                </c:pt>
                <c:pt idx="4">
                  <c:v>Decision support</c:v>
                </c:pt>
                <c:pt idx="5">
                  <c:v>Spreadsheets</c:v>
                </c:pt>
                <c:pt idx="6">
                  <c:v>Coding &amp; scripting</c:v>
                </c:pt>
              </c:strCache>
            </c:strRef>
          </c:cat>
          <c:val>
            <c:numRef>
              <c:f>Sheet1!$B$2:$B$8</c:f>
              <c:numCache>
                <c:formatCode>General</c:formatCode>
                <c:ptCount val="7"/>
                <c:pt idx="0">
                  <c:v>248</c:v>
                </c:pt>
                <c:pt idx="1">
                  <c:v>203</c:v>
                </c:pt>
                <c:pt idx="2">
                  <c:v>120</c:v>
                </c:pt>
                <c:pt idx="3">
                  <c:v>118</c:v>
                </c:pt>
                <c:pt idx="4">
                  <c:v>75</c:v>
                </c:pt>
                <c:pt idx="5">
                  <c:v>74</c:v>
                </c:pt>
                <c:pt idx="6">
                  <c:v>71</c:v>
                </c:pt>
              </c:numCache>
            </c:numRef>
          </c:val>
          <c:extLst>
            <c:ext xmlns:c16="http://schemas.microsoft.com/office/drawing/2014/chart" uri="{C3380CC4-5D6E-409C-BE32-E72D297353CC}">
              <c16:uniqueId val="{0000000E-3B92-42F4-8443-DAB7BB504671}"/>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10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293"/>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2D6A4F"/>
            </a:solidFill>
            <a:effectLst/>
          </c:spPr>
          <c:invertIfNegative val="0"/>
          <c:dPt>
            <c:idx val="0"/>
            <c:invertIfNegative val="0"/>
            <c:bubble3D val="0"/>
            <c:extLst>
              <c:ext xmlns:c16="http://schemas.microsoft.com/office/drawing/2014/chart" uri="{C3380CC4-5D6E-409C-BE32-E72D297353CC}">
                <c16:uniqueId val="{00000001-5DC6-403F-B775-4EDB8D412AEF}"/>
              </c:ext>
            </c:extLst>
          </c:dPt>
          <c:dPt>
            <c:idx val="1"/>
            <c:invertIfNegative val="0"/>
            <c:bubble3D val="0"/>
            <c:extLst>
              <c:ext xmlns:c16="http://schemas.microsoft.com/office/drawing/2014/chart" uri="{C3380CC4-5D6E-409C-BE32-E72D297353CC}">
                <c16:uniqueId val="{00000003-5DC6-403F-B775-4EDB8D412AEF}"/>
              </c:ext>
            </c:extLst>
          </c:dPt>
          <c:dPt>
            <c:idx val="2"/>
            <c:invertIfNegative val="0"/>
            <c:bubble3D val="0"/>
            <c:extLst>
              <c:ext xmlns:c16="http://schemas.microsoft.com/office/drawing/2014/chart" uri="{C3380CC4-5D6E-409C-BE32-E72D297353CC}">
                <c16:uniqueId val="{00000005-5DC6-403F-B775-4EDB8D412AEF}"/>
              </c:ext>
            </c:extLst>
          </c:dPt>
          <c:dPt>
            <c:idx val="3"/>
            <c:invertIfNegative val="0"/>
            <c:bubble3D val="0"/>
            <c:extLst>
              <c:ext xmlns:c16="http://schemas.microsoft.com/office/drawing/2014/chart" uri="{C3380CC4-5D6E-409C-BE32-E72D297353CC}">
                <c16:uniqueId val="{00000007-5DC6-403F-B775-4EDB8D412AEF}"/>
              </c:ext>
            </c:extLst>
          </c:dPt>
          <c:dPt>
            <c:idx val="4"/>
            <c:invertIfNegative val="0"/>
            <c:bubble3D val="0"/>
            <c:extLst>
              <c:ext xmlns:c16="http://schemas.microsoft.com/office/drawing/2014/chart" uri="{C3380CC4-5D6E-409C-BE32-E72D297353CC}">
                <c16:uniqueId val="{00000009-5DC6-403F-B775-4EDB8D412AEF}"/>
              </c:ext>
            </c:extLst>
          </c:dPt>
          <c:dPt>
            <c:idx val="5"/>
            <c:invertIfNegative val="0"/>
            <c:bubble3D val="0"/>
            <c:extLst>
              <c:ext xmlns:c16="http://schemas.microsoft.com/office/drawing/2014/chart" uri="{C3380CC4-5D6E-409C-BE32-E72D297353CC}">
                <c16:uniqueId val="{0000000B-5DC6-403F-B775-4EDB8D412AEF}"/>
              </c:ext>
            </c:extLst>
          </c:dPt>
          <c:dPt>
            <c:idx val="6"/>
            <c:invertIfNegative val="0"/>
            <c:bubble3D val="0"/>
            <c:extLst>
              <c:ext xmlns:c16="http://schemas.microsoft.com/office/drawing/2014/chart" uri="{C3380CC4-5D6E-409C-BE32-E72D297353CC}">
                <c16:uniqueId val="{0000000D-5DC6-403F-B775-4EDB8D412AEF}"/>
              </c:ext>
            </c:extLst>
          </c:dPt>
          <c:dPt>
            <c:idx val="7"/>
            <c:invertIfNegative val="0"/>
            <c:bubble3D val="0"/>
            <c:extLst>
              <c:ext xmlns:c16="http://schemas.microsoft.com/office/drawing/2014/chart" uri="{C3380CC4-5D6E-409C-BE32-E72D297353CC}">
                <c16:uniqueId val="{0000000F-5DC6-403F-B775-4EDB8D412AEF}"/>
              </c:ext>
            </c:extLst>
          </c:dPt>
          <c:dPt>
            <c:idx val="8"/>
            <c:invertIfNegative val="0"/>
            <c:bubble3D val="0"/>
            <c:extLst>
              <c:ext xmlns:c16="http://schemas.microsoft.com/office/drawing/2014/chart" uri="{C3380CC4-5D6E-409C-BE32-E72D297353CC}">
                <c16:uniqueId val="{00000011-5DC6-403F-B775-4EDB8D412AEF}"/>
              </c:ext>
            </c:extLst>
          </c:dPt>
          <c:dLbls>
            <c:numFmt formatCode="0" sourceLinked="0"/>
            <c:spPr>
              <a:noFill/>
              <a:ln>
                <a:noFill/>
              </a:ln>
              <a:effectLst/>
            </c:spPr>
            <c:txPr>
              <a:bodyPr/>
              <a:lstStyle/>
              <a:p>
                <a:pPr>
                  <a:defRPr sz="9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Training gaps</c:v>
                </c:pt>
                <c:pt idx="1">
                  <c:v>Skepticism, ethics &amp; environment</c:v>
                </c:pt>
                <c:pt idx="2">
                  <c:v>Access &amp; tool limits</c:v>
                </c:pt>
                <c:pt idx="3">
                  <c:v>Integration &amp; automation requests</c:v>
                </c:pt>
                <c:pt idx="4">
                  <c:v>Policy &amp; guidance confusion</c:v>
                </c:pt>
                <c:pt idx="5">
                  <c:v>Accuracy &amp; trust concerns</c:v>
                </c:pt>
                <c:pt idx="6">
                  <c:v>Real productivity wins</c:v>
                </c:pt>
                <c:pt idx="7">
                  <c:v>Job security worries</c:v>
                </c:pt>
                <c:pt idx="8">
                  <c:v>Privacy &amp; security</c:v>
                </c:pt>
              </c:strCache>
            </c:strRef>
          </c:cat>
          <c:val>
            <c:numRef>
              <c:f>Sheet1!$B$2:$B$10</c:f>
              <c:numCache>
                <c:formatCode>General</c:formatCode>
                <c:ptCount val="9"/>
                <c:pt idx="0">
                  <c:v>33</c:v>
                </c:pt>
                <c:pt idx="1">
                  <c:v>29</c:v>
                </c:pt>
                <c:pt idx="2">
                  <c:v>28</c:v>
                </c:pt>
                <c:pt idx="3">
                  <c:v>24</c:v>
                </c:pt>
                <c:pt idx="4">
                  <c:v>22</c:v>
                </c:pt>
                <c:pt idx="5">
                  <c:v>19</c:v>
                </c:pt>
                <c:pt idx="6">
                  <c:v>16</c:v>
                </c:pt>
                <c:pt idx="7">
                  <c:v>7</c:v>
                </c:pt>
                <c:pt idx="8">
                  <c:v>6</c:v>
                </c:pt>
              </c:numCache>
            </c:numRef>
          </c:val>
          <c:extLst>
            <c:ext xmlns:c16="http://schemas.microsoft.com/office/drawing/2014/chart" uri="{C3380CC4-5D6E-409C-BE32-E72D297353CC}">
              <c16:uniqueId val="{00000012-5DC6-403F-B775-4EDB8D412AEF}"/>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9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39"/>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782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Survey number, data label, and updated date come from Deck settings.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findings. Each number is computed from the survey export; later slides show the detail. Optional slide: it repeats numbers shown later.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Responses = rows in the export (489). Window = first to last response date (77 days). Champion count not set — add it in Deck settings to show the coverage card. Agencies: RD-RHS 82, FSA 76, RD 67, FS 57, RD-RUS 39, NRCS 37, RD-RBCS 34, APHIS 21, ARS 20, Prefer not to specify 16, FNS 10, OCIO 9, OCFO 6, OHA 6, FSIS 5, DA 2, AMS 2, ERS 1 (from source workbook column C; 490 entries versus 489 embedded report responses).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 mean of that question’s 1–5 answers (blanks excluded). Likelihood to Increase AI Use: 3.24 (n=489; 88/60/111/109/121 for 1–5); Understands Basic Guidelines: 3.06 (n=489; 92/72/124/117/84 for 1–5); Understands What AI Can &amp; Can’t Do: 2.79 (n=489; 84/102/176/85/42 for 1–5); Satisfied with Available Tools: 2.71 (n=489; 92/89/206/75/27 for 1–5); AI Has Improved Productivity: 2.37 (n=489; 169/106/113/64/37 for 1–5). Intent minus productivity = 0.86.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Frequency (single choice, % of 489 answered): Never 133 (27%), Rarely 106 (22%), Sometimes 137 (28%), Often 53 (11%), Daily 60 (12%). Barriers (select all; counts of people, % of 489): Lack of trust in accuracy 244, Lack of training 241, Unclear policies/permissions 214, Privacy/security concerns 194, Time constraints 120, AI isn’t relevant to my work 64. Written-in “other” barriers: 82 people (not charted).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level (single choice, % of 489 answered): Awareness 95 (19%), Beginner 231 (47%), Practitioner 139 (28%), Advanced 11 (2%), Leader 13 (3%). Gap = mean intent to increase use (3.24) minus mean “AI has improved my productivity” (2.37) = 0.86.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 substantive comments (of 141) coded to the theme. Barrier line = people choosing that barrier (select all, of 489). Comment coding is AI-assisted — spot-check. Accuracy &amp; trust concerns: 19 comments, quote from row 196; Training gaps: 33 comments, quote from row 386; Policy &amp; guidance confusion: 22 comments, quote from row 53; Real productivity wins: 16 comments, quote from row 158.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(select all, people choosing each, of 489): Drafting text 248, Summarizing 203, Meeting prep &amp; notes 120, Data analysis 118, Decision support 75, Spreadsheets 74, Coding &amp; scripting 71, Images &amp; video 62, Policy &amp; compliance 60. No tasks yet: 136. Written-in other: 46. Support (select all): Hands-on training 271, How-to guides 247, Use-case examples 233, Peer communities 146, 1:1 support 112; no support needed 95.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counts = substantive comments (of 141) coded to each theme; a comment can carry several. Coding is AI-assisted — spot-check. Training gaps: 33 (rows 30, 38, 41, 66, 147, 203, 208, 209, 221, 226, 241, 250, 252, 273, 280, 289, 321, 328, 338, 341, 351, 354, 386, 387, 388, 392, 399, 414, 431, 468, 469, 473, 475); Skepticism, ethics &amp; environment: 29 (rows 12, 34, 86, 90, 95, 102, 159, 162, 177, 178, 179, 188, 206, 219, 220, 303, 304, 305, 307, 314, 327, 336, 348, 357, 423, 433, 436, 450, 485); Access &amp; tool limits: 28 (rows 2, 16, 48, 65, 68, 157, 200, 212, 238, 257, 288, 295, 321, 322, 325, 329, 344, 349, 352, 388, 415, 427, 443, 468, 473, 479, 481, 483); Integration &amp; automation requests: 24 (rows 2, 71, 97, 158, 208, 226, 231, 250, 292, 308, 318, 321, 322, 325, 359, 388, 399, 415, 428, 443, 444, 445, 475, 479); Policy &amp; guidance confusion: 22 (rows 7, 20, 38, 39, 49, 53, 60, 66, 203, 221, 249, 254, 300, 320, 330, 387, 399, 451, 465, 468, 469, 489); Accuracy &amp; trust concerns: 19 (rows 12, 19, 145, 167, 196, 204, 212, 221, 226, 241, 249, 254, 266, 305, 307, 351, 364, 366, 391); Real productivity wins: 16 (rows 33, 100, 158, 167, 212, 221, 229, 238, 312, 316, 339, 366, 383, 455, 469, 487); Job security worries: 7 (rows 159, 225, 278, 326, 436, 450, 473); Privacy &amp; security: 6 (rows 221, 254, 387, 403, 462, 469).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modest, repeatable actions for champions, tied to this survey’s numbers.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Source: Copilot Aug 14 dedup AI Excperience Survey.xlsx (489 responses, May 14, 2026 – Jul 29,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867430" y="-1219170"/>
            <a:ext cx="4826020" cy="4826020"/>
          </a:xfrm>
          <a:prstGeom prst="ellipse">
            <a:avLst/>
          </a:prstGeom>
          <a:solidFill>
            <a:srgbClr val="EDEFF2"/>
          </a:solidFill>
          <a:ln/>
        </p:spPr>
        <p:txBody>
          <a:bodyPr/>
          <a:lstStyle/>
          <a:p>
            <a:endParaRPr lang="en-US"/>
          </a:p>
        </p:txBody>
      </p:sp>
      <p:sp>
        <p:nvSpPr>
          <p:cNvPr id="3" name="Shape 1"/>
          <p:cNvSpPr/>
          <p:nvPr/>
        </p:nvSpPr>
        <p:spPr>
          <a:xfrm>
            <a:off x="7188190" y="2717780"/>
            <a:ext cx="3301990" cy="3301990"/>
          </a:xfrm>
          <a:prstGeom prst="ellipse">
            <a:avLst/>
          </a:prstGeom>
          <a:solidFill>
            <a:srgbClr val="EAF0ED"/>
          </a:solidFill>
          <a:ln/>
        </p:spPr>
        <p:txBody>
          <a:bodyPr/>
          <a:lstStyle/>
          <a:p>
            <a:endParaRPr lang="en-US"/>
          </a:p>
        </p:txBody>
      </p:sp>
      <p:sp>
        <p:nvSpPr>
          <p:cNvPr id="4" name="Shape 2"/>
          <p:cNvSpPr/>
          <p:nvPr/>
        </p:nvSpPr>
        <p:spPr>
          <a:xfrm>
            <a:off x="-1015990" y="4038630"/>
            <a:ext cx="2413010" cy="2413010"/>
          </a:xfrm>
          <a:prstGeom prst="ellipse">
            <a:avLst/>
          </a:prstGeom>
          <a:solidFill>
            <a:srgbClr val="EFF4F7"/>
          </a:solidFill>
          <a:ln/>
        </p:spPr>
        <p:txBody>
          <a:bodyPr/>
          <a:lstStyle/>
          <a:p>
            <a:endParaRPr lang="en-US"/>
          </a:p>
        </p:txBody>
      </p:sp>
      <p:sp>
        <p:nvSpPr>
          <p:cNvPr id="5" name="Text 3"/>
          <p:cNvSpPr txBox="1"/>
          <p:nvPr/>
        </p:nvSpPr>
        <p:spPr>
          <a:xfrm>
            <a:off x="711220" y="1168420"/>
            <a:ext cx="5587990" cy="203180"/>
          </a:xfrm>
          <a:prstGeom prst="rect">
            <a:avLst/>
          </a:prstGeom>
          <a:noFill/>
          <a:ln/>
        </p:spPr>
        <p:txBody>
          <a:bodyPr wrap="square" lIns="0" tIns="0" rIns="0" bIns="0" rtlCol="0" anchor="t"/>
          <a:lstStyle/>
          <a:p>
            <a:pPr marL="0" indent="0" algn="l">
              <a:lnSpc>
                <a:spcPct val="100000"/>
              </a:lnSpc>
              <a:buNone/>
            </a:pPr>
            <a:r>
              <a:rPr lang="en-US" sz="1000" b="1" kern="0" spc="120">
                <a:solidFill>
                  <a:srgbClr val="2D6A4F"/>
                </a:solidFill>
                <a:latin typeface="Calibri" pitchFamily="34" charset="0"/>
                <a:ea typeface="Calibri" pitchFamily="34" charset="-122"/>
                <a:cs typeface="Calibri" pitchFamily="34" charset="-120"/>
              </a:rPr>
              <a:t>CNAIT  </a:t>
            </a:r>
            <a:r>
              <a:rPr lang="en-US" sz="1000" b="1" kern="0" spc="120" dirty="0">
                <a:solidFill>
                  <a:srgbClr val="2D6A4F"/>
                </a:solidFill>
                <a:latin typeface="Calibri" pitchFamily="34" charset="0"/>
                <a:ea typeface="Calibri" pitchFamily="34" charset="-122"/>
                <a:cs typeface="Calibri" pitchFamily="34" charset="-120"/>
              </a:rPr>
              <a:t>·  MAY 14 - JULY 29, 2026</a:t>
            </a:r>
            <a:endParaRPr lang="en-US" sz="1000" dirty="0"/>
          </a:p>
        </p:txBody>
      </p:sp>
      <p:sp>
        <p:nvSpPr>
          <p:cNvPr id="6" name="Text 4"/>
          <p:cNvSpPr txBox="1"/>
          <p:nvPr/>
        </p:nvSpPr>
        <p:spPr>
          <a:xfrm>
            <a:off x="711220" y="1447770"/>
            <a:ext cx="5587990" cy="1219170"/>
          </a:xfrm>
          <a:prstGeom prst="rect">
            <a:avLst/>
          </a:prstGeom>
          <a:noFill/>
          <a:ln/>
        </p:spPr>
        <p:txBody>
          <a:bodyPr wrap="square" lIns="0" tIns="0" rIns="0" bIns="0" rtlCol="0" anchor="t"/>
          <a:lstStyle/>
          <a:p>
            <a:pPr marL="0" indent="0" algn="l">
              <a:lnSpc>
                <a:spcPct val="92000"/>
              </a:lnSpc>
              <a:buNone/>
            </a:pPr>
            <a:r>
              <a:rPr lang="en-US" sz="3600" b="1" dirty="0">
                <a:solidFill>
                  <a:srgbClr val="1E3A5F"/>
                </a:solidFill>
                <a:latin typeface="Calibri" pitchFamily="34" charset="0"/>
                <a:ea typeface="Calibri" pitchFamily="34" charset="-122"/>
                <a:cs typeface="Calibri" pitchFamily="34" charset="-120"/>
              </a:rPr>
              <a:t>AI Awareness Survey</a:t>
            </a:r>
            <a:endParaRPr lang="en-US" sz="3600" dirty="0"/>
          </a:p>
        </p:txBody>
      </p:sp>
      <p:sp>
        <p:nvSpPr>
          <p:cNvPr id="7" name="Text 5"/>
          <p:cNvSpPr txBox="1"/>
          <p:nvPr/>
        </p:nvSpPr>
        <p:spPr>
          <a:xfrm>
            <a:off x="711220" y="2717780"/>
            <a:ext cx="5333970" cy="761970"/>
          </a:xfrm>
          <a:prstGeom prst="rect">
            <a:avLst/>
          </a:prstGeom>
          <a:noFill/>
          <a:ln/>
        </p:spPr>
        <p:txBody>
          <a:bodyPr wrap="square" lIns="0" tIns="0" rIns="0" bIns="0" rtlCol="0" anchor="t"/>
          <a:lstStyle/>
          <a:p>
            <a:pPr marL="0" indent="0" algn="l">
              <a:lnSpc>
                <a:spcPct val="100000"/>
              </a:lnSpc>
              <a:buNone/>
            </a:pPr>
            <a:r>
              <a:rPr lang="en-US" sz="1400" dirty="0">
                <a:solidFill>
                  <a:srgbClr val="475569"/>
                </a:solidFill>
                <a:latin typeface="Calibri" pitchFamily="34" charset="0"/>
                <a:ea typeface="Calibri" pitchFamily="34" charset="-122"/>
                <a:cs typeface="Calibri" pitchFamily="34" charset="-120"/>
              </a:rPr>
              <a:t>What the survey data means for you — and how to use it to move your agency forward</a:t>
            </a:r>
            <a:endParaRPr lang="en-US" sz="1400" dirty="0"/>
          </a:p>
        </p:txBody>
      </p:sp>
      <p:sp>
        <p:nvSpPr>
          <p:cNvPr id="8" name="Text 6"/>
          <p:cNvSpPr txBox="1"/>
          <p:nvPr/>
        </p:nvSpPr>
        <p:spPr>
          <a:xfrm>
            <a:off x="711220" y="4470410"/>
            <a:ext cx="7112020" cy="177759"/>
          </a:xfrm>
          <a:prstGeom prst="rect">
            <a:avLst/>
          </a:prstGeom>
          <a:noFill/>
          <a:ln/>
        </p:spPr>
        <p:txBody>
          <a:bodyPr wrap="square" lIns="0" tIns="0" rIns="0" bIns="0" rtlCol="0" anchor="t"/>
          <a:lstStyle/>
          <a:p>
            <a:pPr marL="0" indent="0" algn="l">
              <a:lnSpc>
                <a:spcPct val="100000"/>
              </a:lnSpc>
              <a:buNone/>
            </a:pPr>
            <a:r>
              <a:rPr lang="en-US" sz="900">
                <a:solidFill>
                  <a:srgbClr val="475569"/>
                </a:solidFill>
                <a:latin typeface="Calibri" pitchFamily="34" charset="0"/>
                <a:ea typeface="Calibri" pitchFamily="34" charset="-122"/>
                <a:cs typeface="Calibri" pitchFamily="34" charset="-120"/>
              </a:rPr>
              <a:t>CNAIT  </a:t>
            </a:r>
            <a:r>
              <a:rPr lang="en-US" sz="900" dirty="0">
                <a:solidFill>
                  <a:srgbClr val="475569"/>
                </a:solidFill>
                <a:latin typeface="Calibri" pitchFamily="34" charset="0"/>
                <a:ea typeface="Calibri" pitchFamily="34" charset="-122"/>
                <a:cs typeface="Calibri" pitchFamily="34" charset="-120"/>
              </a:rPr>
              <a:t>|  May 14 - July 29, 2026  |  Survey : All Data – Baseline Data</a:t>
            </a:r>
            <a:endParaRPr lang="en-US" sz="900" dirty="0"/>
          </a:p>
        </p:txBody>
      </p:sp>
      <p:sp>
        <p:nvSpPr>
          <p:cNvPr id="9" name="Text 7"/>
          <p:cNvSpPr txBox="1"/>
          <p:nvPr/>
        </p:nvSpPr>
        <p:spPr>
          <a:xfrm>
            <a:off x="711220" y="4673590"/>
            <a:ext cx="3810030" cy="152430"/>
          </a:xfrm>
          <a:prstGeom prst="rect">
            <a:avLst/>
          </a:prstGeom>
          <a:noFill/>
          <a:ln/>
        </p:spPr>
        <p:txBody>
          <a:bodyPr wrap="square" lIns="0" tIns="0" rIns="0" bIns="0" rtlCol="0" anchor="t"/>
          <a:lstStyle/>
          <a:p>
            <a:pPr marL="0" indent="0" algn="l">
              <a:lnSpc>
                <a:spcPct val="100000"/>
              </a:lnSpc>
              <a:buNone/>
            </a:pPr>
            <a:r>
              <a:rPr lang="en-US" sz="800" b="1" kern="0" spc="80" dirty="0">
                <a:solidFill>
                  <a:srgbClr val="B87A1E"/>
                </a:solidFill>
                <a:latin typeface="Calibri" pitchFamily="34" charset="0"/>
                <a:ea typeface="Calibri" pitchFamily="34" charset="-122"/>
                <a:cs typeface="Calibri" pitchFamily="34" charset="-120"/>
              </a:rPr>
              <a:t>DRAFT — FOR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Four Things the Survey Tells Us</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2</a:t>
            </a:r>
            <a:endParaRPr lang="en-US" sz="750" dirty="0"/>
          </a:p>
        </p:txBody>
      </p:sp>
      <p:sp>
        <p:nvSpPr>
          <p:cNvPr id="6" name="Shape 4"/>
          <p:cNvSpPr/>
          <p:nvPr/>
        </p:nvSpPr>
        <p:spPr>
          <a:xfrm>
            <a:off x="355610" y="863559"/>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7" name="Text 5"/>
          <p:cNvSpPr txBox="1"/>
          <p:nvPr/>
        </p:nvSpPr>
        <p:spPr>
          <a:xfrm>
            <a:off x="584210" y="1041410"/>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1E3A5F"/>
                </a:solidFill>
                <a:latin typeface="Calibri" pitchFamily="34" charset="0"/>
                <a:ea typeface="Calibri" pitchFamily="34" charset="-122"/>
                <a:cs typeface="Calibri" pitchFamily="34" charset="-120"/>
              </a:rPr>
              <a:t>67%</a:t>
            </a:r>
            <a:endParaRPr lang="en-US" sz="3000" dirty="0"/>
          </a:p>
        </p:txBody>
      </p:sp>
      <p:sp>
        <p:nvSpPr>
          <p:cNvPr id="8" name="Text 6"/>
          <p:cNvSpPr txBox="1"/>
          <p:nvPr/>
        </p:nvSpPr>
        <p:spPr>
          <a:xfrm>
            <a:off x="584210" y="160020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Are still at the starting line</a:t>
            </a:r>
            <a:endParaRPr lang="en-US" sz="1400" dirty="0"/>
          </a:p>
        </p:txBody>
      </p:sp>
      <p:sp>
        <p:nvSpPr>
          <p:cNvPr id="9" name="Text 7"/>
          <p:cNvSpPr txBox="1"/>
          <p:nvPr/>
        </p:nvSpPr>
        <p:spPr>
          <a:xfrm>
            <a:off x="584210" y="1879641"/>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67% rate themselves Awareness or Beginner. That is the audience champions serve.</a:t>
            </a:r>
            <a:endParaRPr lang="en-US" sz="1100" dirty="0"/>
          </a:p>
        </p:txBody>
      </p:sp>
      <p:sp>
        <p:nvSpPr>
          <p:cNvPr id="10" name="Shape 8"/>
          <p:cNvSpPr/>
          <p:nvPr/>
        </p:nvSpPr>
        <p:spPr>
          <a:xfrm>
            <a:off x="4673590" y="863559"/>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1" name="Text 9"/>
          <p:cNvSpPr txBox="1"/>
          <p:nvPr/>
        </p:nvSpPr>
        <p:spPr>
          <a:xfrm>
            <a:off x="4902190" y="1041410"/>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2D6A4F"/>
                </a:solidFill>
                <a:latin typeface="Calibri" pitchFamily="34" charset="0"/>
                <a:ea typeface="Calibri" pitchFamily="34" charset="-122"/>
                <a:cs typeface="Calibri" pitchFamily="34" charset="-120"/>
              </a:rPr>
              <a:t>244</a:t>
            </a:r>
            <a:endParaRPr lang="en-US" sz="3000" dirty="0"/>
          </a:p>
        </p:txBody>
      </p:sp>
      <p:sp>
        <p:nvSpPr>
          <p:cNvPr id="12" name="Text 10"/>
          <p:cNvSpPr txBox="1"/>
          <p:nvPr/>
        </p:nvSpPr>
        <p:spPr>
          <a:xfrm>
            <a:off x="4902190" y="160020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Chose “Lack of trust in accuracy”</a:t>
            </a:r>
            <a:endParaRPr lang="en-US" sz="1400" dirty="0"/>
          </a:p>
        </p:txBody>
      </p:sp>
      <p:sp>
        <p:nvSpPr>
          <p:cNvPr id="13" name="Text 11"/>
          <p:cNvSpPr txBox="1"/>
          <p:nvPr/>
        </p:nvSpPr>
        <p:spPr>
          <a:xfrm>
            <a:off x="4902190" y="1879641"/>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Lack of trust in accuracy (50%) and lack of training (49%) are the top barriers.</a:t>
            </a:r>
            <a:endParaRPr lang="en-US" sz="1100" dirty="0"/>
          </a:p>
        </p:txBody>
      </p:sp>
      <p:sp>
        <p:nvSpPr>
          <p:cNvPr id="14" name="Shape 12"/>
          <p:cNvSpPr/>
          <p:nvPr/>
        </p:nvSpPr>
        <p:spPr>
          <a:xfrm>
            <a:off x="355610" y="2959090"/>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5" name="Text 13"/>
          <p:cNvSpPr txBox="1"/>
          <p:nvPr/>
        </p:nvSpPr>
        <p:spPr>
          <a:xfrm>
            <a:off x="584210" y="3136941"/>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1B5E8A"/>
                </a:solidFill>
                <a:latin typeface="Calibri" pitchFamily="34" charset="0"/>
                <a:ea typeface="Calibri" pitchFamily="34" charset="-122"/>
                <a:cs typeface="Calibri" pitchFamily="34" charset="-120"/>
              </a:rPr>
              <a:t>3.24 / 5</a:t>
            </a:r>
            <a:endParaRPr lang="en-US" sz="3000" dirty="0"/>
          </a:p>
        </p:txBody>
      </p:sp>
      <p:sp>
        <p:nvSpPr>
          <p:cNvPr id="16" name="Text 14"/>
          <p:cNvSpPr txBox="1"/>
          <p:nvPr/>
        </p:nvSpPr>
        <p:spPr>
          <a:xfrm>
            <a:off x="584210" y="369573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Likelihood to Increase AI Use</a:t>
            </a:r>
            <a:endParaRPr lang="en-US" sz="1400" dirty="0"/>
          </a:p>
        </p:txBody>
      </p:sp>
      <p:sp>
        <p:nvSpPr>
          <p:cNvPr id="17" name="Text 15"/>
          <p:cNvSpPr txBox="1"/>
          <p:nvPr/>
        </p:nvSpPr>
        <p:spPr>
          <a:xfrm>
            <a:off x="584210" y="3975080"/>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The highest rating; improved productivity is lowest at 2.37. People want value they haven’t felt yet.</a:t>
            </a:r>
            <a:endParaRPr lang="en-US" sz="1100" dirty="0"/>
          </a:p>
        </p:txBody>
      </p:sp>
      <p:sp>
        <p:nvSpPr>
          <p:cNvPr id="18" name="Shape 16"/>
          <p:cNvSpPr/>
          <p:nvPr/>
        </p:nvSpPr>
        <p:spPr>
          <a:xfrm>
            <a:off x="4673590" y="2959090"/>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9" name="Text 17"/>
          <p:cNvSpPr txBox="1"/>
          <p:nvPr/>
        </p:nvSpPr>
        <p:spPr>
          <a:xfrm>
            <a:off x="4902190" y="3136941"/>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B87A1E"/>
                </a:solidFill>
                <a:latin typeface="Calibri" pitchFamily="34" charset="0"/>
                <a:ea typeface="Calibri" pitchFamily="34" charset="-122"/>
                <a:cs typeface="Calibri" pitchFamily="34" charset="-120"/>
              </a:rPr>
              <a:t>55%</a:t>
            </a:r>
            <a:endParaRPr lang="en-US" sz="3000" dirty="0"/>
          </a:p>
        </p:txBody>
      </p:sp>
      <p:sp>
        <p:nvSpPr>
          <p:cNvPr id="20" name="Text 18"/>
          <p:cNvSpPr txBox="1"/>
          <p:nvPr/>
        </p:nvSpPr>
        <p:spPr>
          <a:xfrm>
            <a:off x="4902190" y="369573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Asked for hands-on training</a:t>
            </a:r>
            <a:endParaRPr lang="en-US" sz="1400" dirty="0"/>
          </a:p>
        </p:txBody>
      </p:sp>
      <p:sp>
        <p:nvSpPr>
          <p:cNvPr id="21" name="Text 19"/>
          <p:cNvSpPr txBox="1"/>
          <p:nvPr/>
        </p:nvSpPr>
        <p:spPr>
          <a:xfrm>
            <a:off x="4902190" y="3975080"/>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The most-requested support. 247 also asked for how-to guides.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About the Survey</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3</a:t>
            </a:r>
            <a:endParaRPr lang="en-US" sz="750" dirty="0"/>
          </a:p>
        </p:txBody>
      </p:sp>
      <p:sp>
        <p:nvSpPr>
          <p:cNvPr id="6" name="Shape 4"/>
          <p:cNvSpPr/>
          <p:nvPr/>
        </p:nvSpPr>
        <p:spPr>
          <a:xfrm>
            <a:off x="355610" y="914400"/>
            <a:ext cx="2413010" cy="1816090"/>
          </a:xfrm>
          <a:prstGeom prst="roundRect">
            <a:avLst>
              <a:gd name="adj" fmla="val 6994"/>
            </a:avLst>
          </a:prstGeom>
          <a:solidFill>
            <a:srgbClr val="E4E7EC"/>
          </a:solidFill>
          <a:ln/>
        </p:spPr>
        <p:txBody>
          <a:bodyPr/>
          <a:lstStyle/>
          <a:p>
            <a:endParaRPr lang="en-US"/>
          </a:p>
        </p:txBody>
      </p:sp>
      <p:sp>
        <p:nvSpPr>
          <p:cNvPr id="7" name="Text 5"/>
          <p:cNvSpPr txBox="1"/>
          <p:nvPr/>
        </p:nvSpPr>
        <p:spPr>
          <a:xfrm>
            <a:off x="634959" y="1168420"/>
            <a:ext cx="1854220" cy="671810"/>
          </a:xfrm>
          <a:prstGeom prst="rect">
            <a:avLst/>
          </a:prstGeom>
          <a:noFill/>
          <a:ln/>
        </p:spPr>
        <p:txBody>
          <a:bodyPr wrap="square" lIns="0" tIns="0" rIns="0" bIns="0" rtlCol="0" anchor="ctr"/>
          <a:lstStyle/>
          <a:p>
            <a:pPr marL="0" indent="0" algn="l">
              <a:lnSpc>
                <a:spcPct val="100000"/>
              </a:lnSpc>
              <a:buNone/>
            </a:pPr>
            <a:r>
              <a:rPr lang="en-US" sz="4050" b="1" dirty="0">
                <a:solidFill>
                  <a:srgbClr val="1E3A5F"/>
                </a:solidFill>
                <a:latin typeface="Calibri" pitchFamily="34" charset="0"/>
                <a:ea typeface="Calibri" pitchFamily="34" charset="-122"/>
                <a:cs typeface="Calibri" pitchFamily="34" charset="-120"/>
              </a:rPr>
              <a:t>489</a:t>
            </a:r>
            <a:endParaRPr lang="en-US" sz="4050" dirty="0"/>
          </a:p>
        </p:txBody>
      </p:sp>
      <p:sp>
        <p:nvSpPr>
          <p:cNvPr id="8" name="Text 6"/>
          <p:cNvSpPr txBox="1"/>
          <p:nvPr/>
        </p:nvSpPr>
        <p:spPr>
          <a:xfrm>
            <a:off x="634959" y="1891071"/>
            <a:ext cx="1854220" cy="381030"/>
          </a:xfrm>
          <a:prstGeom prst="rect">
            <a:avLst/>
          </a:prstGeom>
          <a:noFill/>
          <a:ln/>
        </p:spPr>
        <p:txBody>
          <a:bodyPr wrap="square" lIns="0" tIns="0" rIns="0" bIns="0" rtlCol="0" anchor="t"/>
          <a:lstStyle/>
          <a:p>
            <a:pPr marL="0" indent="0" algn="l">
              <a:lnSpc>
                <a:spcPct val="100000"/>
              </a:lnSpc>
              <a:buNone/>
            </a:pPr>
            <a:r>
              <a:rPr lang="en-US" sz="1500" b="1" dirty="0">
                <a:solidFill>
                  <a:srgbClr val="1A2433"/>
                </a:solidFill>
                <a:latin typeface="Calibri" pitchFamily="34" charset="0"/>
                <a:ea typeface="Calibri" pitchFamily="34" charset="-122"/>
                <a:cs typeface="Calibri" pitchFamily="34" charset="-120"/>
              </a:rPr>
              <a:t>Total Responses</a:t>
            </a:r>
            <a:endParaRPr lang="en-US" sz="1500" dirty="0"/>
          </a:p>
        </p:txBody>
      </p:sp>
      <p:sp>
        <p:nvSpPr>
          <p:cNvPr id="9" name="Text 7"/>
          <p:cNvSpPr txBox="1"/>
          <p:nvPr/>
        </p:nvSpPr>
        <p:spPr>
          <a:xfrm>
            <a:off x="634959" y="2195840"/>
            <a:ext cx="1854220" cy="407640"/>
          </a:xfrm>
          <a:prstGeom prst="rect">
            <a:avLst/>
          </a:prstGeom>
          <a:noFill/>
          <a:ln/>
        </p:spPr>
        <p:txBody>
          <a:bodyPr wrap="square" lIns="0" tIns="0" rIns="0" bIns="0" rtlCol="0" anchor="t"/>
          <a:lstStyle/>
          <a:p>
            <a:pPr marL="0" indent="0" algn="l">
              <a:lnSpc>
                <a:spcPct val="100000"/>
              </a:lnSpc>
              <a:buNone/>
            </a:pPr>
            <a:r>
              <a:rPr lang="en-US" sz="1150" dirty="0">
                <a:solidFill>
                  <a:srgbClr val="475569"/>
                </a:solidFill>
                <a:latin typeface="Calibri" pitchFamily="34" charset="0"/>
                <a:ea typeface="Calibri" pitchFamily="34" charset="-122"/>
                <a:cs typeface="Calibri" pitchFamily="34" charset="-120"/>
              </a:rPr>
              <a:t>Responses recorded in this report.</a:t>
            </a:r>
            <a:endParaRPr lang="en-US" sz="1150" dirty="0"/>
          </a:p>
        </p:txBody>
      </p:sp>
      <p:sp>
        <p:nvSpPr>
          <p:cNvPr id="10" name="Shape 8"/>
          <p:cNvSpPr/>
          <p:nvPr/>
        </p:nvSpPr>
        <p:spPr>
          <a:xfrm>
            <a:off x="355610" y="2908341"/>
            <a:ext cx="2413010" cy="1816090"/>
          </a:xfrm>
          <a:prstGeom prst="roundRect">
            <a:avLst>
              <a:gd name="adj" fmla="val 6994"/>
            </a:avLst>
          </a:prstGeom>
          <a:solidFill>
            <a:srgbClr val="E6EDEA"/>
          </a:solidFill>
          <a:ln/>
        </p:spPr>
        <p:txBody>
          <a:bodyPr/>
          <a:lstStyle/>
          <a:p>
            <a:endParaRPr lang="en-US"/>
          </a:p>
        </p:txBody>
      </p:sp>
      <p:sp>
        <p:nvSpPr>
          <p:cNvPr id="11" name="Text 9"/>
          <p:cNvSpPr txBox="1"/>
          <p:nvPr/>
        </p:nvSpPr>
        <p:spPr>
          <a:xfrm>
            <a:off x="634959" y="3162270"/>
            <a:ext cx="1854220" cy="671810"/>
          </a:xfrm>
          <a:prstGeom prst="rect">
            <a:avLst/>
          </a:prstGeom>
          <a:noFill/>
          <a:ln/>
        </p:spPr>
        <p:txBody>
          <a:bodyPr wrap="square" lIns="0" tIns="0" rIns="0" bIns="0" rtlCol="0" anchor="ctr"/>
          <a:lstStyle/>
          <a:p>
            <a:pPr marL="0" indent="0" algn="l">
              <a:lnSpc>
                <a:spcPct val="100000"/>
              </a:lnSpc>
              <a:buNone/>
            </a:pPr>
            <a:r>
              <a:rPr lang="en-US" sz="4050" b="1" dirty="0">
                <a:solidFill>
                  <a:srgbClr val="2D6A4F"/>
                </a:solidFill>
                <a:latin typeface="Calibri" pitchFamily="34" charset="0"/>
                <a:ea typeface="Calibri" pitchFamily="34" charset="-122"/>
                <a:cs typeface="Calibri" pitchFamily="34" charset="-120"/>
              </a:rPr>
              <a:t>77 days</a:t>
            </a:r>
            <a:endParaRPr lang="en-US" sz="4050" dirty="0"/>
          </a:p>
        </p:txBody>
      </p:sp>
      <p:sp>
        <p:nvSpPr>
          <p:cNvPr id="12" name="Text 10"/>
          <p:cNvSpPr txBox="1"/>
          <p:nvPr/>
        </p:nvSpPr>
        <p:spPr>
          <a:xfrm>
            <a:off x="634959" y="3884920"/>
            <a:ext cx="1854220" cy="381030"/>
          </a:xfrm>
          <a:prstGeom prst="rect">
            <a:avLst/>
          </a:prstGeom>
          <a:noFill/>
          <a:ln/>
        </p:spPr>
        <p:txBody>
          <a:bodyPr wrap="square" lIns="0" tIns="0" rIns="0" bIns="0" rtlCol="0" anchor="t"/>
          <a:lstStyle/>
          <a:p>
            <a:pPr marL="0" indent="0" algn="l">
              <a:lnSpc>
                <a:spcPct val="100000"/>
              </a:lnSpc>
              <a:buNone/>
            </a:pPr>
            <a:r>
              <a:rPr lang="en-US" sz="1500" b="1" dirty="0">
                <a:solidFill>
                  <a:srgbClr val="1A2433"/>
                </a:solidFill>
                <a:latin typeface="Calibri" pitchFamily="34" charset="0"/>
                <a:ea typeface="Calibri" pitchFamily="34" charset="-122"/>
                <a:cs typeface="Calibri" pitchFamily="34" charset="-120"/>
              </a:rPr>
              <a:t>Survey Window</a:t>
            </a:r>
            <a:endParaRPr lang="en-US" sz="1500" dirty="0"/>
          </a:p>
        </p:txBody>
      </p:sp>
      <p:sp>
        <p:nvSpPr>
          <p:cNvPr id="13" name="Text 11"/>
          <p:cNvSpPr txBox="1"/>
          <p:nvPr/>
        </p:nvSpPr>
        <p:spPr>
          <a:xfrm>
            <a:off x="634959" y="4189689"/>
            <a:ext cx="1854220" cy="407640"/>
          </a:xfrm>
          <a:prstGeom prst="rect">
            <a:avLst/>
          </a:prstGeom>
          <a:noFill/>
          <a:ln/>
        </p:spPr>
        <p:txBody>
          <a:bodyPr wrap="square" lIns="0" tIns="0" rIns="0" bIns="0" rtlCol="0" anchor="t"/>
          <a:lstStyle/>
          <a:p>
            <a:pPr marL="0" indent="0" algn="l">
              <a:lnSpc>
                <a:spcPct val="100000"/>
              </a:lnSpc>
              <a:buNone/>
            </a:pPr>
            <a:r>
              <a:rPr lang="en-US" sz="1150" dirty="0">
                <a:solidFill>
                  <a:srgbClr val="475569"/>
                </a:solidFill>
                <a:latin typeface="Calibri" pitchFamily="34" charset="0"/>
                <a:ea typeface="Calibri" pitchFamily="34" charset="-122"/>
                <a:cs typeface="Calibri" pitchFamily="34" charset="-120"/>
              </a:rPr>
              <a:t>May 14, 2026 – Jul 29, 2026</a:t>
            </a:r>
            <a:endParaRPr lang="en-US" sz="1150" dirty="0"/>
          </a:p>
        </p:txBody>
      </p:sp>
      <p:sp>
        <p:nvSpPr>
          <p:cNvPr id="14" name="Text 12"/>
          <p:cNvSpPr txBox="1"/>
          <p:nvPr/>
        </p:nvSpPr>
        <p:spPr>
          <a:xfrm>
            <a:off x="3022641" y="914400"/>
            <a:ext cx="5765841" cy="19047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Responses by agency or office</a:t>
            </a:r>
            <a:endParaRPr lang="en-US" sz="1100" dirty="0"/>
          </a:p>
        </p:txBody>
      </p:sp>
      <p:sp>
        <p:nvSpPr>
          <p:cNvPr id="15" name="Text 13"/>
          <p:cNvSpPr txBox="1"/>
          <p:nvPr/>
        </p:nvSpPr>
        <p:spPr>
          <a:xfrm>
            <a:off x="3022641" y="1092159"/>
            <a:ext cx="5765841" cy="139720"/>
          </a:xfrm>
          <a:prstGeom prst="rect">
            <a:avLst/>
          </a:prstGeom>
          <a:noFill/>
          <a:ln/>
        </p:spPr>
        <p:txBody>
          <a:bodyPr wrap="square" lIns="0" tIns="0" rIns="0" bIns="0" rtlCol="0" anchor="t"/>
          <a:lstStyle/>
          <a:p>
            <a:pPr marL="0" indent="0" algn="l">
              <a:lnSpc>
                <a:spcPct val="100000"/>
              </a:lnSpc>
              <a:buNone/>
            </a:pPr>
            <a:r>
              <a:rPr lang="en-US" sz="750" dirty="0">
                <a:solidFill>
                  <a:srgbClr val="64748B"/>
                </a:solidFill>
                <a:latin typeface="Calibri" pitchFamily="34" charset="0"/>
                <a:ea typeface="Calibri" pitchFamily="34" charset="-122"/>
                <a:cs typeface="Calibri" pitchFamily="34" charset="-120"/>
              </a:rPr>
              <a:t>Please select your Mission Area, Agency, or Staff Office:</a:t>
            </a:r>
            <a:endParaRPr lang="en-US" sz="750" dirty="0"/>
          </a:p>
        </p:txBody>
      </p:sp>
      <p:sp>
        <p:nvSpPr>
          <p:cNvPr id="16" name="Text 14"/>
          <p:cNvSpPr txBox="1"/>
          <p:nvPr/>
        </p:nvSpPr>
        <p:spPr>
          <a:xfrm>
            <a:off x="3022641" y="1231880"/>
            <a:ext cx="5765841" cy="139720"/>
          </a:xfrm>
          <a:prstGeom prst="rect">
            <a:avLst/>
          </a:prstGeom>
          <a:noFill/>
          <a:ln/>
        </p:spPr>
        <p:txBody>
          <a:bodyPr wrap="square" lIns="0" tIns="0" rIns="0" bIns="0" rtlCol="0" anchor="t"/>
          <a:lstStyle/>
          <a:p>
            <a:pPr marL="0" indent="0" algn="l">
              <a:lnSpc>
                <a:spcPct val="100000"/>
              </a:lnSpc>
              <a:buNone/>
            </a:pPr>
            <a:endParaRPr lang="en-US" sz="750" dirty="0"/>
          </a:p>
        </p:txBody>
      </p:sp>
      <p:graphicFrame>
        <p:nvGraphicFramePr>
          <p:cNvPr id="17" name="Chart 0"/>
          <p:cNvGraphicFramePr/>
          <p:nvPr/>
        </p:nvGraphicFramePr>
        <p:xfrm>
          <a:off x="3022641" y="1397020"/>
          <a:ext cx="5765841" cy="337815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Baseline Ratings: Where We Start</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4</a:t>
            </a:r>
            <a:endParaRPr lang="en-US" sz="750" dirty="0"/>
          </a:p>
        </p:txBody>
      </p:sp>
      <p:sp>
        <p:nvSpPr>
          <p:cNvPr id="6" name="Shape 4"/>
          <p:cNvSpPr/>
          <p:nvPr/>
        </p:nvSpPr>
        <p:spPr>
          <a:xfrm>
            <a:off x="355610" y="888980"/>
            <a:ext cx="1564630" cy="3403580"/>
          </a:xfrm>
          <a:prstGeom prst="roundRect">
            <a:avLst>
              <a:gd name="adj" fmla="val 8118"/>
            </a:avLst>
          </a:prstGeom>
          <a:solidFill>
            <a:srgbClr val="EAF0ED"/>
          </a:solidFill>
          <a:ln w="19050">
            <a:solidFill>
              <a:srgbClr val="2D6A4F"/>
            </a:solidFill>
            <a:prstDash val="solid"/>
          </a:ln>
        </p:spPr>
        <p:txBody>
          <a:bodyPr/>
          <a:lstStyle/>
          <a:p>
            <a:endParaRPr lang="en-US"/>
          </a:p>
        </p:txBody>
      </p:sp>
      <p:sp>
        <p:nvSpPr>
          <p:cNvPr id="7" name="Shape 5"/>
          <p:cNvSpPr/>
          <p:nvPr/>
        </p:nvSpPr>
        <p:spPr>
          <a:xfrm>
            <a:off x="642640" y="1015990"/>
            <a:ext cx="990570" cy="203180"/>
          </a:xfrm>
          <a:prstGeom prst="roundRect">
            <a:avLst>
              <a:gd name="adj" fmla="val 50000"/>
            </a:avLst>
          </a:prstGeom>
          <a:solidFill>
            <a:srgbClr val="2D6A4F"/>
          </a:solidFill>
          <a:ln/>
        </p:spPr>
        <p:txBody>
          <a:bodyPr/>
          <a:lstStyle/>
          <a:p>
            <a:endParaRPr lang="en-US"/>
          </a:p>
        </p:txBody>
      </p:sp>
      <p:sp>
        <p:nvSpPr>
          <p:cNvPr id="8" name="Text 6"/>
          <p:cNvSpPr txBox="1"/>
          <p:nvPr/>
        </p:nvSpPr>
        <p:spPr>
          <a:xfrm>
            <a:off x="693390" y="1015990"/>
            <a:ext cx="888980" cy="203180"/>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 HIGHEST</a:t>
            </a:r>
            <a:endParaRPr lang="en-US" sz="750" dirty="0"/>
          </a:p>
        </p:txBody>
      </p:sp>
      <p:sp>
        <p:nvSpPr>
          <p:cNvPr id="9" name="Text 7"/>
          <p:cNvSpPr txBox="1"/>
          <p:nvPr/>
        </p:nvSpPr>
        <p:spPr>
          <a:xfrm>
            <a:off x="43178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2D6A4F"/>
                </a:solidFill>
                <a:latin typeface="Calibri" pitchFamily="34" charset="0"/>
                <a:ea typeface="Calibri" pitchFamily="34" charset="-122"/>
                <a:cs typeface="Calibri" pitchFamily="34" charset="-120"/>
              </a:rPr>
              <a:t>3.24</a:t>
            </a:r>
            <a:endParaRPr lang="en-US" sz="3400" dirty="0"/>
          </a:p>
        </p:txBody>
      </p:sp>
      <p:sp>
        <p:nvSpPr>
          <p:cNvPr id="10" name="Text 8"/>
          <p:cNvSpPr txBox="1"/>
          <p:nvPr/>
        </p:nvSpPr>
        <p:spPr>
          <a:xfrm>
            <a:off x="43178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11" name="Text 9"/>
          <p:cNvSpPr txBox="1"/>
          <p:nvPr/>
        </p:nvSpPr>
        <p:spPr>
          <a:xfrm>
            <a:off x="48262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Likelihood to Increase AI Use</a:t>
            </a:r>
            <a:endParaRPr lang="en-US" sz="1150" dirty="0"/>
          </a:p>
        </p:txBody>
      </p:sp>
      <p:sp>
        <p:nvSpPr>
          <p:cNvPr id="12" name="Shape 10"/>
          <p:cNvSpPr/>
          <p:nvPr/>
        </p:nvSpPr>
        <p:spPr>
          <a:xfrm>
            <a:off x="584210" y="2667030"/>
            <a:ext cx="1107430" cy="0"/>
          </a:xfrm>
          <a:prstGeom prst="line">
            <a:avLst/>
          </a:prstGeom>
          <a:noFill/>
          <a:ln w="9525">
            <a:solidFill>
              <a:srgbClr val="ABC3B9"/>
            </a:solidFill>
            <a:prstDash val="solid"/>
          </a:ln>
        </p:spPr>
        <p:txBody>
          <a:bodyPr/>
          <a:lstStyle/>
          <a:p>
            <a:endParaRPr lang="en-US"/>
          </a:p>
        </p:txBody>
      </p:sp>
      <p:sp>
        <p:nvSpPr>
          <p:cNvPr id="13" name="Text 11"/>
          <p:cNvSpPr txBox="1"/>
          <p:nvPr/>
        </p:nvSpPr>
        <p:spPr>
          <a:xfrm>
            <a:off x="48262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Mixed. People want more. Meet that interest with practical, hands-on help.</a:t>
            </a:r>
            <a:endParaRPr lang="en-US" sz="1050" dirty="0"/>
          </a:p>
        </p:txBody>
      </p:sp>
      <p:sp>
        <p:nvSpPr>
          <p:cNvPr id="14" name="Shape 12"/>
          <p:cNvSpPr/>
          <p:nvPr/>
        </p:nvSpPr>
        <p:spPr>
          <a:xfrm>
            <a:off x="2072670" y="888980"/>
            <a:ext cx="1564630" cy="3403580"/>
          </a:xfrm>
          <a:prstGeom prst="roundRect">
            <a:avLst>
              <a:gd name="adj" fmla="val 8118"/>
            </a:avLst>
          </a:prstGeom>
          <a:solidFill>
            <a:srgbClr val="DDE1E7"/>
          </a:solidFill>
          <a:ln/>
        </p:spPr>
        <p:txBody>
          <a:bodyPr/>
          <a:lstStyle/>
          <a:p>
            <a:endParaRPr lang="en-US"/>
          </a:p>
        </p:txBody>
      </p:sp>
      <p:sp>
        <p:nvSpPr>
          <p:cNvPr id="15" name="Text 13"/>
          <p:cNvSpPr txBox="1"/>
          <p:nvPr/>
        </p:nvSpPr>
        <p:spPr>
          <a:xfrm>
            <a:off x="214884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1D3554"/>
                </a:solidFill>
                <a:latin typeface="Calibri" pitchFamily="34" charset="0"/>
                <a:ea typeface="Calibri" pitchFamily="34" charset="-122"/>
                <a:cs typeface="Calibri" pitchFamily="34" charset="-120"/>
              </a:rPr>
              <a:t>3.06</a:t>
            </a:r>
            <a:endParaRPr lang="en-US" sz="3400" dirty="0"/>
          </a:p>
        </p:txBody>
      </p:sp>
      <p:sp>
        <p:nvSpPr>
          <p:cNvPr id="16" name="Text 14"/>
          <p:cNvSpPr txBox="1"/>
          <p:nvPr/>
        </p:nvSpPr>
        <p:spPr>
          <a:xfrm>
            <a:off x="214884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17" name="Text 15"/>
          <p:cNvSpPr txBox="1"/>
          <p:nvPr/>
        </p:nvSpPr>
        <p:spPr>
          <a:xfrm>
            <a:off x="2199681"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Understands Basic Guidelines</a:t>
            </a:r>
            <a:endParaRPr lang="en-US" sz="1150" dirty="0"/>
          </a:p>
        </p:txBody>
      </p:sp>
      <p:sp>
        <p:nvSpPr>
          <p:cNvPr id="18" name="Shape 16"/>
          <p:cNvSpPr/>
          <p:nvPr/>
        </p:nvSpPr>
        <p:spPr>
          <a:xfrm>
            <a:off x="2301270" y="2667030"/>
            <a:ext cx="1107430" cy="0"/>
          </a:xfrm>
          <a:prstGeom prst="line">
            <a:avLst/>
          </a:prstGeom>
          <a:noFill/>
          <a:ln w="9525">
            <a:solidFill>
              <a:srgbClr val="E2E8F0"/>
            </a:solidFill>
            <a:prstDash val="solid"/>
          </a:ln>
        </p:spPr>
        <p:txBody>
          <a:bodyPr/>
          <a:lstStyle/>
          <a:p>
            <a:endParaRPr lang="en-US"/>
          </a:p>
        </p:txBody>
      </p:sp>
      <p:sp>
        <p:nvSpPr>
          <p:cNvPr id="19" name="Text 17"/>
          <p:cNvSpPr txBox="1"/>
          <p:nvPr/>
        </p:nvSpPr>
        <p:spPr>
          <a:xfrm>
            <a:off x="2199681"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Mixed. Plain-language rules — what’s allowed, what isn’t — will move this.</a:t>
            </a:r>
            <a:endParaRPr lang="en-US" sz="1050" dirty="0"/>
          </a:p>
        </p:txBody>
      </p:sp>
      <p:sp>
        <p:nvSpPr>
          <p:cNvPr id="20" name="Shape 18"/>
          <p:cNvSpPr/>
          <p:nvPr/>
        </p:nvSpPr>
        <p:spPr>
          <a:xfrm>
            <a:off x="3789639" y="888980"/>
            <a:ext cx="1564630" cy="3403580"/>
          </a:xfrm>
          <a:prstGeom prst="roundRect">
            <a:avLst>
              <a:gd name="adj" fmla="val 8118"/>
            </a:avLst>
          </a:prstGeom>
          <a:solidFill>
            <a:srgbClr val="E5E8ED"/>
          </a:solidFill>
          <a:ln/>
        </p:spPr>
        <p:txBody>
          <a:bodyPr/>
          <a:lstStyle/>
          <a:p>
            <a:endParaRPr lang="en-US"/>
          </a:p>
        </p:txBody>
      </p:sp>
      <p:sp>
        <p:nvSpPr>
          <p:cNvPr id="21" name="Text 19"/>
          <p:cNvSpPr txBox="1"/>
          <p:nvPr/>
        </p:nvSpPr>
        <p:spPr>
          <a:xfrm>
            <a:off x="386590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435670"/>
                </a:solidFill>
                <a:latin typeface="Calibri" pitchFamily="34" charset="0"/>
                <a:ea typeface="Calibri" pitchFamily="34" charset="-122"/>
                <a:cs typeface="Calibri" pitchFamily="34" charset="-120"/>
              </a:rPr>
              <a:t>2.79</a:t>
            </a:r>
            <a:endParaRPr lang="en-US" sz="3400" dirty="0"/>
          </a:p>
        </p:txBody>
      </p:sp>
      <p:sp>
        <p:nvSpPr>
          <p:cNvPr id="22" name="Text 20"/>
          <p:cNvSpPr txBox="1"/>
          <p:nvPr/>
        </p:nvSpPr>
        <p:spPr>
          <a:xfrm>
            <a:off x="386590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23" name="Text 21"/>
          <p:cNvSpPr txBox="1"/>
          <p:nvPr/>
        </p:nvSpPr>
        <p:spPr>
          <a:xfrm>
            <a:off x="391665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Understands What AI Can &amp; Can’t Do</a:t>
            </a:r>
            <a:endParaRPr lang="en-US" sz="1150" dirty="0"/>
          </a:p>
        </p:txBody>
      </p:sp>
      <p:sp>
        <p:nvSpPr>
          <p:cNvPr id="24" name="Shape 22"/>
          <p:cNvSpPr/>
          <p:nvPr/>
        </p:nvSpPr>
        <p:spPr>
          <a:xfrm>
            <a:off x="4018239" y="2667030"/>
            <a:ext cx="1107430" cy="0"/>
          </a:xfrm>
          <a:prstGeom prst="line">
            <a:avLst/>
          </a:prstGeom>
          <a:noFill/>
          <a:ln w="9525">
            <a:solidFill>
              <a:srgbClr val="E2E8F0"/>
            </a:solidFill>
            <a:prstDash val="solid"/>
          </a:ln>
        </p:spPr>
        <p:txBody>
          <a:bodyPr/>
          <a:lstStyle/>
          <a:p>
            <a:endParaRPr lang="en-US"/>
          </a:p>
        </p:txBody>
      </p:sp>
      <p:sp>
        <p:nvSpPr>
          <p:cNvPr id="25" name="Text 23"/>
          <p:cNvSpPr txBox="1"/>
          <p:nvPr/>
        </p:nvSpPr>
        <p:spPr>
          <a:xfrm>
            <a:off x="391665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Gap. Core champion education opportunity: show what AI does well and where it falls short.</a:t>
            </a:r>
            <a:endParaRPr lang="en-US" sz="1050" dirty="0"/>
          </a:p>
        </p:txBody>
      </p:sp>
      <p:sp>
        <p:nvSpPr>
          <p:cNvPr id="26" name="Shape 24"/>
          <p:cNvSpPr/>
          <p:nvPr/>
        </p:nvSpPr>
        <p:spPr>
          <a:xfrm>
            <a:off x="5506700" y="888980"/>
            <a:ext cx="1564630" cy="3403580"/>
          </a:xfrm>
          <a:prstGeom prst="roundRect">
            <a:avLst>
              <a:gd name="adj" fmla="val 8118"/>
            </a:avLst>
          </a:prstGeom>
          <a:solidFill>
            <a:srgbClr val="EDEFF2"/>
          </a:solidFill>
          <a:ln/>
        </p:spPr>
        <p:txBody>
          <a:bodyPr/>
          <a:lstStyle/>
          <a:p>
            <a:endParaRPr lang="en-US"/>
          </a:p>
        </p:txBody>
      </p:sp>
      <p:sp>
        <p:nvSpPr>
          <p:cNvPr id="27" name="Text 25"/>
          <p:cNvSpPr txBox="1"/>
          <p:nvPr/>
        </p:nvSpPr>
        <p:spPr>
          <a:xfrm>
            <a:off x="5582961"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6A798C"/>
                </a:solidFill>
                <a:latin typeface="Calibri" pitchFamily="34" charset="0"/>
                <a:ea typeface="Calibri" pitchFamily="34" charset="-122"/>
                <a:cs typeface="Calibri" pitchFamily="34" charset="-120"/>
              </a:rPr>
              <a:t>2.71</a:t>
            </a:r>
            <a:endParaRPr lang="en-US" sz="3400" dirty="0"/>
          </a:p>
        </p:txBody>
      </p:sp>
      <p:sp>
        <p:nvSpPr>
          <p:cNvPr id="28" name="Text 26"/>
          <p:cNvSpPr txBox="1"/>
          <p:nvPr/>
        </p:nvSpPr>
        <p:spPr>
          <a:xfrm>
            <a:off x="5582961"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29" name="Text 27"/>
          <p:cNvSpPr txBox="1"/>
          <p:nvPr/>
        </p:nvSpPr>
        <p:spPr>
          <a:xfrm>
            <a:off x="563371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Satisfied with Available Tools</a:t>
            </a:r>
            <a:endParaRPr lang="en-US" sz="1150" dirty="0"/>
          </a:p>
        </p:txBody>
      </p:sp>
      <p:sp>
        <p:nvSpPr>
          <p:cNvPr id="30" name="Shape 28"/>
          <p:cNvSpPr/>
          <p:nvPr/>
        </p:nvSpPr>
        <p:spPr>
          <a:xfrm>
            <a:off x="5735300" y="2667030"/>
            <a:ext cx="1107430" cy="0"/>
          </a:xfrm>
          <a:prstGeom prst="line">
            <a:avLst/>
          </a:prstGeom>
          <a:noFill/>
          <a:ln w="9525">
            <a:solidFill>
              <a:srgbClr val="E2E8F0"/>
            </a:solidFill>
            <a:prstDash val="solid"/>
          </a:ln>
        </p:spPr>
        <p:txBody>
          <a:bodyPr/>
          <a:lstStyle/>
          <a:p>
            <a:endParaRPr lang="en-US"/>
          </a:p>
        </p:txBody>
      </p:sp>
      <p:sp>
        <p:nvSpPr>
          <p:cNvPr id="31" name="Text 29"/>
          <p:cNvSpPr txBox="1"/>
          <p:nvPr/>
        </p:nvSpPr>
        <p:spPr>
          <a:xfrm>
            <a:off x="563371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Gap. Show what’s available today and how to get the most from it.</a:t>
            </a:r>
            <a:endParaRPr lang="en-US" sz="1050" dirty="0"/>
          </a:p>
        </p:txBody>
      </p:sp>
      <p:sp>
        <p:nvSpPr>
          <p:cNvPr id="32" name="Shape 30"/>
          <p:cNvSpPr/>
          <p:nvPr/>
        </p:nvSpPr>
        <p:spPr>
          <a:xfrm>
            <a:off x="7223760" y="888980"/>
            <a:ext cx="1564630" cy="3403580"/>
          </a:xfrm>
          <a:prstGeom prst="roundRect">
            <a:avLst>
              <a:gd name="adj" fmla="val 8118"/>
            </a:avLst>
          </a:prstGeom>
          <a:solidFill>
            <a:srgbClr val="F4F6F8"/>
          </a:solidFill>
          <a:ln/>
        </p:spPr>
        <p:txBody>
          <a:bodyPr/>
          <a:lstStyle/>
          <a:p>
            <a:endParaRPr lang="en-US"/>
          </a:p>
        </p:txBody>
      </p:sp>
      <p:sp>
        <p:nvSpPr>
          <p:cNvPr id="33" name="Text 31"/>
          <p:cNvSpPr txBox="1"/>
          <p:nvPr/>
        </p:nvSpPr>
        <p:spPr>
          <a:xfrm>
            <a:off x="729993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919BA8"/>
                </a:solidFill>
                <a:latin typeface="Calibri" pitchFamily="34" charset="0"/>
                <a:ea typeface="Calibri" pitchFamily="34" charset="-122"/>
                <a:cs typeface="Calibri" pitchFamily="34" charset="-120"/>
              </a:rPr>
              <a:t>2.37</a:t>
            </a:r>
            <a:endParaRPr lang="en-US" sz="3400" dirty="0"/>
          </a:p>
        </p:txBody>
      </p:sp>
      <p:sp>
        <p:nvSpPr>
          <p:cNvPr id="34" name="Text 32"/>
          <p:cNvSpPr txBox="1"/>
          <p:nvPr/>
        </p:nvSpPr>
        <p:spPr>
          <a:xfrm>
            <a:off x="729993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35" name="Text 33"/>
          <p:cNvSpPr txBox="1"/>
          <p:nvPr/>
        </p:nvSpPr>
        <p:spPr>
          <a:xfrm>
            <a:off x="735077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AI Has Improved Productivity</a:t>
            </a:r>
            <a:endParaRPr lang="en-US" sz="1150" dirty="0"/>
          </a:p>
        </p:txBody>
      </p:sp>
      <p:sp>
        <p:nvSpPr>
          <p:cNvPr id="36" name="Shape 34"/>
          <p:cNvSpPr/>
          <p:nvPr/>
        </p:nvSpPr>
        <p:spPr>
          <a:xfrm>
            <a:off x="7452360" y="2667030"/>
            <a:ext cx="1107430" cy="0"/>
          </a:xfrm>
          <a:prstGeom prst="line">
            <a:avLst/>
          </a:prstGeom>
          <a:noFill/>
          <a:ln w="9525">
            <a:solidFill>
              <a:srgbClr val="E2E8F0"/>
            </a:solidFill>
            <a:prstDash val="solid"/>
          </a:ln>
        </p:spPr>
        <p:txBody>
          <a:bodyPr/>
          <a:lstStyle/>
          <a:p>
            <a:endParaRPr lang="en-US"/>
          </a:p>
        </p:txBody>
      </p:sp>
      <p:sp>
        <p:nvSpPr>
          <p:cNvPr id="37" name="Text 35"/>
          <p:cNvSpPr txBox="1"/>
          <p:nvPr/>
        </p:nvSpPr>
        <p:spPr>
          <a:xfrm>
            <a:off x="735077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Biggest gap. Everyday-task demos on real work are what will move this.</a:t>
            </a:r>
            <a:endParaRPr lang="en-US" sz="1050" dirty="0"/>
          </a:p>
        </p:txBody>
      </p:sp>
      <p:sp>
        <p:nvSpPr>
          <p:cNvPr id="38" name="Shape 36"/>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39" name="Text 37"/>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Intent is there. Our role is to turn interest into real, everyday value.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Employees Told Us What Is Blocking Them</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5</a:t>
            </a:r>
            <a:endParaRPr lang="en-US" sz="750" dirty="0"/>
          </a:p>
        </p:txBody>
      </p:sp>
      <p:sp>
        <p:nvSpPr>
          <p:cNvPr id="6" name="Text 4"/>
          <p:cNvSpPr txBox="1"/>
          <p:nvPr/>
        </p:nvSpPr>
        <p:spPr>
          <a:xfrm>
            <a:off x="355610" y="838230"/>
            <a:ext cx="355601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How often people use AI for job tasks</a:t>
            </a:r>
            <a:endParaRPr lang="en-US" sz="1100" dirty="0"/>
          </a:p>
        </p:txBody>
      </p:sp>
      <p:graphicFrame>
        <p:nvGraphicFramePr>
          <p:cNvPr id="7" name="Chart 0"/>
          <p:cNvGraphicFramePr/>
          <p:nvPr/>
        </p:nvGraphicFramePr>
        <p:xfrm>
          <a:off x="609630" y="1193841"/>
          <a:ext cx="2158990" cy="215899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990570" y="1943100"/>
            <a:ext cx="1397020" cy="381030"/>
          </a:xfrm>
          <a:prstGeom prst="rect">
            <a:avLst/>
          </a:prstGeom>
          <a:noFill/>
          <a:ln/>
        </p:spPr>
        <p:txBody>
          <a:bodyPr wrap="square" lIns="0" tIns="0" rIns="0" bIns="0" rtlCol="0" anchor="ctr"/>
          <a:lstStyle/>
          <a:p>
            <a:pPr marL="0" indent="0" algn="ctr">
              <a:lnSpc>
                <a:spcPct val="100000"/>
              </a:lnSpc>
              <a:buNone/>
            </a:pPr>
            <a:r>
              <a:rPr lang="en-US" sz="2400" b="1" dirty="0">
                <a:solidFill>
                  <a:srgbClr val="2D6A4F"/>
                </a:solidFill>
                <a:latin typeface="Calibri" pitchFamily="34" charset="0"/>
                <a:ea typeface="Calibri" pitchFamily="34" charset="-122"/>
                <a:cs typeface="Calibri" pitchFamily="34" charset="-120"/>
              </a:rPr>
              <a:t>23%</a:t>
            </a:r>
            <a:endParaRPr lang="en-US" sz="2400" dirty="0"/>
          </a:p>
        </p:txBody>
      </p:sp>
      <p:sp>
        <p:nvSpPr>
          <p:cNvPr id="9" name="Text 6"/>
          <p:cNvSpPr txBox="1"/>
          <p:nvPr/>
        </p:nvSpPr>
        <p:spPr>
          <a:xfrm>
            <a:off x="990570" y="2324130"/>
            <a:ext cx="1397020" cy="330190"/>
          </a:xfrm>
          <a:prstGeom prst="rect">
            <a:avLst/>
          </a:prstGeom>
          <a:noFill/>
          <a:ln/>
        </p:spPr>
        <p:txBody>
          <a:bodyPr wrap="square" lIns="0" tIns="0" rIns="0" bIns="0" rtlCol="0" anchor="t"/>
          <a:lstStyle/>
          <a:p>
            <a:pPr marL="0" indent="0" algn="ctr">
              <a:lnSpc>
                <a:spcPct val="100000"/>
              </a:lnSpc>
              <a:buNone/>
            </a:pPr>
            <a:r>
              <a:rPr lang="en-US" sz="900" dirty="0">
                <a:solidFill>
                  <a:srgbClr val="475569"/>
                </a:solidFill>
                <a:latin typeface="Calibri" pitchFamily="34" charset="0"/>
                <a:ea typeface="Calibri" pitchFamily="34" charset="-122"/>
                <a:cs typeface="Calibri" pitchFamily="34" charset="-120"/>
              </a:rPr>
              <a:t>often or daily</a:t>
            </a:r>
            <a:endParaRPr lang="en-US" sz="900" dirty="0"/>
          </a:p>
        </p:txBody>
      </p:sp>
      <p:sp>
        <p:nvSpPr>
          <p:cNvPr id="10" name="Shape 7"/>
          <p:cNvSpPr/>
          <p:nvPr/>
        </p:nvSpPr>
        <p:spPr>
          <a:xfrm>
            <a:off x="355610" y="3543300"/>
            <a:ext cx="127010" cy="127010"/>
          </a:xfrm>
          <a:prstGeom prst="roundRect">
            <a:avLst>
              <a:gd name="adj" fmla="val 20014"/>
            </a:avLst>
          </a:prstGeom>
          <a:solidFill>
            <a:srgbClr val="64748B"/>
          </a:solidFill>
          <a:ln/>
        </p:spPr>
        <p:txBody>
          <a:bodyPr/>
          <a:lstStyle/>
          <a:p>
            <a:endParaRPr lang="en-US"/>
          </a:p>
        </p:txBody>
      </p:sp>
      <p:sp>
        <p:nvSpPr>
          <p:cNvPr id="11" name="Text 8"/>
          <p:cNvSpPr txBox="1"/>
          <p:nvPr/>
        </p:nvSpPr>
        <p:spPr>
          <a:xfrm>
            <a:off x="533370" y="3505170"/>
            <a:ext cx="990570" cy="203180"/>
          </a:xfrm>
          <a:prstGeom prst="rect">
            <a:avLst/>
          </a:prstGeom>
          <a:noFill/>
          <a:ln/>
        </p:spPr>
        <p:txBody>
          <a:bodyPr wrap="square" lIns="0" tIns="0" rIns="0" bIns="0" rtlCol="0" anchor="ctr"/>
          <a:lstStyle/>
          <a:p>
            <a:pPr marL="0" indent="0" algn="l">
              <a:lnSpc>
                <a:spcPct val="100000"/>
              </a:lnSpc>
              <a:buNone/>
            </a:pPr>
            <a:r>
              <a:rPr lang="en-US" sz="950" dirty="0">
                <a:solidFill>
                  <a:srgbClr val="475569"/>
                </a:solidFill>
                <a:latin typeface="Calibri" pitchFamily="34" charset="0"/>
                <a:ea typeface="Calibri" pitchFamily="34" charset="-122"/>
                <a:cs typeface="Calibri" pitchFamily="34" charset="-120"/>
              </a:rPr>
              <a:t>Never 27%</a:t>
            </a:r>
            <a:endParaRPr lang="en-US" sz="950" dirty="0"/>
          </a:p>
        </p:txBody>
      </p:sp>
      <p:sp>
        <p:nvSpPr>
          <p:cNvPr id="12" name="Shape 9"/>
          <p:cNvSpPr/>
          <p:nvPr/>
        </p:nvSpPr>
        <p:spPr>
          <a:xfrm>
            <a:off x="1524030" y="3543300"/>
            <a:ext cx="127010" cy="127010"/>
          </a:xfrm>
          <a:prstGeom prst="roundRect">
            <a:avLst>
              <a:gd name="adj" fmla="val 20014"/>
            </a:avLst>
          </a:prstGeom>
          <a:solidFill>
            <a:srgbClr val="40698B"/>
          </a:solidFill>
          <a:ln/>
        </p:spPr>
        <p:txBody>
          <a:bodyPr/>
          <a:lstStyle/>
          <a:p>
            <a:endParaRPr lang="en-US"/>
          </a:p>
        </p:txBody>
      </p:sp>
      <p:sp>
        <p:nvSpPr>
          <p:cNvPr id="13" name="Text 10"/>
          <p:cNvSpPr txBox="1"/>
          <p:nvPr/>
        </p:nvSpPr>
        <p:spPr>
          <a:xfrm>
            <a:off x="1701790" y="3505170"/>
            <a:ext cx="990570" cy="203180"/>
          </a:xfrm>
          <a:prstGeom prst="rect">
            <a:avLst/>
          </a:prstGeom>
          <a:noFill/>
          <a:ln/>
        </p:spPr>
        <p:txBody>
          <a:bodyPr wrap="square" lIns="0" tIns="0" rIns="0" bIns="0" rtlCol="0" anchor="ctr"/>
          <a:lstStyle/>
          <a:p>
            <a:pPr marL="0" indent="0" algn="l">
              <a:lnSpc>
                <a:spcPct val="100000"/>
              </a:lnSpc>
              <a:buNone/>
            </a:pPr>
            <a:r>
              <a:rPr lang="en-US" sz="950" dirty="0">
                <a:solidFill>
                  <a:srgbClr val="475569"/>
                </a:solidFill>
                <a:latin typeface="Calibri" pitchFamily="34" charset="0"/>
                <a:ea typeface="Calibri" pitchFamily="34" charset="-122"/>
                <a:cs typeface="Calibri" pitchFamily="34" charset="-120"/>
              </a:rPr>
              <a:t>Rarely 22%</a:t>
            </a:r>
            <a:endParaRPr lang="en-US" sz="950" dirty="0"/>
          </a:p>
        </p:txBody>
      </p:sp>
      <p:sp>
        <p:nvSpPr>
          <p:cNvPr id="14" name="Shape 11"/>
          <p:cNvSpPr/>
          <p:nvPr/>
        </p:nvSpPr>
        <p:spPr>
          <a:xfrm>
            <a:off x="2692359" y="3543300"/>
            <a:ext cx="127010" cy="127010"/>
          </a:xfrm>
          <a:prstGeom prst="roundRect">
            <a:avLst>
              <a:gd name="adj" fmla="val 20014"/>
            </a:avLst>
          </a:prstGeom>
          <a:solidFill>
            <a:srgbClr val="1B5E8A"/>
          </a:solidFill>
          <a:ln/>
        </p:spPr>
        <p:txBody>
          <a:bodyPr/>
          <a:lstStyle/>
          <a:p>
            <a:endParaRPr lang="en-US"/>
          </a:p>
        </p:txBody>
      </p:sp>
      <p:sp>
        <p:nvSpPr>
          <p:cNvPr id="15" name="Text 12"/>
          <p:cNvSpPr txBox="1"/>
          <p:nvPr/>
        </p:nvSpPr>
        <p:spPr>
          <a:xfrm>
            <a:off x="2870210" y="3505170"/>
            <a:ext cx="990570" cy="203180"/>
          </a:xfrm>
          <a:prstGeom prst="rect">
            <a:avLst/>
          </a:prstGeom>
          <a:noFill/>
          <a:ln/>
        </p:spPr>
        <p:txBody>
          <a:bodyPr wrap="square" lIns="0" tIns="0" rIns="0" bIns="0" rtlCol="0" anchor="ctr"/>
          <a:lstStyle/>
          <a:p>
            <a:pPr marL="0" indent="0" algn="l">
              <a:lnSpc>
                <a:spcPct val="100000"/>
              </a:lnSpc>
              <a:buNone/>
            </a:pPr>
            <a:r>
              <a:rPr lang="en-US" sz="950" dirty="0">
                <a:solidFill>
                  <a:srgbClr val="475569"/>
                </a:solidFill>
                <a:latin typeface="Calibri" pitchFamily="34" charset="0"/>
                <a:ea typeface="Calibri" pitchFamily="34" charset="-122"/>
                <a:cs typeface="Calibri" pitchFamily="34" charset="-120"/>
              </a:rPr>
              <a:t>Sometimes 28%</a:t>
            </a:r>
            <a:endParaRPr lang="en-US" sz="950" dirty="0"/>
          </a:p>
        </p:txBody>
      </p:sp>
      <p:sp>
        <p:nvSpPr>
          <p:cNvPr id="16" name="Shape 13"/>
          <p:cNvSpPr/>
          <p:nvPr/>
        </p:nvSpPr>
        <p:spPr>
          <a:xfrm>
            <a:off x="355610" y="3771900"/>
            <a:ext cx="127010" cy="127010"/>
          </a:xfrm>
          <a:prstGeom prst="roundRect">
            <a:avLst>
              <a:gd name="adj" fmla="val 20014"/>
            </a:avLst>
          </a:prstGeom>
          <a:solidFill>
            <a:srgbClr val="40916C"/>
          </a:solidFill>
          <a:ln/>
        </p:spPr>
        <p:txBody>
          <a:bodyPr/>
          <a:lstStyle/>
          <a:p>
            <a:endParaRPr lang="en-US"/>
          </a:p>
        </p:txBody>
      </p:sp>
      <p:sp>
        <p:nvSpPr>
          <p:cNvPr id="17" name="Text 14"/>
          <p:cNvSpPr txBox="1"/>
          <p:nvPr/>
        </p:nvSpPr>
        <p:spPr>
          <a:xfrm>
            <a:off x="533370" y="3733770"/>
            <a:ext cx="990570" cy="203180"/>
          </a:xfrm>
          <a:prstGeom prst="rect">
            <a:avLst/>
          </a:prstGeom>
          <a:noFill/>
          <a:ln/>
        </p:spPr>
        <p:txBody>
          <a:bodyPr wrap="square" lIns="0" tIns="0" rIns="0" bIns="0" rtlCol="0" anchor="ctr"/>
          <a:lstStyle/>
          <a:p>
            <a:pPr marL="0" indent="0" algn="l">
              <a:lnSpc>
                <a:spcPct val="100000"/>
              </a:lnSpc>
              <a:buNone/>
            </a:pPr>
            <a:r>
              <a:rPr lang="en-US" sz="950" dirty="0">
                <a:solidFill>
                  <a:srgbClr val="475569"/>
                </a:solidFill>
                <a:latin typeface="Calibri" pitchFamily="34" charset="0"/>
                <a:ea typeface="Calibri" pitchFamily="34" charset="-122"/>
                <a:cs typeface="Calibri" pitchFamily="34" charset="-120"/>
              </a:rPr>
              <a:t>Often 11%</a:t>
            </a:r>
            <a:endParaRPr lang="en-US" sz="950" dirty="0"/>
          </a:p>
        </p:txBody>
      </p:sp>
      <p:sp>
        <p:nvSpPr>
          <p:cNvPr id="18" name="Shape 15"/>
          <p:cNvSpPr/>
          <p:nvPr/>
        </p:nvSpPr>
        <p:spPr>
          <a:xfrm>
            <a:off x="1524030" y="3771900"/>
            <a:ext cx="127010" cy="127010"/>
          </a:xfrm>
          <a:prstGeom prst="roundRect">
            <a:avLst>
              <a:gd name="adj" fmla="val 20014"/>
            </a:avLst>
          </a:prstGeom>
          <a:solidFill>
            <a:srgbClr val="2D6A4F"/>
          </a:solidFill>
          <a:ln/>
        </p:spPr>
        <p:txBody>
          <a:bodyPr/>
          <a:lstStyle/>
          <a:p>
            <a:endParaRPr lang="en-US"/>
          </a:p>
        </p:txBody>
      </p:sp>
      <p:sp>
        <p:nvSpPr>
          <p:cNvPr id="19" name="Text 16"/>
          <p:cNvSpPr txBox="1"/>
          <p:nvPr/>
        </p:nvSpPr>
        <p:spPr>
          <a:xfrm>
            <a:off x="1701790" y="3733770"/>
            <a:ext cx="990570" cy="203180"/>
          </a:xfrm>
          <a:prstGeom prst="rect">
            <a:avLst/>
          </a:prstGeom>
          <a:noFill/>
          <a:ln/>
        </p:spPr>
        <p:txBody>
          <a:bodyPr wrap="square" lIns="0" tIns="0" rIns="0" bIns="0" rtlCol="0" anchor="ctr"/>
          <a:lstStyle/>
          <a:p>
            <a:pPr marL="0" indent="0" algn="l">
              <a:lnSpc>
                <a:spcPct val="100000"/>
              </a:lnSpc>
              <a:buNone/>
            </a:pPr>
            <a:r>
              <a:rPr lang="en-US" sz="950" dirty="0">
                <a:solidFill>
                  <a:srgbClr val="475569"/>
                </a:solidFill>
                <a:latin typeface="Calibri" pitchFamily="34" charset="0"/>
                <a:ea typeface="Calibri" pitchFamily="34" charset="-122"/>
                <a:cs typeface="Calibri" pitchFamily="34" charset="-120"/>
              </a:rPr>
              <a:t>Daily 12%</a:t>
            </a:r>
            <a:endParaRPr lang="en-US" sz="950" dirty="0"/>
          </a:p>
        </p:txBody>
      </p:sp>
      <p:sp>
        <p:nvSpPr>
          <p:cNvPr id="20" name="Text 17"/>
          <p:cNvSpPr txBox="1"/>
          <p:nvPr/>
        </p:nvSpPr>
        <p:spPr>
          <a:xfrm>
            <a:off x="4165641" y="838230"/>
            <a:ext cx="4622841"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Top barriers (people choosing each, of 489)</a:t>
            </a:r>
            <a:endParaRPr lang="en-US" sz="1100" dirty="0"/>
          </a:p>
        </p:txBody>
      </p:sp>
      <p:graphicFrame>
        <p:nvGraphicFramePr>
          <p:cNvPr id="21" name="Chart 1"/>
          <p:cNvGraphicFramePr/>
          <p:nvPr/>
        </p:nvGraphicFramePr>
        <p:xfrm>
          <a:off x="4165641" y="1092159"/>
          <a:ext cx="4622841" cy="3174980"/>
        </p:xfrm>
        <a:graphic>
          <a:graphicData uri="http://schemas.openxmlformats.org/drawingml/2006/chart">
            <c:chart xmlns:c="http://schemas.openxmlformats.org/drawingml/2006/chart" xmlns:r="http://schemas.openxmlformats.org/officeDocument/2006/relationships" r:id="rId4"/>
          </a:graphicData>
        </a:graphic>
      </p:graphicFrame>
      <p:sp>
        <p:nvSpPr>
          <p:cNvPr id="22" name="Shape 18"/>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23" name="Text 19"/>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The blockers are answerable: trust, training, and clear rules are things we can address in every session.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The Skill Gap Is Real — You’re the Bridge</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6</a:t>
            </a:r>
            <a:endParaRPr lang="en-US" sz="750" dirty="0"/>
          </a:p>
        </p:txBody>
      </p:sp>
      <p:sp>
        <p:nvSpPr>
          <p:cNvPr id="6" name="Text 4"/>
          <p:cNvSpPr txBox="1"/>
          <p:nvPr/>
        </p:nvSpPr>
        <p:spPr>
          <a:xfrm>
            <a:off x="355610" y="838230"/>
            <a:ext cx="5080041"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How people rate their AI skill (n=489)</a:t>
            </a:r>
            <a:endParaRPr lang="en-US" sz="1100" dirty="0"/>
          </a:p>
        </p:txBody>
      </p:sp>
      <p:sp>
        <p:nvSpPr>
          <p:cNvPr id="7" name="Text 5"/>
          <p:cNvSpPr txBox="1"/>
          <p:nvPr/>
        </p:nvSpPr>
        <p:spPr>
          <a:xfrm>
            <a:off x="355610" y="109215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Awareness</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Knows what AI is but hasn’t used it</a:t>
            </a:r>
            <a:endParaRPr lang="en-US" sz="1100" dirty="0"/>
          </a:p>
        </p:txBody>
      </p:sp>
      <p:sp>
        <p:nvSpPr>
          <p:cNvPr id="8" name="Shape 6"/>
          <p:cNvSpPr/>
          <p:nvPr/>
        </p:nvSpPr>
        <p:spPr>
          <a:xfrm>
            <a:off x="2082820" y="1232977"/>
            <a:ext cx="1026780" cy="358445"/>
          </a:xfrm>
          <a:prstGeom prst="roundRect">
            <a:avLst>
              <a:gd name="adj" fmla="val 10638"/>
            </a:avLst>
          </a:prstGeom>
          <a:solidFill>
            <a:srgbClr val="1B5E8A"/>
          </a:solidFill>
          <a:ln/>
        </p:spPr>
        <p:txBody>
          <a:bodyPr/>
          <a:lstStyle/>
          <a:p>
            <a:endParaRPr lang="en-US"/>
          </a:p>
        </p:txBody>
      </p:sp>
      <p:sp>
        <p:nvSpPr>
          <p:cNvPr id="9" name="Text 7"/>
          <p:cNvSpPr txBox="1"/>
          <p:nvPr/>
        </p:nvSpPr>
        <p:spPr>
          <a:xfrm>
            <a:off x="3185770" y="109215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19%</a:t>
            </a:r>
            <a:r>
              <a:rPr lang="en-US" sz="900" dirty="0">
                <a:solidFill>
                  <a:srgbClr val="64748B"/>
                </a:solidFill>
                <a:latin typeface="Calibri" pitchFamily="34" charset="0"/>
                <a:ea typeface="Calibri" pitchFamily="34" charset="-122"/>
                <a:cs typeface="Calibri" pitchFamily="34" charset="-120"/>
              </a:rPr>
              <a:t>  (95)</a:t>
            </a:r>
            <a:endParaRPr lang="en-US" sz="1200" dirty="0"/>
          </a:p>
        </p:txBody>
      </p:sp>
      <p:sp>
        <p:nvSpPr>
          <p:cNvPr id="10" name="Text 8"/>
          <p:cNvSpPr txBox="1"/>
          <p:nvPr/>
        </p:nvSpPr>
        <p:spPr>
          <a:xfrm>
            <a:off x="355610" y="173223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Beginner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Has tried AI tools a few times</a:t>
            </a:r>
            <a:endParaRPr lang="en-US" sz="1100" dirty="0"/>
          </a:p>
        </p:txBody>
      </p:sp>
      <p:sp>
        <p:nvSpPr>
          <p:cNvPr id="11" name="Shape 9"/>
          <p:cNvSpPr/>
          <p:nvPr/>
        </p:nvSpPr>
        <p:spPr>
          <a:xfrm>
            <a:off x="2082820" y="1873057"/>
            <a:ext cx="2540020" cy="358445"/>
          </a:xfrm>
          <a:prstGeom prst="roundRect">
            <a:avLst>
              <a:gd name="adj" fmla="val 10638"/>
            </a:avLst>
          </a:prstGeom>
          <a:solidFill>
            <a:srgbClr val="1E3A5F"/>
          </a:solidFill>
          <a:ln/>
        </p:spPr>
        <p:txBody>
          <a:bodyPr/>
          <a:lstStyle/>
          <a:p>
            <a:endParaRPr lang="en-US"/>
          </a:p>
        </p:txBody>
      </p:sp>
      <p:sp>
        <p:nvSpPr>
          <p:cNvPr id="12" name="Text 10"/>
          <p:cNvSpPr txBox="1"/>
          <p:nvPr/>
        </p:nvSpPr>
        <p:spPr>
          <a:xfrm>
            <a:off x="4699010" y="173223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47%</a:t>
            </a:r>
            <a:r>
              <a:rPr lang="en-US" sz="900" dirty="0">
                <a:solidFill>
                  <a:srgbClr val="64748B"/>
                </a:solidFill>
                <a:latin typeface="Calibri" pitchFamily="34" charset="0"/>
                <a:ea typeface="Calibri" pitchFamily="34" charset="-122"/>
                <a:cs typeface="Calibri" pitchFamily="34" charset="-120"/>
              </a:rPr>
              <a:t>  (231)</a:t>
            </a:r>
            <a:endParaRPr lang="en-US" sz="1200" dirty="0"/>
          </a:p>
        </p:txBody>
      </p:sp>
      <p:sp>
        <p:nvSpPr>
          <p:cNvPr id="13" name="Text 11"/>
          <p:cNvSpPr txBox="1"/>
          <p:nvPr/>
        </p:nvSpPr>
        <p:spPr>
          <a:xfrm>
            <a:off x="355610" y="237231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Practitioner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Uses AI regularly for work tasks</a:t>
            </a:r>
            <a:endParaRPr lang="en-US" sz="1100" dirty="0"/>
          </a:p>
        </p:txBody>
      </p:sp>
      <p:sp>
        <p:nvSpPr>
          <p:cNvPr id="14" name="Shape 12"/>
          <p:cNvSpPr/>
          <p:nvPr/>
        </p:nvSpPr>
        <p:spPr>
          <a:xfrm>
            <a:off x="2082820" y="2513137"/>
            <a:ext cx="1513149" cy="358445"/>
          </a:xfrm>
          <a:prstGeom prst="roundRect">
            <a:avLst>
              <a:gd name="adj" fmla="val 10638"/>
            </a:avLst>
          </a:prstGeom>
          <a:solidFill>
            <a:srgbClr val="2D6A4F"/>
          </a:solidFill>
          <a:ln/>
        </p:spPr>
        <p:txBody>
          <a:bodyPr/>
          <a:lstStyle/>
          <a:p>
            <a:endParaRPr lang="en-US"/>
          </a:p>
        </p:txBody>
      </p:sp>
      <p:sp>
        <p:nvSpPr>
          <p:cNvPr id="15" name="Text 13"/>
          <p:cNvSpPr txBox="1"/>
          <p:nvPr/>
        </p:nvSpPr>
        <p:spPr>
          <a:xfrm>
            <a:off x="3672230" y="237231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28%</a:t>
            </a:r>
            <a:r>
              <a:rPr lang="en-US" sz="900" dirty="0">
                <a:solidFill>
                  <a:srgbClr val="64748B"/>
                </a:solidFill>
                <a:latin typeface="Calibri" pitchFamily="34" charset="0"/>
                <a:ea typeface="Calibri" pitchFamily="34" charset="-122"/>
                <a:cs typeface="Calibri" pitchFamily="34" charset="-120"/>
              </a:rPr>
              <a:t>  (139)</a:t>
            </a:r>
            <a:endParaRPr lang="en-US" sz="1200" dirty="0"/>
          </a:p>
        </p:txBody>
      </p:sp>
      <p:sp>
        <p:nvSpPr>
          <p:cNvPr id="16" name="Text 14"/>
          <p:cNvSpPr txBox="1"/>
          <p:nvPr/>
        </p:nvSpPr>
        <p:spPr>
          <a:xfrm>
            <a:off x="355610" y="301239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Advanced</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Designs workflows and troubleshoots outputs</a:t>
            </a:r>
            <a:endParaRPr lang="en-US" sz="1100" dirty="0"/>
          </a:p>
        </p:txBody>
      </p:sp>
      <p:sp>
        <p:nvSpPr>
          <p:cNvPr id="17" name="Shape 15"/>
          <p:cNvSpPr/>
          <p:nvPr/>
        </p:nvSpPr>
        <p:spPr>
          <a:xfrm>
            <a:off x="2082820" y="3153217"/>
            <a:ext cx="108082" cy="358445"/>
          </a:xfrm>
          <a:prstGeom prst="roundRect">
            <a:avLst>
              <a:gd name="adj" fmla="val 35279"/>
            </a:avLst>
          </a:prstGeom>
          <a:solidFill>
            <a:srgbClr val="40916C"/>
          </a:solidFill>
          <a:ln/>
        </p:spPr>
        <p:txBody>
          <a:bodyPr/>
          <a:lstStyle/>
          <a:p>
            <a:endParaRPr lang="en-US"/>
          </a:p>
        </p:txBody>
      </p:sp>
      <p:sp>
        <p:nvSpPr>
          <p:cNvPr id="18" name="Text 16"/>
          <p:cNvSpPr txBox="1"/>
          <p:nvPr/>
        </p:nvSpPr>
        <p:spPr>
          <a:xfrm>
            <a:off x="2267072" y="301239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2%</a:t>
            </a:r>
            <a:r>
              <a:rPr lang="en-US" sz="900" dirty="0">
                <a:solidFill>
                  <a:srgbClr val="64748B"/>
                </a:solidFill>
                <a:latin typeface="Calibri" pitchFamily="34" charset="0"/>
                <a:ea typeface="Calibri" pitchFamily="34" charset="-122"/>
                <a:cs typeface="Calibri" pitchFamily="34" charset="-120"/>
              </a:rPr>
              <a:t>  (11)</a:t>
            </a:r>
            <a:endParaRPr lang="en-US" sz="1200" dirty="0"/>
          </a:p>
        </p:txBody>
      </p:sp>
      <p:sp>
        <p:nvSpPr>
          <p:cNvPr id="19" name="Text 17"/>
          <p:cNvSpPr txBox="1"/>
          <p:nvPr/>
        </p:nvSpPr>
        <p:spPr>
          <a:xfrm>
            <a:off x="355610" y="365247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Leader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Guides others and shapes AI strategy</a:t>
            </a:r>
            <a:endParaRPr lang="en-US" sz="1100" dirty="0"/>
          </a:p>
        </p:txBody>
      </p:sp>
      <p:sp>
        <p:nvSpPr>
          <p:cNvPr id="20" name="Shape 18"/>
          <p:cNvSpPr/>
          <p:nvPr/>
        </p:nvSpPr>
        <p:spPr>
          <a:xfrm>
            <a:off x="2082820" y="3793297"/>
            <a:ext cx="162123" cy="358445"/>
          </a:xfrm>
          <a:prstGeom prst="roundRect">
            <a:avLst>
              <a:gd name="adj" fmla="val 23519"/>
            </a:avLst>
          </a:prstGeom>
          <a:solidFill>
            <a:srgbClr val="40916C"/>
          </a:solidFill>
          <a:ln/>
        </p:spPr>
        <p:txBody>
          <a:bodyPr/>
          <a:lstStyle/>
          <a:p>
            <a:endParaRPr lang="en-US"/>
          </a:p>
        </p:txBody>
      </p:sp>
      <p:sp>
        <p:nvSpPr>
          <p:cNvPr id="21" name="Text 19"/>
          <p:cNvSpPr txBox="1"/>
          <p:nvPr/>
        </p:nvSpPr>
        <p:spPr>
          <a:xfrm>
            <a:off x="2321113" y="365247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3%</a:t>
            </a:r>
            <a:r>
              <a:rPr lang="en-US" sz="900" dirty="0">
                <a:solidFill>
                  <a:srgbClr val="64748B"/>
                </a:solidFill>
                <a:latin typeface="Calibri" pitchFamily="34" charset="0"/>
                <a:ea typeface="Calibri" pitchFamily="34" charset="-122"/>
                <a:cs typeface="Calibri" pitchFamily="34" charset="-120"/>
              </a:rPr>
              <a:t>  (13)</a:t>
            </a:r>
            <a:endParaRPr lang="en-US" sz="1200" dirty="0"/>
          </a:p>
        </p:txBody>
      </p:sp>
      <p:sp>
        <p:nvSpPr>
          <p:cNvPr id="22" name="Shape 20"/>
          <p:cNvSpPr/>
          <p:nvPr/>
        </p:nvSpPr>
        <p:spPr>
          <a:xfrm>
            <a:off x="5842010" y="863559"/>
            <a:ext cx="2946380" cy="1049823"/>
          </a:xfrm>
          <a:prstGeom prst="roundRect">
            <a:avLst>
              <a:gd name="adj" fmla="val 9677"/>
            </a:avLst>
          </a:prstGeom>
          <a:solidFill>
            <a:srgbClr val="E9EBEF"/>
          </a:solidFill>
          <a:ln/>
        </p:spPr>
        <p:txBody>
          <a:bodyPr/>
          <a:lstStyle/>
          <a:p>
            <a:endParaRPr lang="en-US"/>
          </a:p>
        </p:txBody>
      </p:sp>
      <p:sp>
        <p:nvSpPr>
          <p:cNvPr id="23" name="Text 21"/>
          <p:cNvSpPr txBox="1"/>
          <p:nvPr/>
        </p:nvSpPr>
        <p:spPr>
          <a:xfrm>
            <a:off x="5994441" y="939820"/>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1E3A5F"/>
                </a:solidFill>
                <a:latin typeface="Calibri" pitchFamily="34" charset="0"/>
                <a:ea typeface="Calibri" pitchFamily="34" charset="-122"/>
                <a:cs typeface="Calibri" pitchFamily="34" charset="-120"/>
              </a:rPr>
              <a:t>67%</a:t>
            </a:r>
            <a:endParaRPr lang="en-US" sz="2400" dirty="0"/>
          </a:p>
        </p:txBody>
      </p:sp>
      <p:sp>
        <p:nvSpPr>
          <p:cNvPr id="24" name="Text 22"/>
          <p:cNvSpPr txBox="1"/>
          <p:nvPr/>
        </p:nvSpPr>
        <p:spPr>
          <a:xfrm>
            <a:off x="5994441" y="1346180"/>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Awareness or Beginner (326)</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The audience champions serve. Start with the basics and one small win.</a:t>
            </a:r>
            <a:endParaRPr lang="en-US" sz="950" dirty="0"/>
          </a:p>
        </p:txBody>
      </p:sp>
      <p:sp>
        <p:nvSpPr>
          <p:cNvPr id="25" name="Shape 23"/>
          <p:cNvSpPr/>
          <p:nvPr/>
        </p:nvSpPr>
        <p:spPr>
          <a:xfrm>
            <a:off x="5842010" y="2040484"/>
            <a:ext cx="2946380" cy="1049823"/>
          </a:xfrm>
          <a:prstGeom prst="roundRect">
            <a:avLst>
              <a:gd name="adj" fmla="val 9677"/>
            </a:avLst>
          </a:prstGeom>
          <a:solidFill>
            <a:srgbClr val="EAF0ED"/>
          </a:solidFill>
          <a:ln/>
        </p:spPr>
        <p:txBody>
          <a:bodyPr/>
          <a:lstStyle/>
          <a:p>
            <a:endParaRPr lang="en-US"/>
          </a:p>
        </p:txBody>
      </p:sp>
      <p:sp>
        <p:nvSpPr>
          <p:cNvPr id="26" name="Text 24"/>
          <p:cNvSpPr txBox="1"/>
          <p:nvPr/>
        </p:nvSpPr>
        <p:spPr>
          <a:xfrm>
            <a:off x="5994441" y="2116653"/>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2D6A4F"/>
                </a:solidFill>
                <a:latin typeface="Calibri" pitchFamily="34" charset="0"/>
                <a:ea typeface="Calibri" pitchFamily="34" charset="-122"/>
                <a:cs typeface="Calibri" pitchFamily="34" charset="-120"/>
              </a:rPr>
              <a:t>33%</a:t>
            </a:r>
            <a:endParaRPr lang="en-US" sz="2400" dirty="0"/>
          </a:p>
        </p:txBody>
      </p:sp>
      <p:sp>
        <p:nvSpPr>
          <p:cNvPr id="27" name="Text 25"/>
          <p:cNvSpPr txBox="1"/>
          <p:nvPr/>
        </p:nvSpPr>
        <p:spPr>
          <a:xfrm>
            <a:off x="5994441" y="2523104"/>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Practitioner, Advanced or Leader (163)</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Peer leaders and force multipliers. Invite them to help.</a:t>
            </a:r>
            <a:endParaRPr lang="en-US" sz="950" dirty="0"/>
          </a:p>
        </p:txBody>
      </p:sp>
      <p:sp>
        <p:nvSpPr>
          <p:cNvPr id="28" name="Shape 26"/>
          <p:cNvSpPr/>
          <p:nvPr/>
        </p:nvSpPr>
        <p:spPr>
          <a:xfrm>
            <a:off x="5842010" y="3217316"/>
            <a:ext cx="2946380" cy="1049823"/>
          </a:xfrm>
          <a:prstGeom prst="roundRect">
            <a:avLst>
              <a:gd name="adj" fmla="val 9677"/>
            </a:avLst>
          </a:prstGeom>
          <a:solidFill>
            <a:srgbClr val="FDEFD8"/>
          </a:solidFill>
          <a:ln/>
        </p:spPr>
        <p:txBody>
          <a:bodyPr/>
          <a:lstStyle/>
          <a:p>
            <a:endParaRPr lang="en-US"/>
          </a:p>
        </p:txBody>
      </p:sp>
      <p:sp>
        <p:nvSpPr>
          <p:cNvPr id="29" name="Text 27"/>
          <p:cNvSpPr txBox="1"/>
          <p:nvPr/>
        </p:nvSpPr>
        <p:spPr>
          <a:xfrm>
            <a:off x="5994441" y="3293577"/>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B87A1E"/>
                </a:solidFill>
                <a:latin typeface="Calibri" pitchFamily="34" charset="0"/>
                <a:ea typeface="Calibri" pitchFamily="34" charset="-122"/>
                <a:cs typeface="Calibri" pitchFamily="34" charset="-120"/>
              </a:rPr>
              <a:t>0.86 pts</a:t>
            </a:r>
            <a:endParaRPr lang="en-US" sz="2400" dirty="0"/>
          </a:p>
        </p:txBody>
      </p:sp>
      <p:sp>
        <p:nvSpPr>
          <p:cNvPr id="30" name="Text 28"/>
          <p:cNvSpPr txBox="1"/>
          <p:nvPr/>
        </p:nvSpPr>
        <p:spPr>
          <a:xfrm>
            <a:off x="5994441" y="3699937"/>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Intent 3.24 vs. productivity 2.37</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People want to come back. Our role is to close the gap between wanting value and getting it.</a:t>
            </a:r>
            <a:endParaRPr lang="en-US" sz="950" dirty="0"/>
          </a:p>
        </p:txBody>
      </p:sp>
      <p:sp>
        <p:nvSpPr>
          <p:cNvPr id="31" name="Shape 29"/>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32" name="Text 30"/>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Most colleagues are just starting. Meet them where they are — one small win at a time.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Insights into the Top Identified Barriers</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7</a:t>
            </a:r>
            <a:endParaRPr lang="en-US" sz="750" dirty="0"/>
          </a:p>
        </p:txBody>
      </p:sp>
      <p:sp>
        <p:nvSpPr>
          <p:cNvPr id="6" name="Shape 4"/>
          <p:cNvSpPr/>
          <p:nvPr/>
        </p:nvSpPr>
        <p:spPr>
          <a:xfrm>
            <a:off x="35561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7" name="Text 5"/>
          <p:cNvSpPr txBox="1"/>
          <p:nvPr/>
        </p:nvSpPr>
        <p:spPr>
          <a:xfrm>
            <a:off x="508041"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1E3A5F"/>
                </a:solidFill>
                <a:latin typeface="Calibri" pitchFamily="34" charset="0"/>
                <a:ea typeface="Calibri" pitchFamily="34" charset="-122"/>
                <a:cs typeface="Calibri" pitchFamily="34" charset="-120"/>
              </a:rPr>
              <a:t>19</a:t>
            </a:r>
            <a:endParaRPr lang="en-US" sz="3000" dirty="0"/>
          </a:p>
        </p:txBody>
      </p:sp>
      <p:sp>
        <p:nvSpPr>
          <p:cNvPr id="8" name="Text 6"/>
          <p:cNvSpPr txBox="1"/>
          <p:nvPr/>
        </p:nvSpPr>
        <p:spPr>
          <a:xfrm>
            <a:off x="508041"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9" name="Text 7"/>
          <p:cNvSpPr txBox="1"/>
          <p:nvPr/>
        </p:nvSpPr>
        <p:spPr>
          <a:xfrm>
            <a:off x="508041"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Can I Trust It?</a:t>
            </a:r>
            <a:endParaRPr lang="en-US" sz="1300" dirty="0"/>
          </a:p>
        </p:txBody>
      </p:sp>
      <p:sp>
        <p:nvSpPr>
          <p:cNvPr id="10" name="Text 8"/>
          <p:cNvSpPr txBox="1"/>
          <p:nvPr/>
        </p:nvSpPr>
        <p:spPr>
          <a:xfrm>
            <a:off x="508041"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1E3A5F"/>
                </a:solidFill>
                <a:latin typeface="Calibri" pitchFamily="34" charset="0"/>
                <a:ea typeface="Calibri" pitchFamily="34" charset="-122"/>
                <a:cs typeface="Calibri" pitchFamily="34" charset="-120"/>
              </a:rPr>
              <a:t>244 chose “Lack of trust in accuracy”</a:t>
            </a:r>
            <a:endParaRPr lang="en-US" sz="900" dirty="0"/>
          </a:p>
        </p:txBody>
      </p:sp>
      <p:sp>
        <p:nvSpPr>
          <p:cNvPr id="11" name="Shape 9"/>
          <p:cNvSpPr/>
          <p:nvPr/>
        </p:nvSpPr>
        <p:spPr>
          <a:xfrm>
            <a:off x="508041" y="2438430"/>
            <a:ext cx="1689080" cy="0"/>
          </a:xfrm>
          <a:prstGeom prst="line">
            <a:avLst/>
          </a:prstGeom>
          <a:noFill/>
          <a:ln w="9525">
            <a:solidFill>
              <a:srgbClr val="E2E8F0"/>
            </a:solidFill>
            <a:prstDash val="solid"/>
          </a:ln>
        </p:spPr>
        <p:txBody>
          <a:bodyPr/>
          <a:lstStyle/>
          <a:p>
            <a:endParaRPr lang="en-US"/>
          </a:p>
        </p:txBody>
      </p:sp>
      <p:sp>
        <p:nvSpPr>
          <p:cNvPr id="12" name="Text 10"/>
          <p:cNvSpPr txBox="1"/>
          <p:nvPr/>
        </p:nvSpPr>
        <p:spPr>
          <a:xfrm>
            <a:off x="508041"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“Each time I use it, I find I have to double check accuracy of output.”</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1E3A5F"/>
                </a:solidFill>
                <a:latin typeface="Calibri" pitchFamily="34" charset="0"/>
                <a:ea typeface="Calibri" pitchFamily="34" charset="-122"/>
                <a:cs typeface="Calibri" pitchFamily="34" charset="-120"/>
              </a:rPr>
              <a:t>→ Share real success stories and model the habit: AI drafts, people verify.</a:t>
            </a:r>
            <a:endParaRPr lang="en-US" sz="1050" dirty="0"/>
          </a:p>
        </p:txBody>
      </p:sp>
      <p:sp>
        <p:nvSpPr>
          <p:cNvPr id="13" name="Shape 11"/>
          <p:cNvSpPr/>
          <p:nvPr/>
        </p:nvSpPr>
        <p:spPr>
          <a:xfrm>
            <a:off x="250189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14" name="Text 12"/>
          <p:cNvSpPr txBox="1"/>
          <p:nvPr/>
        </p:nvSpPr>
        <p:spPr>
          <a:xfrm>
            <a:off x="265432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2D6A4F"/>
                </a:solidFill>
                <a:latin typeface="Calibri" pitchFamily="34" charset="0"/>
                <a:ea typeface="Calibri" pitchFamily="34" charset="-122"/>
                <a:cs typeface="Calibri" pitchFamily="34" charset="-120"/>
              </a:rPr>
              <a:t>33</a:t>
            </a:r>
            <a:endParaRPr lang="en-US" sz="3000" dirty="0"/>
          </a:p>
        </p:txBody>
      </p:sp>
      <p:sp>
        <p:nvSpPr>
          <p:cNvPr id="15" name="Text 13"/>
          <p:cNvSpPr txBox="1"/>
          <p:nvPr/>
        </p:nvSpPr>
        <p:spPr>
          <a:xfrm>
            <a:off x="265432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16" name="Text 14"/>
          <p:cNvSpPr txBox="1"/>
          <p:nvPr/>
        </p:nvSpPr>
        <p:spPr>
          <a:xfrm>
            <a:off x="2654320"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Show Me on My Work</a:t>
            </a:r>
            <a:endParaRPr lang="en-US" sz="1300" dirty="0"/>
          </a:p>
        </p:txBody>
      </p:sp>
      <p:sp>
        <p:nvSpPr>
          <p:cNvPr id="17" name="Text 15"/>
          <p:cNvSpPr txBox="1"/>
          <p:nvPr/>
        </p:nvSpPr>
        <p:spPr>
          <a:xfrm>
            <a:off x="265432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2D6A4F"/>
                </a:solidFill>
                <a:latin typeface="Calibri" pitchFamily="34" charset="0"/>
                <a:ea typeface="Calibri" pitchFamily="34" charset="-122"/>
                <a:cs typeface="Calibri" pitchFamily="34" charset="-120"/>
              </a:rPr>
              <a:t>241 chose “Lack of training”</a:t>
            </a:r>
            <a:endParaRPr lang="en-US" sz="900" dirty="0"/>
          </a:p>
        </p:txBody>
      </p:sp>
      <p:sp>
        <p:nvSpPr>
          <p:cNvPr id="18" name="Shape 16"/>
          <p:cNvSpPr/>
          <p:nvPr/>
        </p:nvSpPr>
        <p:spPr>
          <a:xfrm>
            <a:off x="2654320" y="2438430"/>
            <a:ext cx="1689080" cy="0"/>
          </a:xfrm>
          <a:prstGeom prst="line">
            <a:avLst/>
          </a:prstGeom>
          <a:noFill/>
          <a:ln w="9525">
            <a:solidFill>
              <a:srgbClr val="E2E8F0"/>
            </a:solidFill>
            <a:prstDash val="solid"/>
          </a:ln>
        </p:spPr>
        <p:txBody>
          <a:bodyPr/>
          <a:lstStyle/>
          <a:p>
            <a:endParaRPr lang="en-US"/>
          </a:p>
        </p:txBody>
      </p:sp>
      <p:sp>
        <p:nvSpPr>
          <p:cNvPr id="19" name="Text 17"/>
          <p:cNvSpPr txBox="1"/>
          <p:nvPr/>
        </p:nvSpPr>
        <p:spPr>
          <a:xfrm>
            <a:off x="265432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“Any training or live examples would be helpful to know how to apply it to my job and make my job easier.”</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2D6A4F"/>
                </a:solidFill>
                <a:latin typeface="Calibri" pitchFamily="34" charset="0"/>
                <a:ea typeface="Calibri" pitchFamily="34" charset="-122"/>
                <a:cs typeface="Calibri" pitchFamily="34" charset="-120"/>
              </a:rPr>
              <a:t>→ Run hands-on, role-specific practice on a real task from the room.</a:t>
            </a:r>
            <a:endParaRPr lang="en-US" sz="1050" dirty="0"/>
          </a:p>
        </p:txBody>
      </p:sp>
      <p:sp>
        <p:nvSpPr>
          <p:cNvPr id="20" name="Shape 18"/>
          <p:cNvSpPr/>
          <p:nvPr/>
        </p:nvSpPr>
        <p:spPr>
          <a:xfrm>
            <a:off x="464817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21" name="Text 19"/>
          <p:cNvSpPr txBox="1"/>
          <p:nvPr/>
        </p:nvSpPr>
        <p:spPr>
          <a:xfrm>
            <a:off x="480060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1B5E8A"/>
                </a:solidFill>
                <a:latin typeface="Calibri" pitchFamily="34" charset="0"/>
                <a:ea typeface="Calibri" pitchFamily="34" charset="-122"/>
                <a:cs typeface="Calibri" pitchFamily="34" charset="-120"/>
              </a:rPr>
              <a:t>22</a:t>
            </a:r>
            <a:endParaRPr lang="en-US" sz="3000" dirty="0"/>
          </a:p>
        </p:txBody>
      </p:sp>
      <p:sp>
        <p:nvSpPr>
          <p:cNvPr id="22" name="Text 20"/>
          <p:cNvSpPr txBox="1"/>
          <p:nvPr/>
        </p:nvSpPr>
        <p:spPr>
          <a:xfrm>
            <a:off x="480060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23" name="Text 21"/>
          <p:cNvSpPr txBox="1"/>
          <p:nvPr/>
        </p:nvSpPr>
        <p:spPr>
          <a:xfrm>
            <a:off x="4800600" y="1651041"/>
            <a:ext cx="1689080" cy="406359"/>
          </a:xfrm>
          <a:prstGeom prst="rect">
            <a:avLst/>
          </a:prstGeom>
          <a:noFill/>
          <a:ln/>
        </p:spPr>
        <p:txBody>
          <a:bodyPr wrap="square" lIns="0" tIns="0" rIns="0" bIns="0" rtlCol="0" anchor="t"/>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What Am I Allowed to Do?</a:t>
            </a:r>
            <a:endParaRPr lang="en-US" sz="1250" dirty="0"/>
          </a:p>
        </p:txBody>
      </p:sp>
      <p:sp>
        <p:nvSpPr>
          <p:cNvPr id="24" name="Text 22"/>
          <p:cNvSpPr txBox="1"/>
          <p:nvPr/>
        </p:nvSpPr>
        <p:spPr>
          <a:xfrm>
            <a:off x="480060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1B5E8A"/>
                </a:solidFill>
                <a:latin typeface="Calibri" pitchFamily="34" charset="0"/>
                <a:ea typeface="Calibri" pitchFamily="34" charset="-122"/>
                <a:cs typeface="Calibri" pitchFamily="34" charset="-120"/>
              </a:rPr>
              <a:t>214 chose “Unclear policies/permissions”</a:t>
            </a:r>
            <a:endParaRPr lang="en-US" sz="900" dirty="0"/>
          </a:p>
        </p:txBody>
      </p:sp>
      <p:sp>
        <p:nvSpPr>
          <p:cNvPr id="25" name="Shape 23"/>
          <p:cNvSpPr/>
          <p:nvPr/>
        </p:nvSpPr>
        <p:spPr>
          <a:xfrm>
            <a:off x="4800600" y="2438430"/>
            <a:ext cx="1689080" cy="0"/>
          </a:xfrm>
          <a:prstGeom prst="line">
            <a:avLst/>
          </a:prstGeom>
          <a:noFill/>
          <a:ln w="9525">
            <a:solidFill>
              <a:srgbClr val="E2E8F0"/>
            </a:solidFill>
            <a:prstDash val="solid"/>
          </a:ln>
        </p:spPr>
        <p:txBody>
          <a:bodyPr/>
          <a:lstStyle/>
          <a:p>
            <a:endParaRPr lang="en-US"/>
          </a:p>
        </p:txBody>
      </p:sp>
      <p:sp>
        <p:nvSpPr>
          <p:cNvPr id="26" name="Text 24"/>
          <p:cNvSpPr txBox="1"/>
          <p:nvPr/>
        </p:nvSpPr>
        <p:spPr>
          <a:xfrm>
            <a:off x="480060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“What support would help most is more guidance from leadership on what is safe and allowed.”</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1B5E8A"/>
                </a:solidFill>
                <a:latin typeface="Calibri" pitchFamily="34" charset="0"/>
                <a:ea typeface="Calibri" pitchFamily="34" charset="-122"/>
                <a:cs typeface="Calibri" pitchFamily="34" charset="-120"/>
              </a:rPr>
              <a:t>→ Share the plain-language rules in every session and relay the questions you can’t answer.</a:t>
            </a:r>
            <a:endParaRPr lang="en-US" sz="1050" dirty="0"/>
          </a:p>
        </p:txBody>
      </p:sp>
      <p:sp>
        <p:nvSpPr>
          <p:cNvPr id="27" name="Shape 25"/>
          <p:cNvSpPr/>
          <p:nvPr/>
        </p:nvSpPr>
        <p:spPr>
          <a:xfrm>
            <a:off x="6794541"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28" name="Text 26"/>
          <p:cNvSpPr txBox="1"/>
          <p:nvPr/>
        </p:nvSpPr>
        <p:spPr>
          <a:xfrm>
            <a:off x="694688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B87A1E"/>
                </a:solidFill>
                <a:latin typeface="Calibri" pitchFamily="34" charset="0"/>
                <a:ea typeface="Calibri" pitchFamily="34" charset="-122"/>
                <a:cs typeface="Calibri" pitchFamily="34" charset="-120"/>
              </a:rPr>
              <a:t>16</a:t>
            </a:r>
            <a:endParaRPr lang="en-US" sz="3000" dirty="0"/>
          </a:p>
        </p:txBody>
      </p:sp>
      <p:sp>
        <p:nvSpPr>
          <p:cNvPr id="29" name="Text 27"/>
          <p:cNvSpPr txBox="1"/>
          <p:nvPr/>
        </p:nvSpPr>
        <p:spPr>
          <a:xfrm>
            <a:off x="694688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30" name="Text 28"/>
          <p:cNvSpPr txBox="1"/>
          <p:nvPr/>
        </p:nvSpPr>
        <p:spPr>
          <a:xfrm>
            <a:off x="6946880"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It’s Already Saving Time</a:t>
            </a:r>
            <a:endParaRPr lang="en-US" sz="1300" dirty="0"/>
          </a:p>
        </p:txBody>
      </p:sp>
      <p:sp>
        <p:nvSpPr>
          <p:cNvPr id="31" name="Text 29"/>
          <p:cNvSpPr txBox="1"/>
          <p:nvPr/>
        </p:nvSpPr>
        <p:spPr>
          <a:xfrm>
            <a:off x="694688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B87A1E"/>
                </a:solidFill>
                <a:latin typeface="Calibri" pitchFamily="34" charset="0"/>
                <a:ea typeface="Calibri" pitchFamily="34" charset="-122"/>
                <a:cs typeface="Calibri" pitchFamily="34" charset="-120"/>
              </a:rPr>
              <a:t>163 rate themselves Practitioner or above</a:t>
            </a:r>
            <a:endParaRPr lang="en-US" sz="900" dirty="0"/>
          </a:p>
        </p:txBody>
      </p:sp>
      <p:sp>
        <p:nvSpPr>
          <p:cNvPr id="32" name="Shape 30"/>
          <p:cNvSpPr/>
          <p:nvPr/>
        </p:nvSpPr>
        <p:spPr>
          <a:xfrm>
            <a:off x="6946880" y="2438430"/>
            <a:ext cx="1689080" cy="0"/>
          </a:xfrm>
          <a:prstGeom prst="line">
            <a:avLst/>
          </a:prstGeom>
          <a:noFill/>
          <a:ln w="9525">
            <a:solidFill>
              <a:srgbClr val="E2E8F0"/>
            </a:solidFill>
            <a:prstDash val="solid"/>
          </a:ln>
        </p:spPr>
        <p:txBody>
          <a:bodyPr/>
          <a:lstStyle/>
          <a:p>
            <a:endParaRPr lang="en-US"/>
          </a:p>
        </p:txBody>
      </p:sp>
      <p:sp>
        <p:nvSpPr>
          <p:cNvPr id="33" name="Text 31"/>
          <p:cNvSpPr txBox="1"/>
          <p:nvPr/>
        </p:nvSpPr>
        <p:spPr>
          <a:xfrm>
            <a:off x="694688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“What used to take hours to reconfigure, now takes less than a minute.”</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B87A1E"/>
                </a:solidFill>
                <a:latin typeface="Calibri" pitchFamily="34" charset="0"/>
                <a:ea typeface="Calibri" pitchFamily="34" charset="-122"/>
                <a:cs typeface="Calibri" pitchFamily="34" charset="-120"/>
              </a:rPr>
              <a:t>→ Invite power users to the AI Builders group and ask each for one story to share.</a:t>
            </a:r>
            <a:endParaRPr lang="en-US" sz="1050" dirty="0"/>
          </a:p>
        </p:txBody>
      </p:sp>
      <p:sp>
        <p:nvSpPr>
          <p:cNvPr id="34" name="Shape 32"/>
          <p:cNvSpPr/>
          <p:nvPr/>
        </p:nvSpPr>
        <p:spPr>
          <a:xfrm>
            <a:off x="355610" y="4444990"/>
            <a:ext cx="8432780" cy="381030"/>
          </a:xfrm>
          <a:prstGeom prst="roundRect">
            <a:avLst>
              <a:gd name="adj" fmla="val 26662"/>
            </a:avLst>
          </a:prstGeom>
          <a:solidFill>
            <a:srgbClr val="E9EBEF"/>
          </a:solidFill>
          <a:ln/>
        </p:spPr>
        <p:txBody>
          <a:bodyPr/>
          <a:lstStyle/>
          <a:p>
            <a:endParaRPr lang="en-US"/>
          </a:p>
        </p:txBody>
      </p:sp>
      <p:sp>
        <p:nvSpPr>
          <p:cNvPr id="35" name="Text 33"/>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Every barrier has an action we can take this month.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How Employees Use AI Today + What They Asked For</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8</a:t>
            </a:r>
            <a:endParaRPr lang="en-US" sz="750" dirty="0"/>
          </a:p>
        </p:txBody>
      </p:sp>
      <p:sp>
        <p:nvSpPr>
          <p:cNvPr id="6" name="Text 4"/>
          <p:cNvSpPr txBox="1"/>
          <p:nvPr/>
        </p:nvSpPr>
        <p:spPr>
          <a:xfrm>
            <a:off x="355610" y="838230"/>
            <a:ext cx="482602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Tasks people used AI for in the last 60 days (of 489)</a:t>
            </a:r>
            <a:endParaRPr lang="en-US" sz="1100" dirty="0"/>
          </a:p>
        </p:txBody>
      </p:sp>
      <p:graphicFrame>
        <p:nvGraphicFramePr>
          <p:cNvPr id="7" name="Chart 0"/>
          <p:cNvGraphicFramePr/>
          <p:nvPr/>
        </p:nvGraphicFramePr>
        <p:xfrm>
          <a:off x="355610" y="1092159"/>
          <a:ext cx="4826020" cy="2997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55610" y="4114800"/>
            <a:ext cx="4826020" cy="177759"/>
          </a:xfrm>
          <a:prstGeom prst="rect">
            <a:avLst/>
          </a:prstGeom>
          <a:noFill/>
          <a:ln/>
        </p:spPr>
        <p:txBody>
          <a:bodyPr wrap="square" lIns="0" tIns="0" rIns="0" bIns="0" rtlCol="0" anchor="t"/>
          <a:lstStyle/>
          <a:p>
            <a:pPr marL="0" indent="0" algn="l">
              <a:lnSpc>
                <a:spcPct val="100000"/>
              </a:lnSpc>
              <a:buNone/>
            </a:pPr>
            <a:r>
              <a:rPr lang="en-US" sz="900" i="1" dirty="0">
                <a:solidFill>
                  <a:srgbClr val="64748B"/>
                </a:solidFill>
                <a:latin typeface="Calibri" pitchFamily="34" charset="0"/>
                <a:ea typeface="Calibri" pitchFamily="34" charset="-122"/>
                <a:cs typeface="Calibri" pitchFamily="34" charset="-120"/>
              </a:rPr>
              <a:t>136 people (28%) said they don’t use AI for any task yet.</a:t>
            </a:r>
            <a:endParaRPr lang="en-US" sz="900" dirty="0"/>
          </a:p>
        </p:txBody>
      </p:sp>
      <p:sp>
        <p:nvSpPr>
          <p:cNvPr id="9" name="Text 6"/>
          <p:cNvSpPr txBox="1"/>
          <p:nvPr/>
        </p:nvSpPr>
        <p:spPr>
          <a:xfrm>
            <a:off x="5486400" y="838230"/>
            <a:ext cx="330199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What they asked for</a:t>
            </a:r>
            <a:endParaRPr lang="en-US" sz="1100" dirty="0"/>
          </a:p>
        </p:txBody>
      </p:sp>
      <p:sp>
        <p:nvSpPr>
          <p:cNvPr id="10" name="Shape 7"/>
          <p:cNvSpPr/>
          <p:nvPr/>
        </p:nvSpPr>
        <p:spPr>
          <a:xfrm>
            <a:off x="5486400" y="1143000"/>
            <a:ext cx="355610" cy="355610"/>
          </a:xfrm>
          <a:prstGeom prst="ellipse">
            <a:avLst/>
          </a:prstGeom>
          <a:solidFill>
            <a:srgbClr val="1E3A5F"/>
          </a:solidFill>
          <a:ln/>
        </p:spPr>
        <p:txBody>
          <a:bodyPr/>
          <a:lstStyle/>
          <a:p>
            <a:endParaRPr lang="en-US"/>
          </a:p>
        </p:txBody>
      </p:sp>
      <p:sp>
        <p:nvSpPr>
          <p:cNvPr id="11" name="Text 8"/>
          <p:cNvSpPr txBox="1"/>
          <p:nvPr/>
        </p:nvSpPr>
        <p:spPr>
          <a:xfrm>
            <a:off x="5486400" y="1143000"/>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5994441" y="1117580"/>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Hands-On Training</a:t>
            </a:r>
            <a:endParaRPr lang="en-US" sz="1250" dirty="0"/>
          </a:p>
        </p:txBody>
      </p:sp>
      <p:sp>
        <p:nvSpPr>
          <p:cNvPr id="13" name="Text 10"/>
          <p:cNvSpPr txBox="1"/>
          <p:nvPr/>
        </p:nvSpPr>
        <p:spPr>
          <a:xfrm>
            <a:off x="5994441" y="1524030"/>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271 people (55%) asked for it — the top request. Practice on real tasks beats slides.</a:t>
            </a:r>
            <a:endParaRPr lang="en-US" sz="1050" dirty="0"/>
          </a:p>
        </p:txBody>
      </p:sp>
      <p:sp>
        <p:nvSpPr>
          <p:cNvPr id="14" name="Shape 11"/>
          <p:cNvSpPr/>
          <p:nvPr/>
        </p:nvSpPr>
        <p:spPr>
          <a:xfrm>
            <a:off x="5486400" y="2243663"/>
            <a:ext cx="355610" cy="355610"/>
          </a:xfrm>
          <a:prstGeom prst="ellipse">
            <a:avLst/>
          </a:prstGeom>
          <a:solidFill>
            <a:srgbClr val="2D6A4F"/>
          </a:solidFill>
          <a:ln/>
        </p:spPr>
        <p:txBody>
          <a:bodyPr/>
          <a:lstStyle/>
          <a:p>
            <a:endParaRPr lang="en-US"/>
          </a:p>
        </p:txBody>
      </p:sp>
      <p:sp>
        <p:nvSpPr>
          <p:cNvPr id="15" name="Text 12"/>
          <p:cNvSpPr txBox="1"/>
          <p:nvPr/>
        </p:nvSpPr>
        <p:spPr>
          <a:xfrm>
            <a:off x="5486400" y="2243663"/>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994441" y="2218243"/>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Guides &amp; Use Cases</a:t>
            </a:r>
            <a:endParaRPr lang="en-US" sz="1250" dirty="0"/>
          </a:p>
        </p:txBody>
      </p:sp>
      <p:sp>
        <p:nvSpPr>
          <p:cNvPr id="17" name="Text 14"/>
          <p:cNvSpPr txBox="1"/>
          <p:nvPr/>
        </p:nvSpPr>
        <p:spPr>
          <a:xfrm>
            <a:off x="5994441" y="2624694"/>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247 want how-to guides and 233 want use-case examples. Short, role-specific, and easy to find.</a:t>
            </a:r>
            <a:endParaRPr lang="en-US" sz="1050" dirty="0"/>
          </a:p>
        </p:txBody>
      </p:sp>
      <p:sp>
        <p:nvSpPr>
          <p:cNvPr id="18" name="Shape 15"/>
          <p:cNvSpPr/>
          <p:nvPr/>
        </p:nvSpPr>
        <p:spPr>
          <a:xfrm>
            <a:off x="5486400" y="3344327"/>
            <a:ext cx="355610" cy="355610"/>
          </a:xfrm>
          <a:prstGeom prst="ellipse">
            <a:avLst/>
          </a:prstGeom>
          <a:solidFill>
            <a:srgbClr val="1B5E8A"/>
          </a:solidFill>
          <a:ln/>
        </p:spPr>
        <p:txBody>
          <a:bodyPr/>
          <a:lstStyle/>
          <a:p>
            <a:endParaRPr lang="en-US"/>
          </a:p>
        </p:txBody>
      </p:sp>
      <p:sp>
        <p:nvSpPr>
          <p:cNvPr id="19" name="Text 16"/>
          <p:cNvSpPr txBox="1"/>
          <p:nvPr/>
        </p:nvSpPr>
        <p:spPr>
          <a:xfrm>
            <a:off x="5486400" y="3344327"/>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5994441" y="3318906"/>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Demonstrate AI as an Everyday Assistant</a:t>
            </a:r>
            <a:endParaRPr lang="en-US" sz="1250" dirty="0"/>
          </a:p>
        </p:txBody>
      </p:sp>
      <p:sp>
        <p:nvSpPr>
          <p:cNvPr id="21" name="Text 18"/>
          <p:cNvSpPr txBox="1"/>
          <p:nvPr/>
        </p:nvSpPr>
        <p:spPr>
          <a:xfrm>
            <a:off x="5994441" y="3725357"/>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Repetitive, time-intensive tasks like drafting text and summarizing show real everyday value.</a:t>
            </a:r>
            <a:endParaRPr lang="en-US" sz="1050" dirty="0"/>
          </a:p>
        </p:txBody>
      </p:sp>
      <p:sp>
        <p:nvSpPr>
          <p:cNvPr id="22" name="Shape 19"/>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23" name="Text 20"/>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Start with the tasks people already do every day.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In Their Own Words: What the Comments Say</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9</a:t>
            </a:r>
            <a:endParaRPr lang="en-US" sz="750" dirty="0"/>
          </a:p>
        </p:txBody>
      </p:sp>
      <p:sp>
        <p:nvSpPr>
          <p:cNvPr id="6" name="Text 4"/>
          <p:cNvSpPr txBox="1"/>
          <p:nvPr/>
        </p:nvSpPr>
        <p:spPr>
          <a:xfrm>
            <a:off x="355610" y="838230"/>
            <a:ext cx="482602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Comments raising each theme (of 141 substantive comments)</a:t>
            </a:r>
            <a:endParaRPr lang="en-US" sz="1100" dirty="0"/>
          </a:p>
        </p:txBody>
      </p:sp>
      <p:graphicFrame>
        <p:nvGraphicFramePr>
          <p:cNvPr id="7" name="Chart 0"/>
          <p:cNvGraphicFramePr/>
          <p:nvPr/>
        </p:nvGraphicFramePr>
        <p:xfrm>
          <a:off x="355610" y="1092159"/>
          <a:ext cx="4826020" cy="355601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435559" y="863559"/>
            <a:ext cx="3352830" cy="3962370"/>
          </a:xfrm>
          <a:prstGeom prst="roundRect">
            <a:avLst>
              <a:gd name="adj" fmla="val 3030"/>
            </a:avLst>
          </a:prstGeom>
          <a:solidFill>
            <a:srgbClr val="F8FAFC"/>
          </a:solidFill>
          <a:ln w="9525">
            <a:solidFill>
              <a:srgbClr val="E2E8F0"/>
            </a:solidFill>
            <a:prstDash val="solid"/>
          </a:ln>
        </p:spPr>
        <p:txBody>
          <a:bodyPr/>
          <a:lstStyle/>
          <a:p>
            <a:endParaRPr lang="en-US"/>
          </a:p>
        </p:txBody>
      </p:sp>
      <p:sp>
        <p:nvSpPr>
          <p:cNvPr id="9" name="Text 6"/>
          <p:cNvSpPr txBox="1"/>
          <p:nvPr/>
        </p:nvSpPr>
        <p:spPr>
          <a:xfrm>
            <a:off x="5638830" y="1015990"/>
            <a:ext cx="2946380" cy="177759"/>
          </a:xfrm>
          <a:prstGeom prst="rect">
            <a:avLst/>
          </a:prstGeom>
          <a:noFill/>
          <a:ln/>
        </p:spPr>
        <p:txBody>
          <a:bodyPr wrap="square" lIns="0" tIns="0" rIns="0" bIns="0" rtlCol="0" anchor="t"/>
          <a:lstStyle/>
          <a:p>
            <a:pPr marL="0" indent="0" algn="l">
              <a:lnSpc>
                <a:spcPct val="100000"/>
              </a:lnSpc>
              <a:buNone/>
            </a:pPr>
            <a:r>
              <a:rPr lang="en-US" sz="850" b="1" kern="0" spc="80" dirty="0">
                <a:solidFill>
                  <a:srgbClr val="64748B"/>
                </a:solidFill>
                <a:latin typeface="Calibri" pitchFamily="34" charset="0"/>
                <a:ea typeface="Calibri" pitchFamily="34" charset="-122"/>
                <a:cs typeface="Calibri" pitchFamily="34" charset="-120"/>
              </a:rPr>
              <a:t>FEATURED THEME</a:t>
            </a:r>
            <a:endParaRPr lang="en-US" sz="850" dirty="0"/>
          </a:p>
        </p:txBody>
      </p:sp>
      <p:sp>
        <p:nvSpPr>
          <p:cNvPr id="10" name="Text 7"/>
          <p:cNvSpPr txBox="1"/>
          <p:nvPr/>
        </p:nvSpPr>
        <p:spPr>
          <a:xfrm>
            <a:off x="5638830" y="1219170"/>
            <a:ext cx="2946380" cy="279441"/>
          </a:xfrm>
          <a:prstGeom prst="rect">
            <a:avLst/>
          </a:prstGeom>
          <a:noFill/>
          <a:ln/>
        </p:spPr>
        <p:txBody>
          <a:bodyPr wrap="square" lIns="0" tIns="0" rIns="0" bIns="0" rtlCol="0" anchor="t"/>
          <a:lstStyle/>
          <a:p>
            <a:pPr marL="0" indent="0" algn="l">
              <a:lnSpc>
                <a:spcPct val="100000"/>
              </a:lnSpc>
              <a:buNone/>
            </a:pPr>
            <a:r>
              <a:rPr lang="en-US" sz="1600" b="1" dirty="0">
                <a:solidFill>
                  <a:srgbClr val="2D6A4F"/>
                </a:solidFill>
                <a:latin typeface="Calibri" pitchFamily="34" charset="0"/>
                <a:ea typeface="Calibri" pitchFamily="34" charset="-122"/>
                <a:cs typeface="Calibri" pitchFamily="34" charset="-120"/>
              </a:rPr>
              <a:t>Show Me on My Work</a:t>
            </a:r>
            <a:endParaRPr lang="en-US" sz="1600" dirty="0"/>
          </a:p>
        </p:txBody>
      </p:sp>
      <p:sp>
        <p:nvSpPr>
          <p:cNvPr id="11" name="Text 8"/>
          <p:cNvSpPr txBox="1"/>
          <p:nvPr/>
        </p:nvSpPr>
        <p:spPr>
          <a:xfrm>
            <a:off x="5638830" y="1524030"/>
            <a:ext cx="2946380" cy="177759"/>
          </a:xfrm>
          <a:prstGeom prst="rect">
            <a:avLst/>
          </a:prstGeom>
          <a:noFill/>
          <a:ln/>
        </p:spPr>
        <p:txBody>
          <a:bodyPr wrap="square" lIns="0" tIns="0" rIns="0" bIns="0" rtlCol="0" anchor="t"/>
          <a:lstStyle/>
          <a:p>
            <a:pPr marL="0" indent="0" algn="l">
              <a:lnSpc>
                <a:spcPct val="100000"/>
              </a:lnSpc>
              <a:buNone/>
            </a:pPr>
            <a:r>
              <a:rPr lang="en-US" sz="950" b="1" dirty="0">
                <a:solidFill>
                  <a:srgbClr val="475569"/>
                </a:solidFill>
                <a:latin typeface="Calibri" pitchFamily="34" charset="0"/>
                <a:ea typeface="Calibri" pitchFamily="34" charset="-122"/>
                <a:cs typeface="Calibri" pitchFamily="34" charset="-120"/>
              </a:rPr>
              <a:t>Training gaps · 33 comments</a:t>
            </a:r>
            <a:endParaRPr lang="en-US" sz="950" dirty="0"/>
          </a:p>
        </p:txBody>
      </p:sp>
      <p:sp>
        <p:nvSpPr>
          <p:cNvPr id="12" name="Text 9"/>
          <p:cNvSpPr txBox="1"/>
          <p:nvPr/>
        </p:nvSpPr>
        <p:spPr>
          <a:xfrm>
            <a:off x="5638830" y="1828800"/>
            <a:ext cx="2946380" cy="2336841"/>
          </a:xfrm>
          <a:prstGeom prst="rect">
            <a:avLst/>
          </a:prstGeom>
          <a:noFill/>
          <a:ln/>
        </p:spPr>
        <p:txBody>
          <a:bodyPr wrap="square" lIns="0" tIns="0" rIns="0" bIns="0" rtlCol="0" anchor="t"/>
          <a:lstStyle/>
          <a:p>
            <a:pPr marL="0" indent="0" algn="l">
              <a:lnSpc>
                <a:spcPct val="100000"/>
              </a:lnSpc>
              <a:buNone/>
            </a:pPr>
            <a:r>
              <a:rPr lang="en-US" sz="1050" b="1" dirty="0">
                <a:solidFill>
                  <a:srgbClr val="1A2433"/>
                </a:solidFill>
                <a:latin typeface="Calibri" pitchFamily="34" charset="0"/>
                <a:ea typeface="Calibri" pitchFamily="34" charset="-122"/>
                <a:cs typeface="Calibri" pitchFamily="34" charset="-120"/>
              </a:rPr>
              <a:t>People want training tied to their role and program — not just introductions.</a:t>
            </a:r>
            <a:endParaRPr lang="en-US" sz="1050" dirty="0"/>
          </a:p>
          <a:p>
            <a:pPr marL="0" indent="0" algn="l">
              <a:lnSpc>
                <a:spcPct val="100000"/>
              </a:lnSpc>
              <a:buNone/>
            </a:pPr>
            <a:r>
              <a:rPr lang="en-US" sz="6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“Any training or live examples would be helpful to know how to apply it to my job and make my job easier.”</a:t>
            </a:r>
            <a:endParaRPr lang="en-US" sz="1050" dirty="0"/>
          </a:p>
          <a:p>
            <a:pPr marL="0" indent="0" algn="l">
              <a:lnSpc>
                <a:spcPct val="100000"/>
              </a:lnSpc>
              <a:buNone/>
            </a:pPr>
            <a:r>
              <a:rPr lang="en-US" sz="6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2D6A4F"/>
                </a:solidFill>
                <a:latin typeface="Calibri" pitchFamily="34" charset="0"/>
                <a:ea typeface="Calibri" pitchFamily="34" charset="-122"/>
                <a:cs typeface="Calibri" pitchFamily="34" charset="-120"/>
              </a:rPr>
              <a:t>→ Run hands-on, role-specific practice on a real task from the room.</a:t>
            </a:r>
            <a:endParaRPr lang="en-US" sz="1050" dirty="0"/>
          </a:p>
        </p:txBody>
      </p:sp>
      <p:sp>
        <p:nvSpPr>
          <p:cNvPr id="13" name="Shape 10"/>
          <p:cNvSpPr/>
          <p:nvPr/>
        </p:nvSpPr>
        <p:spPr>
          <a:xfrm>
            <a:off x="5638830" y="4267230"/>
            <a:ext cx="2946380" cy="0"/>
          </a:xfrm>
          <a:prstGeom prst="line">
            <a:avLst/>
          </a:prstGeom>
          <a:noFill/>
          <a:ln w="9525">
            <a:solidFill>
              <a:srgbClr val="E2E8F0"/>
            </a:solidFill>
            <a:prstDash val="solid"/>
          </a:ln>
        </p:spPr>
        <p:txBody>
          <a:bodyPr/>
          <a:lstStyle/>
          <a:p>
            <a:endParaRPr lang="en-US"/>
          </a:p>
        </p:txBody>
      </p:sp>
      <p:sp>
        <p:nvSpPr>
          <p:cNvPr id="14" name="Text 11"/>
          <p:cNvSpPr txBox="1"/>
          <p:nvPr/>
        </p:nvSpPr>
        <p:spPr>
          <a:xfrm>
            <a:off x="5638830" y="4343400"/>
            <a:ext cx="2946380" cy="406359"/>
          </a:xfrm>
          <a:prstGeom prst="rect">
            <a:avLst/>
          </a:prstGeom>
          <a:noFill/>
          <a:ln/>
        </p:spPr>
        <p:txBody>
          <a:bodyPr wrap="square" lIns="0" tIns="0" rIns="0" bIns="0" rtlCol="0" anchor="t"/>
          <a:lstStyle/>
          <a:p>
            <a:pPr marL="0" indent="0" algn="l">
              <a:lnSpc>
                <a:spcPct val="100000"/>
              </a:lnSpc>
              <a:buNone/>
            </a:pPr>
            <a:r>
              <a:rPr lang="en-US" sz="850" i="1" dirty="0">
                <a:solidFill>
                  <a:srgbClr val="64748B"/>
                </a:solidFill>
                <a:latin typeface="Calibri" pitchFamily="34" charset="0"/>
                <a:ea typeface="Calibri" pitchFamily="34" charset="-122"/>
                <a:cs typeface="Calibri" pitchFamily="34" charset="-120"/>
              </a:rPr>
              <a:t>A comment can raise several themes. Use Spotlight to feature a different theme.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Your Next Steps as a Champion</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CNAIT  </a:t>
            </a:r>
            <a:r>
              <a:rPr lang="en-US" sz="750" dirty="0">
                <a:solidFill>
                  <a:srgbClr val="64748B"/>
                </a:solidFill>
                <a:latin typeface="Calibri" pitchFamily="34" charset="0"/>
                <a:ea typeface="Calibri" pitchFamily="34" charset="-122"/>
                <a:cs typeface="Calibri" pitchFamily="34" charset="-120"/>
              </a:rPr>
              <a:t>·  AI Awareness Survey — Survey : All Data  ·  May 14 - July 29, 2026</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dirty="0">
                <a:solidFill>
                  <a:srgbClr val="B87A1E"/>
                </a:solidFill>
                <a:latin typeface="Calibri" pitchFamily="34" charset="0"/>
                <a:ea typeface="Calibri" pitchFamily="34" charset="-122"/>
                <a:cs typeface="Calibri" pitchFamily="34" charset="-120"/>
              </a:rPr>
              <a:t>DRAFT — FOR REVIEW</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10</a:t>
            </a:r>
            <a:endParaRPr lang="en-US" sz="750" dirty="0"/>
          </a:p>
        </p:txBody>
      </p:sp>
      <p:sp>
        <p:nvSpPr>
          <p:cNvPr id="6" name="Shape 4"/>
          <p:cNvSpPr/>
          <p:nvPr/>
        </p:nvSpPr>
        <p:spPr>
          <a:xfrm>
            <a:off x="35561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533370" y="1143000"/>
            <a:ext cx="431780" cy="431780"/>
          </a:xfrm>
          <a:prstGeom prst="ellipse">
            <a:avLst/>
          </a:prstGeom>
          <a:solidFill>
            <a:srgbClr val="1E3A5F"/>
          </a:solidFill>
          <a:ln/>
        </p:spPr>
        <p:txBody>
          <a:bodyPr/>
          <a:lstStyle/>
          <a:p>
            <a:endParaRPr lang="en-US"/>
          </a:p>
        </p:txBody>
      </p:sp>
      <p:sp>
        <p:nvSpPr>
          <p:cNvPr id="8" name="Text 6"/>
          <p:cNvSpPr txBox="1"/>
          <p:nvPr/>
        </p:nvSpPr>
        <p:spPr>
          <a:xfrm>
            <a:off x="533370"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Text 7"/>
          <p:cNvSpPr txBox="1"/>
          <p:nvPr/>
        </p:nvSpPr>
        <p:spPr>
          <a:xfrm>
            <a:off x="533370"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Run one ‘Try It’ demo</a:t>
            </a:r>
            <a:endParaRPr lang="en-US" sz="1300" dirty="0"/>
          </a:p>
        </p:txBody>
      </p:sp>
      <p:sp>
        <p:nvSpPr>
          <p:cNvPr id="10" name="Text 8"/>
          <p:cNvSpPr txBox="1"/>
          <p:nvPr/>
        </p:nvSpPr>
        <p:spPr>
          <a:xfrm>
            <a:off x="533370"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 15-minute live demo on drafting text or summarizing — the tasks people already use AI for most.</a:t>
            </a:r>
            <a:endParaRPr lang="en-US" sz="1050" dirty="0"/>
          </a:p>
        </p:txBody>
      </p:sp>
      <p:sp>
        <p:nvSpPr>
          <p:cNvPr id="11" name="Shape 9"/>
          <p:cNvSpPr/>
          <p:nvPr/>
        </p:nvSpPr>
        <p:spPr>
          <a:xfrm>
            <a:off x="251460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12" name="Shape 10"/>
          <p:cNvSpPr/>
          <p:nvPr/>
        </p:nvSpPr>
        <p:spPr>
          <a:xfrm>
            <a:off x="2692359" y="1143000"/>
            <a:ext cx="431780" cy="431780"/>
          </a:xfrm>
          <a:prstGeom prst="ellipse">
            <a:avLst/>
          </a:prstGeom>
          <a:solidFill>
            <a:srgbClr val="2D6A4F"/>
          </a:solidFill>
          <a:ln/>
        </p:spPr>
        <p:txBody>
          <a:bodyPr/>
          <a:lstStyle/>
          <a:p>
            <a:endParaRPr lang="en-US"/>
          </a:p>
        </p:txBody>
      </p:sp>
      <p:sp>
        <p:nvSpPr>
          <p:cNvPr id="13" name="Text 11"/>
          <p:cNvSpPr txBox="1"/>
          <p:nvPr/>
        </p:nvSpPr>
        <p:spPr>
          <a:xfrm>
            <a:off x="2692359"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txBox="1"/>
          <p:nvPr/>
        </p:nvSpPr>
        <p:spPr>
          <a:xfrm>
            <a:off x="2692359"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Collect one success story</a:t>
            </a:r>
            <a:endParaRPr lang="en-US" sz="1300" dirty="0"/>
          </a:p>
        </p:txBody>
      </p:sp>
      <p:sp>
        <p:nvSpPr>
          <p:cNvPr id="15" name="Text 13"/>
          <p:cNvSpPr txBox="1"/>
          <p:nvPr/>
        </p:nvSpPr>
        <p:spPr>
          <a:xfrm>
            <a:off x="2692359"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Ask one colleague what AI saved them this month and add it to the CNAIT Success Library.</a:t>
            </a:r>
            <a:endParaRPr lang="en-US" sz="1050" dirty="0"/>
          </a:p>
        </p:txBody>
      </p:sp>
      <p:sp>
        <p:nvSpPr>
          <p:cNvPr id="16" name="Shape 14"/>
          <p:cNvSpPr/>
          <p:nvPr/>
        </p:nvSpPr>
        <p:spPr>
          <a:xfrm>
            <a:off x="467359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17" name="Shape 15"/>
          <p:cNvSpPr/>
          <p:nvPr/>
        </p:nvSpPr>
        <p:spPr>
          <a:xfrm>
            <a:off x="4851441" y="1143000"/>
            <a:ext cx="431780" cy="431780"/>
          </a:xfrm>
          <a:prstGeom prst="ellipse">
            <a:avLst/>
          </a:prstGeom>
          <a:solidFill>
            <a:srgbClr val="1E3A5F"/>
          </a:solidFill>
          <a:ln/>
        </p:spPr>
        <p:txBody>
          <a:bodyPr/>
          <a:lstStyle/>
          <a:p>
            <a:endParaRPr lang="en-US"/>
          </a:p>
        </p:txBody>
      </p:sp>
      <p:sp>
        <p:nvSpPr>
          <p:cNvPr id="18" name="Text 16"/>
          <p:cNvSpPr txBox="1"/>
          <p:nvPr/>
        </p:nvSpPr>
        <p:spPr>
          <a:xfrm>
            <a:off x="4851441"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txBox="1"/>
          <p:nvPr/>
        </p:nvSpPr>
        <p:spPr>
          <a:xfrm>
            <a:off x="4851441"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Be the go-to resource</a:t>
            </a:r>
            <a:endParaRPr lang="en-US" sz="1300" dirty="0"/>
          </a:p>
        </p:txBody>
      </p:sp>
      <p:sp>
        <p:nvSpPr>
          <p:cNvPr id="20" name="Text 18"/>
          <p:cNvSpPr txBox="1"/>
          <p:nvPr/>
        </p:nvSpPr>
        <p:spPr>
          <a:xfrm>
            <a:off x="4851441"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Answer what you can. Relay policy, access, and job questions to the CNAIT council.</a:t>
            </a:r>
            <a:endParaRPr lang="en-US" sz="1050" dirty="0"/>
          </a:p>
        </p:txBody>
      </p:sp>
      <p:sp>
        <p:nvSpPr>
          <p:cNvPr id="21" name="Shape 19"/>
          <p:cNvSpPr/>
          <p:nvPr/>
        </p:nvSpPr>
        <p:spPr>
          <a:xfrm>
            <a:off x="683258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22" name="Shape 20"/>
          <p:cNvSpPr/>
          <p:nvPr/>
        </p:nvSpPr>
        <p:spPr>
          <a:xfrm>
            <a:off x="7010430" y="1143000"/>
            <a:ext cx="431780" cy="431780"/>
          </a:xfrm>
          <a:prstGeom prst="ellipse">
            <a:avLst/>
          </a:prstGeom>
          <a:solidFill>
            <a:srgbClr val="2D6A4F"/>
          </a:solidFill>
          <a:ln/>
        </p:spPr>
        <p:txBody>
          <a:bodyPr/>
          <a:lstStyle/>
          <a:p>
            <a:endParaRPr lang="en-US"/>
          </a:p>
        </p:txBody>
      </p:sp>
      <p:sp>
        <p:nvSpPr>
          <p:cNvPr id="23" name="Text 21"/>
          <p:cNvSpPr txBox="1"/>
          <p:nvPr/>
        </p:nvSpPr>
        <p:spPr>
          <a:xfrm>
            <a:off x="7010430"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4" name="Text 22"/>
          <p:cNvSpPr txBox="1"/>
          <p:nvPr/>
        </p:nvSpPr>
        <p:spPr>
          <a:xfrm>
            <a:off x="7010430"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Feed back what you hear</a:t>
            </a:r>
            <a:endParaRPr lang="en-US" sz="1300" dirty="0"/>
          </a:p>
        </p:txBody>
      </p:sp>
      <p:sp>
        <p:nvSpPr>
          <p:cNvPr id="25" name="Text 23"/>
          <p:cNvSpPr txBox="1"/>
          <p:nvPr/>
        </p:nvSpPr>
        <p:spPr>
          <a:xfrm>
            <a:off x="7010430"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Track the questions and concerns in your sessions and share them — it shapes the next survey round.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867430" y="-1219170"/>
            <a:ext cx="4826020" cy="4826020"/>
          </a:xfrm>
          <a:prstGeom prst="ellipse">
            <a:avLst/>
          </a:prstGeom>
          <a:solidFill>
            <a:srgbClr val="EDEFF2"/>
          </a:solidFill>
          <a:ln/>
        </p:spPr>
        <p:txBody>
          <a:bodyPr/>
          <a:lstStyle/>
          <a:p>
            <a:endParaRPr lang="en-US"/>
          </a:p>
        </p:txBody>
      </p:sp>
      <p:sp>
        <p:nvSpPr>
          <p:cNvPr id="3" name="Shape 1"/>
          <p:cNvSpPr/>
          <p:nvPr/>
        </p:nvSpPr>
        <p:spPr>
          <a:xfrm>
            <a:off x="7188190" y="2717780"/>
            <a:ext cx="3301990" cy="3301990"/>
          </a:xfrm>
          <a:prstGeom prst="ellipse">
            <a:avLst/>
          </a:prstGeom>
          <a:solidFill>
            <a:srgbClr val="EAF0ED"/>
          </a:solidFill>
          <a:ln/>
        </p:spPr>
        <p:txBody>
          <a:bodyPr/>
          <a:lstStyle/>
          <a:p>
            <a:endParaRPr lang="en-US"/>
          </a:p>
        </p:txBody>
      </p:sp>
      <p:sp>
        <p:nvSpPr>
          <p:cNvPr id="4" name="Shape 2"/>
          <p:cNvSpPr/>
          <p:nvPr/>
        </p:nvSpPr>
        <p:spPr>
          <a:xfrm>
            <a:off x="-1015990" y="4038630"/>
            <a:ext cx="2413010" cy="2413010"/>
          </a:xfrm>
          <a:prstGeom prst="ellipse">
            <a:avLst/>
          </a:prstGeom>
          <a:solidFill>
            <a:srgbClr val="EFF4F7"/>
          </a:solidFill>
          <a:ln/>
        </p:spPr>
        <p:txBody>
          <a:bodyPr/>
          <a:lstStyle/>
          <a:p>
            <a:endParaRPr lang="en-US"/>
          </a:p>
        </p:txBody>
      </p:sp>
      <p:sp>
        <p:nvSpPr>
          <p:cNvPr id="5" name="Text 3"/>
          <p:cNvSpPr txBox="1"/>
          <p:nvPr/>
        </p:nvSpPr>
        <p:spPr>
          <a:xfrm>
            <a:off x="711220" y="1371600"/>
            <a:ext cx="5842010" cy="1270010"/>
          </a:xfrm>
          <a:prstGeom prst="rect">
            <a:avLst/>
          </a:prstGeom>
          <a:noFill/>
          <a:ln/>
        </p:spPr>
        <p:txBody>
          <a:bodyPr wrap="square" lIns="0" tIns="0" rIns="0" bIns="0" rtlCol="0" anchor="t"/>
          <a:lstStyle/>
          <a:p>
            <a:pPr marL="0" indent="0" algn="l">
              <a:lnSpc>
                <a:spcPct val="92000"/>
              </a:lnSpc>
              <a:buNone/>
            </a:pPr>
            <a:r>
              <a:rPr lang="en-US" sz="3400" b="1" dirty="0">
                <a:solidFill>
                  <a:srgbClr val="1E3A5F"/>
                </a:solidFill>
                <a:latin typeface="Calibri" pitchFamily="34" charset="0"/>
                <a:ea typeface="Calibri" pitchFamily="34" charset="-122"/>
                <a:cs typeface="Calibri" pitchFamily="34" charset="-120"/>
              </a:rPr>
              <a:t>This Is Our Starting Line</a:t>
            </a:r>
            <a:endParaRPr lang="en-US" sz="3400" dirty="0"/>
          </a:p>
        </p:txBody>
      </p:sp>
      <p:sp>
        <p:nvSpPr>
          <p:cNvPr id="6" name="Text 4"/>
          <p:cNvSpPr txBox="1"/>
          <p:nvPr/>
        </p:nvSpPr>
        <p:spPr>
          <a:xfrm>
            <a:off x="711220" y="2717780"/>
            <a:ext cx="5587990" cy="508041"/>
          </a:xfrm>
          <a:prstGeom prst="rect">
            <a:avLst/>
          </a:prstGeom>
          <a:noFill/>
          <a:ln/>
        </p:spPr>
        <p:txBody>
          <a:bodyPr wrap="square" lIns="0" tIns="0" rIns="0" bIns="0" rtlCol="0" anchor="t"/>
          <a:lstStyle/>
          <a:p>
            <a:pPr marL="0" indent="0" algn="l">
              <a:lnSpc>
                <a:spcPct val="100000"/>
              </a:lnSpc>
              <a:buNone/>
            </a:pPr>
            <a:r>
              <a:rPr lang="en-US" sz="1400" dirty="0">
                <a:solidFill>
                  <a:srgbClr val="475569"/>
                </a:solidFill>
                <a:latin typeface="Calibri" pitchFamily="34" charset="0"/>
                <a:ea typeface="Calibri" pitchFamily="34" charset="-122"/>
                <a:cs typeface="Calibri" pitchFamily="34" charset="-120"/>
              </a:rPr>
              <a:t>Every 6 months, we’ll show exactly how far we’ve moved.</a:t>
            </a:r>
            <a:endParaRPr lang="en-US" sz="1400" dirty="0"/>
          </a:p>
        </p:txBody>
      </p:sp>
      <p:sp>
        <p:nvSpPr>
          <p:cNvPr id="7" name="Text 5"/>
          <p:cNvSpPr txBox="1"/>
          <p:nvPr/>
        </p:nvSpPr>
        <p:spPr>
          <a:xfrm>
            <a:off x="711220" y="3403580"/>
            <a:ext cx="5842010" cy="330190"/>
          </a:xfrm>
          <a:prstGeom prst="rect">
            <a:avLst/>
          </a:prstGeom>
          <a:noFill/>
          <a:ln/>
        </p:spPr>
        <p:txBody>
          <a:bodyPr wrap="square" lIns="0" tIns="0" rIns="0" bIns="0" rtlCol="0" anchor="t"/>
          <a:lstStyle/>
          <a:p>
            <a:pPr marL="0" indent="0" algn="l">
              <a:lnSpc>
                <a:spcPct val="100000"/>
              </a:lnSpc>
              <a:buNone/>
            </a:pPr>
            <a:r>
              <a:rPr lang="en-US" sz="1800" b="1" dirty="0">
                <a:solidFill>
                  <a:srgbClr val="2D6A4F"/>
                </a:solidFill>
                <a:latin typeface="Calibri" pitchFamily="34" charset="0"/>
                <a:ea typeface="Calibri" pitchFamily="34" charset="-122"/>
                <a:cs typeface="Calibri" pitchFamily="34" charset="-120"/>
              </a:rPr>
              <a:t>Questions &amp; Discussion</a:t>
            </a:r>
            <a:endParaRPr lang="en-US" sz="1800" dirty="0"/>
          </a:p>
        </p:txBody>
      </p:sp>
      <p:sp>
        <p:nvSpPr>
          <p:cNvPr id="8" name="Text 6"/>
          <p:cNvSpPr txBox="1"/>
          <p:nvPr/>
        </p:nvSpPr>
        <p:spPr>
          <a:xfrm>
            <a:off x="711220" y="4470410"/>
            <a:ext cx="7112020" cy="177759"/>
          </a:xfrm>
          <a:prstGeom prst="rect">
            <a:avLst/>
          </a:prstGeom>
          <a:noFill/>
          <a:ln/>
        </p:spPr>
        <p:txBody>
          <a:bodyPr wrap="square" lIns="0" tIns="0" rIns="0" bIns="0" rtlCol="0" anchor="t"/>
          <a:lstStyle/>
          <a:p>
            <a:pPr marL="0" indent="0" algn="l">
              <a:lnSpc>
                <a:spcPct val="100000"/>
              </a:lnSpc>
              <a:buNone/>
            </a:pPr>
            <a:r>
              <a:rPr lang="en-US" sz="900">
                <a:solidFill>
                  <a:srgbClr val="475569"/>
                </a:solidFill>
                <a:latin typeface="Calibri" pitchFamily="34" charset="0"/>
                <a:ea typeface="Calibri" pitchFamily="34" charset="-122"/>
                <a:cs typeface="Calibri" pitchFamily="34" charset="-120"/>
              </a:rPr>
              <a:t>CNAIT  </a:t>
            </a:r>
            <a:r>
              <a:rPr lang="en-US" sz="900" dirty="0">
                <a:solidFill>
                  <a:srgbClr val="475569"/>
                </a:solidFill>
                <a:latin typeface="Calibri" pitchFamily="34" charset="0"/>
                <a:ea typeface="Calibri" pitchFamily="34" charset="-122"/>
                <a:cs typeface="Calibri" pitchFamily="34" charset="-120"/>
              </a:rPr>
              <a:t>|  May 14 - July 29, 2026  |  Survey : All Data – Baseline Data</a:t>
            </a:r>
            <a:endParaRPr lang="en-US" sz="900" dirty="0"/>
          </a:p>
        </p:txBody>
      </p:sp>
      <p:sp>
        <p:nvSpPr>
          <p:cNvPr id="9" name="Text 7"/>
          <p:cNvSpPr txBox="1"/>
          <p:nvPr/>
        </p:nvSpPr>
        <p:spPr>
          <a:xfrm>
            <a:off x="711220" y="4673590"/>
            <a:ext cx="3810030" cy="152430"/>
          </a:xfrm>
          <a:prstGeom prst="rect">
            <a:avLst/>
          </a:prstGeom>
          <a:noFill/>
          <a:ln/>
        </p:spPr>
        <p:txBody>
          <a:bodyPr wrap="square" lIns="0" tIns="0" rIns="0" bIns="0" rtlCol="0" anchor="t"/>
          <a:lstStyle/>
          <a:p>
            <a:pPr marL="0" indent="0" algn="l">
              <a:lnSpc>
                <a:spcPct val="100000"/>
              </a:lnSpc>
              <a:buNone/>
            </a:pPr>
            <a:r>
              <a:rPr lang="en-US" sz="800" b="1" kern="0" spc="80" dirty="0">
                <a:solidFill>
                  <a:srgbClr val="B87A1E"/>
                </a:solidFill>
                <a:latin typeface="Calibri" pitchFamily="34" charset="0"/>
                <a:ea typeface="Calibri" pitchFamily="34" charset="-122"/>
                <a:cs typeface="Calibri" pitchFamily="34" charset="-120"/>
              </a:rPr>
              <a:t>DRAFT — FOR REVIEW</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d5b36e7-01ee-4ebc-867e-e03cfa0d4697}" enabled="0" method="" siteId="{ed5b36e7-01ee-4ebc-867e-e03cfa0d4697}" removed="1"/>
</clbl:labelList>
</file>

<file path=docProps/app.xml><?xml version="1.0" encoding="utf-8"?>
<Properties xmlns="http://schemas.openxmlformats.org/officeDocument/2006/extended-properties" xmlns:vt="http://schemas.openxmlformats.org/officeDocument/2006/docPropsVTypes">
  <TotalTime>6</TotalTime>
  <Words>3157</Words>
  <Application>Microsoft Office PowerPoint</Application>
  <PresentationFormat>On-screen Show (16:9)</PresentationFormat>
  <Paragraphs>213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CNAIT Program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Awareness Survey</dc:title>
  <dc:subject>AI Awareness Survey insights (DRAFT)</dc:subject>
  <dc:creator>PptxGenJS</dc:creator>
  <cp:lastModifiedBy>Watson, Sarah (CTR) - OCIO-DISC, VA</cp:lastModifiedBy>
  <cp:revision>1</cp:revision>
  <dcterms:created xsi:type="dcterms:W3CDTF">2026-10-19T14:09:12Z</dcterms:created>
  <dcterms:modified xsi:type="dcterms:W3CDTF">2026-10-19T14:16:24Z</dcterms:modified>
</cp:coreProperties>
</file>