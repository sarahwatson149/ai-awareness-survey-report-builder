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1E3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850" u="none">
                    <a:solidFill>
                      <a:srgbClr val="1A24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3A5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D6A4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3A5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D6A4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RD-RHS</c:v>
                  </c:pt>
                  <c:pt idx="1">
                    <c:v>RD</c:v>
                  </c:pt>
                  <c:pt idx="2">
                    <c:v>RD-RUS</c:v>
                  </c:pt>
                  <c:pt idx="3">
                    <c:v>RD-RBCS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</c:v>
                </c:pt>
                <c:pt idx="1">
                  <c:v>67</c:v>
                </c:pt>
                <c:pt idx="2">
                  <c:v>39</c:v>
                </c:pt>
                <c:pt idx="3">
                  <c:v>34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850" u="none">
                  <a:solidFill>
                    <a:srgbClr val="1A24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47556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7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050" u="none">
                    <a:solidFill>
                      <a:srgbClr val="1A24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0698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5E8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0916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D6A4F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Never</c:v>
                  </c:pt>
                  <c:pt idx="1">
                    <c:v>Rarely</c:v>
                  </c:pt>
                  <c:pt idx="2">
                    <c:v>Sometimes</c:v>
                  </c:pt>
                  <c:pt idx="3">
                    <c:v>Often</c:v>
                  </c:pt>
                  <c:pt idx="4">
                    <c:v>Daily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</c:v>
                </c:pt>
                <c:pt idx="1">
                  <c:v>19</c:v>
                </c:pt>
                <c:pt idx="2">
                  <c:v>30</c:v>
                </c:pt>
                <c:pt idx="3">
                  <c:v>10</c:v>
                </c:pt>
                <c:pt idx="4">
                  <c:v>12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050" u="none">
                  <a:solidFill>
                    <a:srgbClr val="1A24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7556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3.6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1E3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50" u="none">
                    <a:solidFill>
                      <a:srgbClr val="1A24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3A5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3A5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3A5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3A5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E3A5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E3A5F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Lack of training</c:v>
                  </c:pt>
                  <c:pt idx="1">
                    <c:v>Trust in accuracy</c:v>
                  </c:pt>
                  <c:pt idx="2">
                    <c:v>Unclear policies</c:v>
                  </c:pt>
                  <c:pt idx="3">
                    <c:v>Privacy &amp; security</c:v>
                  </c:pt>
                  <c:pt idx="4">
                    <c:v>Time constraints</c:v>
                  </c:pt>
                  <c:pt idx="5">
                    <c:v>Not relevant to my work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125</c:v>
                </c:pt>
                <c:pt idx="1">
                  <c:v>102</c:v>
                </c:pt>
                <c:pt idx="2">
                  <c:v>97</c:v>
                </c:pt>
                <c:pt idx="3">
                  <c:v>83</c:v>
                </c:pt>
                <c:pt idx="4">
                  <c:v>50</c:v>
                </c:pt>
                <c:pt idx="5">
                  <c:v>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50" u="none">
                  <a:solidFill>
                    <a:srgbClr val="1A24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7556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8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D6A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50" u="none">
                    <a:solidFill>
                      <a:srgbClr val="1A24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D6A4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D6A4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D6A4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D6A4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D6A4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D6A4F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D6A4F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Drafting text</c:v>
                  </c:pt>
                  <c:pt idx="1">
                    <c:v>Summarizing</c:v>
                  </c:pt>
                  <c:pt idx="2">
                    <c:v>Meeting prep &amp; notes</c:v>
                  </c:pt>
                  <c:pt idx="3">
                    <c:v>Data analysis</c:v>
                  </c:pt>
                  <c:pt idx="4">
                    <c:v>Spreadsheets</c:v>
                  </c:pt>
                  <c:pt idx="5">
                    <c:v>Policy &amp; compliance</c:v>
                  </c:pt>
                  <c:pt idx="6">
                    <c:v>Decision support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122</c:v>
                </c:pt>
                <c:pt idx="1">
                  <c:v>90</c:v>
                </c:pt>
                <c:pt idx="2">
                  <c:v>53</c:v>
                </c:pt>
                <c:pt idx="3">
                  <c:v>51</c:v>
                </c:pt>
                <c:pt idx="4">
                  <c:v>33</c:v>
                </c:pt>
                <c:pt idx="5">
                  <c:v>31</c:v>
                </c:pt>
                <c:pt idx="6">
                  <c:v>28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50" u="none">
                  <a:solidFill>
                    <a:srgbClr val="1A24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7556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4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slide. Survey number, data label, and updated date come from Deck settings.
Source: RD Results - CNAIT AI Experience &amp; Understanding Survey Final data - V1 - Baseline.xlsx (222 responses, Jun 3, 2026 – Jul 14, 2026). All figures computed from this file only — a standalone baseline, no comparison to earlier surveys.
DRAFT — AI-assisted. A person must review and verify every number and quote before this is shared.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 findings. Each number is computed from the survey export; later slides show the detail. Optional slide: it repeats numbers shown later.
Source: RD Results - CNAIT AI Experience &amp; Understanding Survey Final data - V1 - Baseline.xlsx (222 responses, Jun 3, 2026 – Jul 14, 2026). All figures computed from this file only — a standalone baseline, no comparison to earlier surveys.
DRAFT — AI-assisted. A person must review and verify every number and quote before this is shared.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Responses = rows in the export (222). Window = first to last response date (42 days). Champion count not set — add it in Deck settings to show the coverage card. Agencies: RD-RHS 82, RD 67, RD-RUS 39, RD-RBCS 34 (from the selected worksheet response rows).
Source: RD Results - CNAIT AI Experience &amp; Understanding Survey Final data - V1 - Baseline.xlsx (222 responses, Jun 3, 2026 – Jul 14, 2026). All figures computed from this file only — a standalone baseline, no comparison to earlier surveys.
DRAFT — AI-assisted. A person must review and verify every number and quote before this is shared.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score = mean of that question’s 1–5 answers (blanks excluded). Likelihood to Increase AI Use: 3.25 (n=222; 40/21/58/50/53 for 1–5); Understands Basic Guidelines: 2.90 (n=222; 51/35/55/48/33 for 1–5); Satisfied with Available Tools: 2.70 (n=222; 43/36/101/28/14 for 1–5); Understands What AI Can &amp; Can’t Do: 2.61 (n=222; 49/52/74/30/17 for 1–5); AI Has Improved Productivity: 2.28 (n=222; 83/50/46/29/14 for 1–5). Intent minus productivity = 0.96.
Source: RD Results - CNAIT AI Experience &amp; Understanding Survey Final data - V1 - Baseline.xlsx (222 responses, Jun 3, 2026 – Jul 14, 2026). All figures computed from this file only — a standalone baseline, no comparison to earlier surveys.
DRAFT — AI-assisted. A person must review and verify every number and quote before this is shared.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Frequency (single choice, % of 222 answered): Never 63 (28%), Rarely 43 (19%), Sometimes 66 (30%), Often 23 (10%), Daily 27 (12%). Barriers (select all; counts of people, % of 222): Lack of training 125, Lack of trust in accuracy 102, Unclear policies/permissions 97, Privacy/security concerns 83, Time constraints 50, AI isn’t relevant to my work 30. Written-in “other” barriers: 35 people (not charted).
Source: RD Results - CNAIT AI Experience &amp; Understanding Survey Final data - V1 - Baseline.xlsx (222 responses, Jun 3, 2026 – Jul 14, 2026). All figures computed from this file only — a standalone baseline, no comparison to earlier surveys.
DRAFT — AI-assisted. A person must review and verify every number and quote before this is shared.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Skill level (single choice, % of 222 answered): Awareness 49 (22%), Beginner 104 (47%), Practitioner 63 (28%), Advanced 3 (1%), Leader 3 (1%). Gap = mean intent to increase use (3.25) minus mean “AI has improved my productivity” (2.28) = 0.96.
Source: RD Results - CNAIT AI Experience &amp; Understanding Survey Final data - V1 - Baseline.xlsx (222 responses, Jun 3, 2026 – Jul 14, 2026). All figures computed from this file only — a standalone baseline, no comparison to earlier surveys.
DRAFT — AI-assisted. A person must review and verify every number and quote before this is shared.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Big number = substantive comments (of 69) coded to the theme. Barrier line = people choosing that barrier (select all, of 222). Comment coding is AI-assisted — spot-check. Training gaps: 24 comments, quote from row 197; Accuracy &amp; trust concerns: 11 comments, quote from row 79; Policy &amp; guidance confusion: 7 comments, quote from row 66; Integration &amp; automation requests: 13 comments, quote from row 104.
Source: RD Results - CNAIT AI Experience &amp; Understanding Survey Final data - V1 - Baseline.xlsx (222 responses, Jun 3, 2026 – Jul 14, 2026). All figures computed from this file only — a standalone baseline, no comparison to earlier surveys.
DRAFT — AI-assisted. A person must review and verify every number and quote before this is shared.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Tasks (select all, people choosing each, of 222): Drafting text 122, Summarizing 90, Meeting prep &amp; notes 53, Data analysis 51, Spreadsheets 33, Policy &amp; compliance 31, Decision support 28, Images &amp; video 22, Coding &amp; scripting 21. No tasks yet: 64. Written-in other: 16. Support (select all): Hands-on training 136, Use-case examples 115, How-to guides 111, Peer communities 66, 1:1 support 49; no support needed 35.
Source: RD Results - CNAIT AI Experience &amp; Understanding Survey Final data - V1 - Baseline.xlsx (222 responses, Jun 3, 2026 – Jul 14, 2026). All figures computed from this file only — a standalone baseline, no comparison to earlier surveys.
DRAFT — AI-assisted. A person must review and verify every number and quote before this is shared.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Concrete, modest, repeatable actions for champions, tied to this survey’s numbers.
Source: RD Results - CNAIT AI Experience &amp; Understanding Survey Final data - V1 - Baseline.xlsx (222 responses, Jun 3, 2026 – Jul 14, 2026). All figures computed from this file only — a standalone baseline, no comparison to earlier surveys.
DRAFT — AI-assisted. A person must review and verify every number and quote before this is shared.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
Source: RD Results - CNAIT AI Experience &amp; Understanding Survey Final data - V1 - Baseline.xlsx (222 responses, Jun 3, 2026 – Jul 14, 2026). All figures computed from this file only — a standalone baseline, no comparison to earlier surveys.
DRAFT — AI-assisted. A person must review and verify every number and quote before this is shared.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5867430" y="-1219170"/>
            <a:ext cx="4826020" cy="4826020"/>
          </a:xfrm>
          <a:prstGeom prst="ellipse">
            <a:avLst/>
          </a:prstGeom>
          <a:solidFill>
            <a:srgbClr val="1A3355"/>
          </a:solidFill>
          <a:ln/>
        </p:spPr>
      </p:sp>
      <p:sp>
        <p:nvSpPr>
          <p:cNvPr id="4" name="Shape 2"/>
          <p:cNvSpPr/>
          <p:nvPr/>
        </p:nvSpPr>
        <p:spPr>
          <a:xfrm>
            <a:off x="7188190" y="2717780"/>
            <a:ext cx="3301990" cy="3301990"/>
          </a:xfrm>
          <a:prstGeom prst="ellipse">
            <a:avLst/>
          </a:prstGeom>
          <a:solidFill>
            <a:srgbClr val="172D4B"/>
          </a:solidFill>
          <a:ln/>
        </p:spPr>
      </p:sp>
      <p:sp>
        <p:nvSpPr>
          <p:cNvPr id="5" name="Shape 3"/>
          <p:cNvSpPr/>
          <p:nvPr/>
        </p:nvSpPr>
        <p:spPr>
          <a:xfrm>
            <a:off x="-1015990" y="4038630"/>
            <a:ext cx="2413010" cy="2413010"/>
          </a:xfrm>
          <a:prstGeom prst="ellipse">
            <a:avLst/>
          </a:prstGeom>
          <a:solidFill>
            <a:srgbClr val="1A335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1220" y="1168420"/>
            <a:ext cx="558799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120" kern="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CNAIT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11220" y="1447770"/>
            <a:ext cx="5587990" cy="1219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Awareness Survey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711220" y="2717780"/>
            <a:ext cx="5333970" cy="76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survey data means for you — and how to use it to move your agency forward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11220" y="4470410"/>
            <a:ext cx="711202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CNAIT  |  Survey [#] – Baseline Data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711220" y="467359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spc="8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— FOR REVIEW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34959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55610" y="0"/>
            <a:ext cx="8432780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Things the Survey Tells Us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55610" y="4940320"/>
            <a:ext cx="5969020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CNAIT  ·  AI Awareness Survey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6349959" y="4940320"/>
            <a:ext cx="1879641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B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— FOR REVIEW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8331190" y="4940320"/>
            <a:ext cx="457200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55610" y="888980"/>
            <a:ext cx="4114800" cy="190497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4210" y="1066830"/>
            <a:ext cx="3657600" cy="5080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69%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84210" y="1625620"/>
            <a:ext cx="365760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still at the starting line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84210" y="1904970"/>
            <a:ext cx="3657600" cy="73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69% rate themselves Awareness or Beginner. That is the audience champions serve.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73590" y="888980"/>
            <a:ext cx="4114800" cy="190497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02190" y="1066830"/>
            <a:ext cx="3657600" cy="5080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902190" y="1625620"/>
            <a:ext cx="365760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 “Lack of training”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902190" y="1904970"/>
            <a:ext cx="3657600" cy="73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training (56%) and lack of trust in accuracy (46%) are the top barriers.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55610" y="2971800"/>
            <a:ext cx="4114800" cy="190497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84210" y="3149559"/>
            <a:ext cx="3657600" cy="5080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3.25 / 5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584210" y="3708441"/>
            <a:ext cx="365760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 to Increase AI Use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84210" y="3987790"/>
            <a:ext cx="3657600" cy="73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highest rating; improved productivity is lowest at 2.28. People want value they haven’t felt yet.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73590" y="2971800"/>
            <a:ext cx="4114800" cy="190497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02190" y="3149559"/>
            <a:ext cx="3657600" cy="5080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B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61%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4902190" y="3708441"/>
            <a:ext cx="365760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Asked for hands-on training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902190" y="3987790"/>
            <a:ext cx="3657600" cy="73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most-requested support. 111 also asked for how-to guides.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34959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55610" y="0"/>
            <a:ext cx="8432780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Survey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55610" y="4940320"/>
            <a:ext cx="5969020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CNAIT  ·  AI Awareness Survey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6349959" y="4940320"/>
            <a:ext cx="1879641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B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— FOR REVIEW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8331190" y="4940320"/>
            <a:ext cx="457200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55610" y="939820"/>
            <a:ext cx="2413010" cy="1803380"/>
          </a:xfrm>
          <a:prstGeom prst="roundRect">
            <a:avLst>
              <a:gd name="adj" fmla="val 7043"/>
            </a:avLst>
          </a:prstGeom>
          <a:solidFill>
            <a:srgbClr val="1E3A5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4959" y="1193841"/>
            <a:ext cx="1854220" cy="67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222</a:t>
            </a:r>
            <a:endParaRPr lang="en-US" sz="4050" dirty="0"/>
          </a:p>
        </p:txBody>
      </p:sp>
      <p:sp>
        <p:nvSpPr>
          <p:cNvPr id="9" name="Text 7"/>
          <p:cNvSpPr txBox="1"/>
          <p:nvPr/>
        </p:nvSpPr>
        <p:spPr>
          <a:xfrm>
            <a:off x="634959" y="1916400"/>
            <a:ext cx="185422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Responses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34959" y="2221260"/>
            <a:ext cx="1854220" cy="394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E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 recorded in this report.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55610" y="2920959"/>
            <a:ext cx="2413010" cy="1803380"/>
          </a:xfrm>
          <a:prstGeom prst="roundRect">
            <a:avLst>
              <a:gd name="adj" fmla="val 7043"/>
            </a:avLst>
          </a:prstGeom>
          <a:solidFill>
            <a:srgbClr val="2D6A4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4959" y="3174980"/>
            <a:ext cx="1854220" cy="67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days</a:t>
            </a:r>
            <a:endParaRPr lang="en-US" sz="4050" dirty="0"/>
          </a:p>
        </p:txBody>
      </p:sp>
      <p:sp>
        <p:nvSpPr>
          <p:cNvPr id="13" name="Text 11"/>
          <p:cNvSpPr txBox="1"/>
          <p:nvPr/>
        </p:nvSpPr>
        <p:spPr>
          <a:xfrm>
            <a:off x="634959" y="3897630"/>
            <a:ext cx="185422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Window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34959" y="4202400"/>
            <a:ext cx="1854220" cy="394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1D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3, 2026 – Jul 14, 2026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3022641" y="939820"/>
            <a:ext cx="5765841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 by agency or office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022641" y="1117580"/>
            <a:ext cx="5765841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select your Mission Area, Agency, or Staff Office:</a:t>
            </a:r>
            <a:endParaRPr lang="en-US" sz="75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3022641" y="1422441"/>
          <a:ext cx="5765841" cy="335283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34959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55610" y="0"/>
            <a:ext cx="8432780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Ratings: Where We Start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55610" y="4940320"/>
            <a:ext cx="5969020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CNAIT  ·  AI Awareness Survey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6349959" y="4940320"/>
            <a:ext cx="1879641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B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— FOR REVIEW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8331190" y="4940320"/>
            <a:ext cx="457200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55610" y="914400"/>
            <a:ext cx="1564630" cy="3378159"/>
          </a:xfrm>
          <a:prstGeom prst="roundRect">
            <a:avLst>
              <a:gd name="adj" fmla="val 8118"/>
            </a:avLst>
          </a:prstGeom>
          <a:solidFill>
            <a:srgbClr val="EAF0ED"/>
          </a:solidFill>
          <a:ln w="19050">
            <a:solidFill>
              <a:srgbClr val="2D6A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2640" y="1041410"/>
            <a:ext cx="990570" cy="203180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93390" y="1041410"/>
            <a:ext cx="88898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HIGHEST</a:t>
            </a:r>
            <a:endParaRPr lang="en-US" sz="750" dirty="0"/>
          </a:p>
        </p:txBody>
      </p:sp>
      <p:sp>
        <p:nvSpPr>
          <p:cNvPr id="10" name="Text 8"/>
          <p:cNvSpPr txBox="1"/>
          <p:nvPr/>
        </p:nvSpPr>
        <p:spPr>
          <a:xfrm>
            <a:off x="431780" y="1320759"/>
            <a:ext cx="1412199" cy="584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3.25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431780" y="1904970"/>
            <a:ext cx="1412199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2620" y="2184410"/>
            <a:ext cx="1310610" cy="431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 to Increase AI Use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84210" y="2692359"/>
            <a:ext cx="1107430" cy="0"/>
          </a:xfrm>
          <a:prstGeom prst="line">
            <a:avLst/>
          </a:prstGeom>
          <a:noFill/>
          <a:ln w="9525">
            <a:solidFill>
              <a:srgbClr val="ABC3B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2620" y="2819370"/>
            <a:ext cx="131061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Mixed. People want more. Meet that interest with practical, hands-on help.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072670" y="914400"/>
            <a:ext cx="1564630" cy="3378159"/>
          </a:xfrm>
          <a:prstGeom prst="roundRect">
            <a:avLst>
              <a:gd name="adj" fmla="val 8118"/>
            </a:avLst>
          </a:prstGeom>
          <a:solidFill>
            <a:srgbClr val="1E3A5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148840" y="1320759"/>
            <a:ext cx="1412199" cy="584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2.90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2148840" y="1904970"/>
            <a:ext cx="1412199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2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5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199681" y="2184410"/>
            <a:ext cx="1310610" cy="431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Basic Guidelines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301270" y="2692359"/>
            <a:ext cx="1107430" cy="0"/>
          </a:xfrm>
          <a:prstGeom prst="line">
            <a:avLst/>
          </a:prstGeom>
          <a:noFill/>
          <a:ln w="9525">
            <a:solidFill>
              <a:srgbClr val="6D7F9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199681" y="2819370"/>
            <a:ext cx="131061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2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Gap. Plain-language rules — what’s allowed, what isn’t — will move this.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789639" y="914400"/>
            <a:ext cx="1564630" cy="3378159"/>
          </a:xfrm>
          <a:prstGeom prst="roundRect">
            <a:avLst>
              <a:gd name="adj" fmla="val 8118"/>
            </a:avLst>
          </a:prstGeom>
          <a:solidFill>
            <a:srgbClr val="51678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865900" y="1320759"/>
            <a:ext cx="1412199" cy="584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2.70</a:t>
            </a:r>
            <a:endParaRPr lang="en-US" sz="3400" dirty="0"/>
          </a:p>
        </p:txBody>
      </p:sp>
      <p:sp>
        <p:nvSpPr>
          <p:cNvPr id="23" name="Text 21"/>
          <p:cNvSpPr txBox="1"/>
          <p:nvPr/>
        </p:nvSpPr>
        <p:spPr>
          <a:xfrm>
            <a:off x="3865900" y="1904970"/>
            <a:ext cx="1412199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5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916650" y="2184410"/>
            <a:ext cx="1310610" cy="431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Satisfied with Available Tools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018239" y="2692359"/>
            <a:ext cx="1107430" cy="0"/>
          </a:xfrm>
          <a:prstGeom prst="line">
            <a:avLst/>
          </a:prstGeom>
          <a:noFill/>
          <a:ln w="9525">
            <a:solidFill>
              <a:srgbClr val="8E9CA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916650" y="2819370"/>
            <a:ext cx="131061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E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Gap. Show what’s available today and how to get the most from it.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506700" y="914400"/>
            <a:ext cx="1564630" cy="3378159"/>
          </a:xfrm>
          <a:prstGeom prst="roundRect">
            <a:avLst>
              <a:gd name="adj" fmla="val 8118"/>
            </a:avLst>
          </a:prstGeom>
          <a:solidFill>
            <a:srgbClr val="8595A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582961" y="1320759"/>
            <a:ext cx="1412199" cy="584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2.61</a:t>
            </a:r>
            <a:endParaRPr lang="en-US" sz="3400" dirty="0"/>
          </a:p>
        </p:txBody>
      </p:sp>
      <p:sp>
        <p:nvSpPr>
          <p:cNvPr id="29" name="Text 27"/>
          <p:cNvSpPr txBox="1"/>
          <p:nvPr/>
        </p:nvSpPr>
        <p:spPr>
          <a:xfrm>
            <a:off x="5582961" y="1904970"/>
            <a:ext cx="1412199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7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5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633710" y="2184410"/>
            <a:ext cx="1310610" cy="431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What AI Can &amp; Can’t Do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735300" y="2692359"/>
            <a:ext cx="1107430" cy="0"/>
          </a:xfrm>
          <a:prstGeom prst="line">
            <a:avLst/>
          </a:prstGeom>
          <a:noFill/>
          <a:ln w="9525">
            <a:solidFill>
              <a:srgbClr val="B0BAC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633710" y="2819370"/>
            <a:ext cx="131061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7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Gap. Core champion education opportunity: show what AI does well and where it falls short.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223760" y="914400"/>
            <a:ext cx="1564630" cy="3378159"/>
          </a:xfrm>
          <a:prstGeom prst="roundRect">
            <a:avLst>
              <a:gd name="adj" fmla="val 8118"/>
            </a:avLst>
          </a:prstGeom>
          <a:solidFill>
            <a:srgbClr val="B8C2C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299930" y="1320759"/>
            <a:ext cx="1412199" cy="584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2.28</a:t>
            </a:r>
            <a:endParaRPr lang="en-US" sz="3400" dirty="0"/>
          </a:p>
        </p:txBody>
      </p:sp>
      <p:sp>
        <p:nvSpPr>
          <p:cNvPr id="35" name="Text 33"/>
          <p:cNvSpPr txBox="1"/>
          <p:nvPr/>
        </p:nvSpPr>
        <p:spPr>
          <a:xfrm>
            <a:off x="7299930" y="1904970"/>
            <a:ext cx="1412199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5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7350770" y="2184410"/>
            <a:ext cx="1310610" cy="431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Has Improved Productivity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7452360" y="2692359"/>
            <a:ext cx="1107430" cy="0"/>
          </a:xfrm>
          <a:prstGeom prst="line">
            <a:avLst/>
          </a:prstGeom>
          <a:noFill/>
          <a:ln w="9525">
            <a:solidFill>
              <a:srgbClr val="D1D7E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350770" y="2819370"/>
            <a:ext cx="131061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gap. Everyday-task demos on real work are what will move this.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55610" y="4444990"/>
            <a:ext cx="8432780" cy="381030"/>
          </a:xfrm>
          <a:prstGeom prst="roundRect">
            <a:avLst>
              <a:gd name="adj" fmla="val 26662"/>
            </a:avLst>
          </a:prstGeom>
          <a:solidFill>
            <a:srgbClr val="EAF0ED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533370" y="4444990"/>
            <a:ext cx="807717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is there. Our role is to turn interest into real, everyday value.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34959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55610" y="0"/>
            <a:ext cx="8432780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Told Us What Is Blocking Them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55610" y="4940320"/>
            <a:ext cx="5969020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CNAIT  ·  AI Awareness Survey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6349959" y="4940320"/>
            <a:ext cx="1879641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B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— FOR REVIEW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8331190" y="4940320"/>
            <a:ext cx="457200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355610" y="863559"/>
            <a:ext cx="381003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people use AI for job tasks (% of 222)</a:t>
            </a:r>
            <a:endParaRPr lang="en-US" sz="11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55610" y="1117580"/>
          <a:ext cx="3810030" cy="314955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521159" y="863559"/>
            <a:ext cx="426723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barriers (people choosing each, of 222)</a:t>
            </a:r>
            <a:endParaRPr lang="en-US" sz="11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4521159" y="1117580"/>
          <a:ext cx="4267230" cy="314955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7"/>
          <p:cNvSpPr/>
          <p:nvPr/>
        </p:nvSpPr>
        <p:spPr>
          <a:xfrm>
            <a:off x="355610" y="4444990"/>
            <a:ext cx="8432780" cy="381030"/>
          </a:xfrm>
          <a:prstGeom prst="roundRect">
            <a:avLst>
              <a:gd name="adj" fmla="val 26662"/>
            </a:avLst>
          </a:prstGeom>
          <a:solidFill>
            <a:srgbClr val="EAF0ED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533370" y="4444990"/>
            <a:ext cx="807717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blockers are answerable: trust, training, and clear rules are things we can address in every session.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34959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55610" y="0"/>
            <a:ext cx="8432780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Skill Gap Is Real — You’re the Bridge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55610" y="4940320"/>
            <a:ext cx="5969020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CNAIT  ·  AI Awareness Survey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6349959" y="4940320"/>
            <a:ext cx="1879641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B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— FOR REVIEW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8331190" y="4940320"/>
            <a:ext cx="457200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355610" y="863559"/>
            <a:ext cx="5080041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people rate their AI skill (n=222)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55610" y="1117580"/>
            <a:ext cx="1651041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</a:t>
            </a:r>
            <a:endParaRPr lang="en-US" sz="11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what AI is but hasn’t used it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82820" y="1257300"/>
            <a:ext cx="1188903" cy="355610"/>
          </a:xfrm>
          <a:prstGeom prst="roundRect">
            <a:avLst>
              <a:gd name="adj" fmla="val 10723"/>
            </a:avLst>
          </a:prstGeom>
          <a:solidFill>
            <a:srgbClr val="1B5E8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347893" y="1117580"/>
            <a:ext cx="1143000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(49)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55610" y="1752630"/>
            <a:ext cx="1651041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</a:t>
            </a:r>
            <a:endParaRPr lang="en-US" sz="11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tried AI tools a few times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82820" y="1892259"/>
            <a:ext cx="2540020" cy="355610"/>
          </a:xfrm>
          <a:prstGeom prst="roundRect">
            <a:avLst>
              <a:gd name="adj" fmla="val 10723"/>
            </a:avLst>
          </a:prstGeom>
          <a:solidFill>
            <a:srgbClr val="1E3A5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99010" y="1752630"/>
            <a:ext cx="1143000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</a:t>
            </a:r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(104)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55610" y="2387590"/>
            <a:ext cx="1651041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</a:t>
            </a:r>
            <a:endParaRPr lang="en-US" sz="11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AI regularly for work tasks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082820" y="2527310"/>
            <a:ext cx="1513149" cy="355610"/>
          </a:xfrm>
          <a:prstGeom prst="roundRect">
            <a:avLst>
              <a:gd name="adj" fmla="val 10723"/>
            </a:avLst>
          </a:prstGeom>
          <a:solidFill>
            <a:srgbClr val="2D6A4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672230" y="2387590"/>
            <a:ext cx="1143000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(63)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55610" y="3022641"/>
            <a:ext cx="1651041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1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 workflows and troubleshoots outputs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082820" y="3162270"/>
            <a:ext cx="54041" cy="355610"/>
          </a:xfrm>
          <a:prstGeom prst="roundRect">
            <a:avLst>
              <a:gd name="adj" fmla="val 50085"/>
            </a:avLst>
          </a:prstGeom>
          <a:solidFill>
            <a:srgbClr val="40916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213031" y="3022641"/>
            <a:ext cx="1143000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(3)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55610" y="3657600"/>
            <a:ext cx="1651041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</a:t>
            </a:r>
            <a:endParaRPr lang="en-US" sz="11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others and shapes AI strategy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082820" y="3797320"/>
            <a:ext cx="54041" cy="355610"/>
          </a:xfrm>
          <a:prstGeom prst="roundRect">
            <a:avLst>
              <a:gd name="adj" fmla="val 50085"/>
            </a:avLst>
          </a:prstGeom>
          <a:solidFill>
            <a:srgbClr val="40916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213031" y="3657600"/>
            <a:ext cx="1143000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(3)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842010" y="888980"/>
            <a:ext cx="2946380" cy="1041410"/>
          </a:xfrm>
          <a:prstGeom prst="roundRect">
            <a:avLst>
              <a:gd name="adj" fmla="val 9755"/>
            </a:avLst>
          </a:prstGeom>
          <a:solidFill>
            <a:srgbClr val="E9EBE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994441" y="965241"/>
            <a:ext cx="2641610" cy="406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69%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5994441" y="1371600"/>
            <a:ext cx="2641610" cy="482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or Beginner (153)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audience champions serve. Start with the basics and one small win.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842010" y="2057400"/>
            <a:ext cx="2946380" cy="1041410"/>
          </a:xfrm>
          <a:prstGeom prst="roundRect">
            <a:avLst>
              <a:gd name="adj" fmla="val 9755"/>
            </a:avLst>
          </a:prstGeom>
          <a:solidFill>
            <a:srgbClr val="EAF0E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994441" y="2133570"/>
            <a:ext cx="2641610" cy="406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</a:t>
            </a:r>
            <a:endParaRPr lang="en-US" sz="2400" dirty="0"/>
          </a:p>
        </p:txBody>
      </p:sp>
      <p:sp>
        <p:nvSpPr>
          <p:cNvPr id="28" name="Text 26"/>
          <p:cNvSpPr txBox="1"/>
          <p:nvPr/>
        </p:nvSpPr>
        <p:spPr>
          <a:xfrm>
            <a:off x="5994441" y="2540020"/>
            <a:ext cx="2641610" cy="482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Practitioner, Advanced or Leader (69)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leaders and force multipliers. Invite them to help.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842010" y="3225820"/>
            <a:ext cx="2946380" cy="1041410"/>
          </a:xfrm>
          <a:prstGeom prst="roundRect">
            <a:avLst>
              <a:gd name="adj" fmla="val 9755"/>
            </a:avLst>
          </a:prstGeom>
          <a:solidFill>
            <a:srgbClr val="FDEFD8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994441" y="3301990"/>
            <a:ext cx="2641610" cy="406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B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 pts</a:t>
            </a:r>
            <a:endParaRPr lang="en-US" sz="2400" dirty="0"/>
          </a:p>
        </p:txBody>
      </p:sp>
      <p:sp>
        <p:nvSpPr>
          <p:cNvPr id="31" name="Text 29"/>
          <p:cNvSpPr txBox="1"/>
          <p:nvPr/>
        </p:nvSpPr>
        <p:spPr>
          <a:xfrm>
            <a:off x="5994441" y="3708441"/>
            <a:ext cx="2641610" cy="482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3.25 vs. productivity 2.28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want to come back. Our role is to close the gap between wanting value and getting it.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55610" y="4444990"/>
            <a:ext cx="8432780" cy="381030"/>
          </a:xfrm>
          <a:prstGeom prst="roundRect">
            <a:avLst>
              <a:gd name="adj" fmla="val 26662"/>
            </a:avLst>
          </a:prstGeom>
          <a:solidFill>
            <a:srgbClr val="EAF0ED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33370" y="4444990"/>
            <a:ext cx="807717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colleagues are just starting. Meet them where they are — one small win at a time.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34959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55610" y="0"/>
            <a:ext cx="8432780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into the Top Identified Barriers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55610" y="4940320"/>
            <a:ext cx="5969020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CNAIT  ·  AI Awareness Survey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6349959" y="4940320"/>
            <a:ext cx="1879641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B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— FOR REVIEW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8331190" y="4940320"/>
            <a:ext cx="457200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55610" y="888980"/>
            <a:ext cx="1993941" cy="3429000"/>
          </a:xfrm>
          <a:prstGeom prst="roundRect">
            <a:avLst>
              <a:gd name="adj" fmla="val 5095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8041" y="990570"/>
            <a:ext cx="1689080" cy="482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08041" y="1473190"/>
            <a:ext cx="168908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508041" y="1676370"/>
            <a:ext cx="1689080" cy="406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Me on My Work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08041" y="2108241"/>
            <a:ext cx="1689080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 chose “Lack of training”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8041" y="2463759"/>
            <a:ext cx="16890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8041" y="2540020"/>
            <a:ext cx="1689080" cy="1676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“There would need to be a tailored training methodology developed for the knowledge set required.”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Run hands-on, role-specific practice on a real task from the room.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501890" y="888980"/>
            <a:ext cx="1993941" cy="3429000"/>
          </a:xfrm>
          <a:prstGeom prst="roundRect">
            <a:avLst>
              <a:gd name="adj" fmla="val 5095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654320" y="990570"/>
            <a:ext cx="1689080" cy="482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2654320" y="1473190"/>
            <a:ext cx="168908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2654320" y="1676370"/>
            <a:ext cx="1689080" cy="406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Trust It?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654320" y="2108241"/>
            <a:ext cx="1689080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 chose “Lack of trust in accuracy”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654320" y="2463759"/>
            <a:ext cx="16890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654320" y="2540020"/>
            <a:ext cx="1689080" cy="1676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available tools have had technical issues making them unable to complete the requested task.”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Share real success stories and model the habit: AI drafts, people verify.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48170" y="888980"/>
            <a:ext cx="1993941" cy="3429000"/>
          </a:xfrm>
          <a:prstGeom prst="roundRect">
            <a:avLst>
              <a:gd name="adj" fmla="val 5095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00600" y="990570"/>
            <a:ext cx="1689080" cy="482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000" dirty="0"/>
          </a:p>
        </p:txBody>
      </p:sp>
      <p:sp>
        <p:nvSpPr>
          <p:cNvPr id="23" name="Text 21"/>
          <p:cNvSpPr txBox="1"/>
          <p:nvPr/>
        </p:nvSpPr>
        <p:spPr>
          <a:xfrm>
            <a:off x="4800600" y="1473190"/>
            <a:ext cx="168908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4800600" y="1676370"/>
            <a:ext cx="1689080" cy="406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Am I Allowed to Do?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800600" y="2108241"/>
            <a:ext cx="1689080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 chose “Unclear policies/permissions”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00600" y="2463759"/>
            <a:ext cx="16890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800600" y="2540020"/>
            <a:ext cx="1689080" cy="1676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have concerns that we have not received guidance on the ethical use of AI to generate content.”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Share the plain-language rules in every session and relay the questions you can’t answer.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794541" y="888980"/>
            <a:ext cx="1993941" cy="3429000"/>
          </a:xfrm>
          <a:prstGeom prst="roundRect">
            <a:avLst>
              <a:gd name="adj" fmla="val 5095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946880" y="990570"/>
            <a:ext cx="1689080" cy="482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B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3000" dirty="0"/>
          </a:p>
        </p:txBody>
      </p:sp>
      <p:sp>
        <p:nvSpPr>
          <p:cNvPr id="30" name="Text 28"/>
          <p:cNvSpPr txBox="1"/>
          <p:nvPr/>
        </p:nvSpPr>
        <p:spPr>
          <a:xfrm>
            <a:off x="6946880" y="1473190"/>
            <a:ext cx="168908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6946880" y="1676370"/>
            <a:ext cx="1689080" cy="406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It Into the Work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946880" y="2108241"/>
            <a:ext cx="1689080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B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 rate themselves Practitioner or above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946880" y="2463759"/>
            <a:ext cx="16890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946880" y="2540020"/>
            <a:ext cx="1689080" cy="1676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availability of robust tools to create bots and agentic workflows would be greatly beneficial.”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B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Invite power users to the AI Builders group and log their automation ideas.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55610" y="4444990"/>
            <a:ext cx="8432780" cy="381030"/>
          </a:xfrm>
          <a:prstGeom prst="roundRect">
            <a:avLst>
              <a:gd name="adj" fmla="val 26662"/>
            </a:avLst>
          </a:prstGeom>
          <a:solidFill>
            <a:srgbClr val="E9EBE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533370" y="4444990"/>
            <a:ext cx="807717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barrier has an action we can take this month.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34959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55610" y="0"/>
            <a:ext cx="8432780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Employees Use AI Today + What They Asked For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55610" y="4940320"/>
            <a:ext cx="5969020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CNAIT  ·  AI Awareness Survey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6349959" y="4940320"/>
            <a:ext cx="1879641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B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— FOR REVIEW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8331190" y="4940320"/>
            <a:ext cx="457200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355610" y="863559"/>
            <a:ext cx="482602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people used AI for in the last 60 days (of 222)</a:t>
            </a:r>
            <a:endParaRPr lang="en-US" sz="11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55610" y="1117580"/>
          <a:ext cx="4826020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 txBox="1"/>
          <p:nvPr/>
        </p:nvSpPr>
        <p:spPr>
          <a:xfrm>
            <a:off x="355610" y="4114800"/>
            <a:ext cx="482602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people (29%) said they don’t use AI for any task yet.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5486400" y="863559"/>
            <a:ext cx="330199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asked for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0" y="1168420"/>
            <a:ext cx="355610" cy="35561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486400" y="1168420"/>
            <a:ext cx="355610" cy="35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994441" y="1143000"/>
            <a:ext cx="2794041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Training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5994441" y="1549359"/>
            <a:ext cx="2794041" cy="508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 people (61%) asked for it — the top request. Practice on real tasks beats slides.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486400" y="2260580"/>
            <a:ext cx="355610" cy="35561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486400" y="2260580"/>
            <a:ext cx="355610" cy="35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5994441" y="2235159"/>
            <a:ext cx="2794041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&amp; Use Cases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5994441" y="2641610"/>
            <a:ext cx="2794041" cy="508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 want how-to guides and 115 want use-case examples. Short, role-specific, and easy to find.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486400" y="3352830"/>
            <a:ext cx="355610" cy="355610"/>
          </a:xfrm>
          <a:prstGeom prst="ellipse">
            <a:avLst/>
          </a:prstGeom>
          <a:solidFill>
            <a:srgbClr val="1B5E8A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486400" y="3352830"/>
            <a:ext cx="355610" cy="35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994441" y="3327410"/>
            <a:ext cx="2794041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AI as an Everyday Assistant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5994441" y="3733770"/>
            <a:ext cx="2794041" cy="508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Repetitive, time-intensive tasks like drafting text and summarizing show real everyday value.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355610" y="4444990"/>
            <a:ext cx="8432780" cy="381030"/>
          </a:xfrm>
          <a:prstGeom prst="roundRect">
            <a:avLst>
              <a:gd name="adj" fmla="val 26662"/>
            </a:avLst>
          </a:prstGeom>
          <a:solidFill>
            <a:srgbClr val="EAF0ED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33370" y="4444990"/>
            <a:ext cx="807717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tasks people already do every day.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34959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55610" y="0"/>
            <a:ext cx="8432780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Next Steps as a Champion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55610" y="4940320"/>
            <a:ext cx="5969020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CNAIT  ·  AI Awareness Survey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6349959" y="4940320"/>
            <a:ext cx="1879641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B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— FOR REVIEW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8331190" y="4940320"/>
            <a:ext cx="457200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55610" y="965241"/>
            <a:ext cx="1955810" cy="3733770"/>
          </a:xfrm>
          <a:prstGeom prst="roundRect">
            <a:avLst>
              <a:gd name="adj" fmla="val 5194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3370" y="1168420"/>
            <a:ext cx="431780" cy="4317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3370" y="1168420"/>
            <a:ext cx="431780" cy="43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33370" y="1752630"/>
            <a:ext cx="1600200" cy="55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one ‘Try It’ demo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33370" y="2387590"/>
            <a:ext cx="1600200" cy="2158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15-minute live demo on drafting text or summarizing — the tasks people already use AI for most.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514600" y="965241"/>
            <a:ext cx="1955810" cy="3733770"/>
          </a:xfrm>
          <a:prstGeom prst="roundRect">
            <a:avLst>
              <a:gd name="adj" fmla="val 5194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92359" y="1168420"/>
            <a:ext cx="431780" cy="4317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692359" y="1168420"/>
            <a:ext cx="431780" cy="43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2692359" y="1752630"/>
            <a:ext cx="1600200" cy="55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one success story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692359" y="2387590"/>
            <a:ext cx="1600200" cy="2158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one colleague what AI saved them this month and add it to the CNAIT Success Library.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73590" y="965241"/>
            <a:ext cx="1955810" cy="3733770"/>
          </a:xfrm>
          <a:prstGeom prst="roundRect">
            <a:avLst>
              <a:gd name="adj" fmla="val 5194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51441" y="1168420"/>
            <a:ext cx="431780" cy="4317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851441" y="1168420"/>
            <a:ext cx="431780" cy="43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4851441" y="1752630"/>
            <a:ext cx="1600200" cy="55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the go-to resource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851441" y="2387590"/>
            <a:ext cx="1600200" cy="2158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what you can. Relay policy, access, and job questions to the CNAIT council.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832580" y="965241"/>
            <a:ext cx="1955810" cy="3733770"/>
          </a:xfrm>
          <a:prstGeom prst="roundRect">
            <a:avLst>
              <a:gd name="adj" fmla="val 5194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10430" y="1168420"/>
            <a:ext cx="431780" cy="4317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010430" y="1168420"/>
            <a:ext cx="431780" cy="43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7010430" y="1752630"/>
            <a:ext cx="1600200" cy="55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back what you hear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010430" y="2387590"/>
            <a:ext cx="1600200" cy="2158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the questions and concerns in your sessions and share them — it shapes the next survey round.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5867430" y="-1219170"/>
            <a:ext cx="4826020" cy="4826020"/>
          </a:xfrm>
          <a:prstGeom prst="ellipse">
            <a:avLst/>
          </a:prstGeom>
          <a:solidFill>
            <a:srgbClr val="1A3355"/>
          </a:solidFill>
          <a:ln/>
        </p:spPr>
      </p:sp>
      <p:sp>
        <p:nvSpPr>
          <p:cNvPr id="4" name="Shape 2"/>
          <p:cNvSpPr/>
          <p:nvPr/>
        </p:nvSpPr>
        <p:spPr>
          <a:xfrm>
            <a:off x="7188190" y="2717780"/>
            <a:ext cx="3301990" cy="3301990"/>
          </a:xfrm>
          <a:prstGeom prst="ellipse">
            <a:avLst/>
          </a:prstGeom>
          <a:solidFill>
            <a:srgbClr val="172D4B"/>
          </a:solidFill>
          <a:ln/>
        </p:spPr>
      </p:sp>
      <p:sp>
        <p:nvSpPr>
          <p:cNvPr id="5" name="Shape 3"/>
          <p:cNvSpPr/>
          <p:nvPr/>
        </p:nvSpPr>
        <p:spPr>
          <a:xfrm>
            <a:off x="-1015990" y="4038630"/>
            <a:ext cx="2413010" cy="2413010"/>
          </a:xfrm>
          <a:prstGeom prst="ellipse">
            <a:avLst/>
          </a:prstGeom>
          <a:solidFill>
            <a:srgbClr val="1A335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1220" y="1371600"/>
            <a:ext cx="5842010" cy="127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Our Starting Line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711220" y="2717780"/>
            <a:ext cx="5587990" cy="508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6 months, we’ll show exactly how far we’ve moved.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11220" y="3403580"/>
            <a:ext cx="5842010" cy="330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11220" y="4470410"/>
            <a:ext cx="711202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CNAIT  |  Survey [#] – Baseline Data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711220" y="467359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spc="8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— FOR REVIEW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CNAIT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Awareness Survey</dc:title>
  <dc:subject>AI Awareness Survey insights (DRAFT)</dc:subject>
  <dc:creator>PptxGenJS</dc:creator>
  <cp:lastModifiedBy>PptxGenJS</cp:lastModifiedBy>
  <cp:revision>1</cp:revision>
  <dcterms:created xsi:type="dcterms:W3CDTF">2026-10-19T15:05:14Z</dcterms:created>
  <dcterms:modified xsi:type="dcterms:W3CDTF">2026-10-19T15:05:14Z</dcterms:modified>
</cp:coreProperties>
</file>